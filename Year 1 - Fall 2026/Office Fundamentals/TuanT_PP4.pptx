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2" r:id="rId4"/>
    <p:sldId id="258" r:id="rId5"/>
    <p:sldId id="261" r:id="rId6"/>
    <p:sldId id="265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DBD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5076" autoAdjust="0"/>
  </p:normalViewPr>
  <p:slideViewPr>
    <p:cSldViewPr snapToGrid="0">
      <p:cViewPr varScale="1">
        <p:scale>
          <a:sx n="84" d="100"/>
          <a:sy n="84" d="100"/>
        </p:scale>
        <p:origin x="88" y="2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Average GPA by Team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Soccer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0000"/>
                  </a:schemeClr>
                </a:gs>
                <a:gs pos="78000">
                  <a:schemeClr val="accent1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Average GPA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F2-4ECB-B3AD-66511853FC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Golf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0000"/>
                  </a:schemeClr>
                </a:gs>
                <a:gs pos="78000">
                  <a:schemeClr val="accent2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Average GPA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F2-4ECB-B3AD-66511853FC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Tennis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0000"/>
                  </a:schemeClr>
                </a:gs>
                <a:gs pos="78000">
                  <a:schemeClr val="accent3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Average GPA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F2-4ECB-B3AD-66511853FC0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CC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96000"/>
                    <a:lumMod val="100000"/>
                  </a:schemeClr>
                </a:gs>
                <a:gs pos="78000">
                  <a:schemeClr val="accent4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Average GPA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F2-4ECB-B3AD-66511853FC0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T&amp;F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96000"/>
                    <a:lumMod val="100000"/>
                  </a:schemeClr>
                </a:gs>
                <a:gs pos="78000">
                  <a:schemeClr val="accent5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Average GPA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F2-4ECB-B3AD-66511853FC0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Baseball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96000"/>
                    <a:lumMod val="100000"/>
                  </a:schemeClr>
                </a:gs>
                <a:gs pos="78000">
                  <a:schemeClr val="accent6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Average GPA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8F2-4ECB-B3AD-66511853FC08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Softball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tint val="96000"/>
                    <a:lumMod val="100000"/>
                  </a:schemeClr>
                </a:gs>
                <a:gs pos="78000">
                  <a:schemeClr val="accent1">
                    <a:lumMod val="60000"/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Sheet1!$A$2</c:f>
              <c:strCache>
                <c:ptCount val="1"/>
                <c:pt idx="0">
                  <c:v>Average GPA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F2-4ECB-B3AD-66511853FC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15902288"/>
        <c:axId val="410207824"/>
      </c:barChart>
      <c:catAx>
        <c:axId val="1815902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0207824"/>
        <c:crosses val="autoZero"/>
        <c:auto val="1"/>
        <c:lblAlgn val="ctr"/>
        <c:lblOffset val="100"/>
        <c:noMultiLvlLbl val="0"/>
      </c:catAx>
      <c:valAx>
        <c:axId val="410207824"/>
        <c:scaling>
          <c:orientation val="minMax"/>
          <c:max val="4"/>
          <c:min val="3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5902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Studios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600</c:v>
                </c:pt>
                <c:pt idx="2">
                  <c:v>700</c:v>
                </c:pt>
                <c:pt idx="3">
                  <c:v>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BA-4A6C-BB63-8427937226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Firms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300</c:v>
                </c:pt>
                <c:pt idx="1">
                  <c:v>350</c:v>
                </c:pt>
                <c:pt idx="2">
                  <c:v>400</c:v>
                </c:pt>
                <c:pt idx="3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BA-4A6C-BB63-8427937226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Publichers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550</c:v>
                </c:pt>
                <c:pt idx="1">
                  <c:v>580</c:v>
                </c:pt>
                <c:pt idx="2">
                  <c:v>600</c:v>
                </c:pt>
                <c:pt idx="3">
                  <c:v>610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BA-4A6C-BB63-8427937226E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Agencies</c:v>
                </c:pt>
              </c:strCache>
            </c:strRef>
          </c:tx>
          <c:spPr>
            <a:ln w="22225" cap="rnd">
              <a:solidFill>
                <a:schemeClr val="accent4"/>
              </a:solidFill>
            </a:ln>
            <a:effectLst>
              <a:glow rad="139700">
                <a:schemeClr val="accent4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200</c:v>
                </c:pt>
                <c:pt idx="1">
                  <c:v>210</c:v>
                </c:pt>
                <c:pt idx="2">
                  <c:v>300</c:v>
                </c:pt>
                <c:pt idx="3">
                  <c:v>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6BA-4A6C-BB63-842793722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78173712"/>
        <c:axId val="185494672"/>
      </c:lineChart>
      <c:catAx>
        <c:axId val="187817371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494672"/>
        <c:crosses val="autoZero"/>
        <c:auto val="1"/>
        <c:lblAlgn val="ctr"/>
        <c:lblOffset val="100"/>
        <c:noMultiLvlLbl val="0"/>
      </c:catAx>
      <c:valAx>
        <c:axId val="185494672"/>
        <c:scaling>
          <c:orientation val="minMax"/>
          <c:max val="800"/>
          <c:min val="200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173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#2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>
        <a:shade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1">
        <a:shade val="80000"/>
      </a:schemeClr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1">
        <a:tint val="75000"/>
      </a:schemeClr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1">
        <a:tint val="99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>
        <a:tint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50F3E-3BB1-4B89-BC43-EB661EA28494}" type="doc">
      <dgm:prSet loTypeId="urn:microsoft.com/office/officeart/2005/8/layout/process1" loCatId="process" qsTypeId="urn:microsoft.com/office/officeart/2005/8/quickstyle/simple5#2" qsCatId="simple" csTypeId="urn:microsoft.com/office/officeart/2005/8/colors/accent1_3#2" csCatId="accent1" phldr="1"/>
      <dgm:spPr/>
      <dgm:t>
        <a:bodyPr/>
        <a:lstStyle/>
        <a:p>
          <a:endParaRPr lang="en-US"/>
        </a:p>
      </dgm:t>
    </dgm:pt>
    <dgm:pt modelId="{2B05F8F3-40B1-491B-898A-187262D0D185}">
      <dgm:prSet phldrT="[Text]" phldr="0"/>
      <dgm:spPr/>
      <dgm:t>
        <a:bodyPr/>
        <a:lstStyle/>
        <a:p>
          <a:r>
            <a:rPr lang="en-US" dirty="0"/>
            <a:t>Get Admitted</a:t>
          </a:r>
        </a:p>
      </dgm:t>
    </dgm:pt>
    <dgm:pt modelId="{CE2C9671-F66A-4BB1-8860-F7DF3794C954}" type="parTrans" cxnId="{DD4743F3-8F91-4B22-BE92-FADE61BD20BA}">
      <dgm:prSet/>
      <dgm:spPr/>
      <dgm:t>
        <a:bodyPr/>
        <a:lstStyle/>
        <a:p>
          <a:endParaRPr lang="en-US"/>
        </a:p>
      </dgm:t>
    </dgm:pt>
    <dgm:pt modelId="{BAB1E65A-1130-4A3D-891F-BD14F53D2414}" type="sibTrans" cxnId="{DD4743F3-8F91-4B22-BE92-FADE61BD20BA}">
      <dgm:prSet/>
      <dgm:spPr/>
      <dgm:t>
        <a:bodyPr/>
        <a:lstStyle/>
        <a:p>
          <a:endParaRPr lang="en-US"/>
        </a:p>
      </dgm:t>
    </dgm:pt>
    <dgm:pt modelId="{F1332E50-C7B6-4873-B9C0-999EF8E2A559}">
      <dgm:prSet phldrT="[Text]" phldr="0"/>
      <dgm:spPr/>
      <dgm:t>
        <a:bodyPr/>
        <a:lstStyle/>
        <a:p>
          <a:r>
            <a:rPr lang="en-US" dirty="0"/>
            <a:t>Determine Placement</a:t>
          </a:r>
        </a:p>
      </dgm:t>
    </dgm:pt>
    <dgm:pt modelId="{8920FB1E-A3BE-4AF0-887E-82FA6A691DA1}" type="parTrans" cxnId="{8C058657-BF0C-4596-93B0-75A38349B086}">
      <dgm:prSet/>
      <dgm:spPr/>
      <dgm:t>
        <a:bodyPr/>
        <a:lstStyle/>
        <a:p>
          <a:endParaRPr lang="en-US"/>
        </a:p>
      </dgm:t>
    </dgm:pt>
    <dgm:pt modelId="{07426EF9-7C6F-4B52-8329-8022528C4121}" type="sibTrans" cxnId="{8C058657-BF0C-4596-93B0-75A38349B086}">
      <dgm:prSet/>
      <dgm:spPr/>
      <dgm:t>
        <a:bodyPr/>
        <a:lstStyle/>
        <a:p>
          <a:endParaRPr lang="en-US"/>
        </a:p>
      </dgm:t>
    </dgm:pt>
    <dgm:pt modelId="{1F235202-0EAE-45DD-8A90-DB936877E2B7}">
      <dgm:prSet phldrT="[Text]" phldr="0"/>
      <dgm:spPr/>
      <dgm:t>
        <a:bodyPr/>
        <a:lstStyle/>
        <a:p>
          <a:r>
            <a:rPr lang="en-US" dirty="0"/>
            <a:t>Register</a:t>
          </a:r>
        </a:p>
      </dgm:t>
    </dgm:pt>
    <dgm:pt modelId="{2CF881D6-2A2F-425C-8977-9451DE5A94E3}" type="parTrans" cxnId="{01BE962E-A3D8-4A3F-ABB3-FD5BC5F38600}">
      <dgm:prSet/>
      <dgm:spPr/>
      <dgm:t>
        <a:bodyPr/>
        <a:lstStyle/>
        <a:p>
          <a:endParaRPr lang="en-US"/>
        </a:p>
      </dgm:t>
    </dgm:pt>
    <dgm:pt modelId="{7791C7E8-56D9-43FB-B729-99367C7038B4}" type="sibTrans" cxnId="{01BE962E-A3D8-4A3F-ABB3-FD5BC5F38600}">
      <dgm:prSet/>
      <dgm:spPr/>
      <dgm:t>
        <a:bodyPr/>
        <a:lstStyle/>
        <a:p>
          <a:endParaRPr lang="en-US"/>
        </a:p>
      </dgm:t>
    </dgm:pt>
    <dgm:pt modelId="{864E3984-63CF-45E0-B685-382EBC13D601}">
      <dgm:prSet phldrT="[Text]" phldr="0"/>
      <dgm:spPr/>
      <dgm:t>
        <a:bodyPr/>
        <a:lstStyle/>
        <a:p>
          <a:r>
            <a:rPr lang="en-US"/>
            <a:t>Pay</a:t>
          </a:r>
          <a:endParaRPr lang="en-US" dirty="0"/>
        </a:p>
      </dgm:t>
    </dgm:pt>
    <dgm:pt modelId="{D2197C1C-EB4F-4BF7-85A1-D87141650CEA}" type="parTrans" cxnId="{343EAE0F-10AE-4992-85C2-98C072C644E7}">
      <dgm:prSet/>
      <dgm:spPr/>
      <dgm:t>
        <a:bodyPr/>
        <a:lstStyle/>
        <a:p>
          <a:endParaRPr lang="en-US"/>
        </a:p>
      </dgm:t>
    </dgm:pt>
    <dgm:pt modelId="{8E332723-0871-477D-99BD-010C112B8F30}" type="sibTrans" cxnId="{343EAE0F-10AE-4992-85C2-98C072C644E7}">
      <dgm:prSet/>
      <dgm:spPr/>
      <dgm:t>
        <a:bodyPr/>
        <a:lstStyle/>
        <a:p>
          <a:endParaRPr lang="en-US"/>
        </a:p>
      </dgm:t>
    </dgm:pt>
    <dgm:pt modelId="{CC8290D1-1240-4DC3-9DE3-FBF888F66102}" type="pres">
      <dgm:prSet presAssocID="{7B750F3E-3BB1-4B89-BC43-EB661EA28494}" presName="Name0" presStyleCnt="0">
        <dgm:presLayoutVars>
          <dgm:dir/>
          <dgm:resizeHandles val="exact"/>
        </dgm:presLayoutVars>
      </dgm:prSet>
      <dgm:spPr/>
    </dgm:pt>
    <dgm:pt modelId="{F5C5CC88-8BAC-4977-B560-6C2A20F35C31}" type="pres">
      <dgm:prSet presAssocID="{2B05F8F3-40B1-491B-898A-187262D0D185}" presName="node" presStyleLbl="node1" presStyleIdx="0" presStyleCnt="4">
        <dgm:presLayoutVars>
          <dgm:bulletEnabled val="1"/>
        </dgm:presLayoutVars>
      </dgm:prSet>
      <dgm:spPr/>
    </dgm:pt>
    <dgm:pt modelId="{DBC131A5-6F8F-42B0-B637-89764DECB631}" type="pres">
      <dgm:prSet presAssocID="{BAB1E65A-1130-4A3D-891F-BD14F53D2414}" presName="sibTrans" presStyleLbl="sibTrans2D1" presStyleIdx="0" presStyleCnt="3"/>
      <dgm:spPr/>
    </dgm:pt>
    <dgm:pt modelId="{4D28BA8A-A36F-4E72-B000-6282330433B2}" type="pres">
      <dgm:prSet presAssocID="{BAB1E65A-1130-4A3D-891F-BD14F53D2414}" presName="connectorText" presStyleLbl="sibTrans2D1" presStyleIdx="0" presStyleCnt="3"/>
      <dgm:spPr/>
    </dgm:pt>
    <dgm:pt modelId="{D286E59D-9A5F-42FA-9D2B-E843B4E21DAC}" type="pres">
      <dgm:prSet presAssocID="{F1332E50-C7B6-4873-B9C0-999EF8E2A559}" presName="node" presStyleLbl="node1" presStyleIdx="1" presStyleCnt="4">
        <dgm:presLayoutVars>
          <dgm:bulletEnabled val="1"/>
        </dgm:presLayoutVars>
      </dgm:prSet>
      <dgm:spPr/>
    </dgm:pt>
    <dgm:pt modelId="{516237F8-AA62-4E6E-904A-FC5E46E84E6B}" type="pres">
      <dgm:prSet presAssocID="{07426EF9-7C6F-4B52-8329-8022528C4121}" presName="sibTrans" presStyleLbl="sibTrans2D1" presStyleIdx="1" presStyleCnt="3"/>
      <dgm:spPr/>
    </dgm:pt>
    <dgm:pt modelId="{73A08B4C-4456-47FA-AC58-A147719D8C75}" type="pres">
      <dgm:prSet presAssocID="{07426EF9-7C6F-4B52-8329-8022528C4121}" presName="connectorText" presStyleLbl="sibTrans2D1" presStyleIdx="1" presStyleCnt="3"/>
      <dgm:spPr/>
    </dgm:pt>
    <dgm:pt modelId="{A6E07E0E-39AA-4B13-98B8-E6118AEBF16E}" type="pres">
      <dgm:prSet presAssocID="{1F235202-0EAE-45DD-8A90-DB936877E2B7}" presName="node" presStyleLbl="node1" presStyleIdx="2" presStyleCnt="4">
        <dgm:presLayoutVars>
          <dgm:bulletEnabled val="1"/>
        </dgm:presLayoutVars>
      </dgm:prSet>
      <dgm:spPr/>
    </dgm:pt>
    <dgm:pt modelId="{DE749F66-A63C-4FE3-9070-0F025BBE6885}" type="pres">
      <dgm:prSet presAssocID="{7791C7E8-56D9-43FB-B729-99367C7038B4}" presName="sibTrans" presStyleLbl="sibTrans2D1" presStyleIdx="2" presStyleCnt="3"/>
      <dgm:spPr/>
    </dgm:pt>
    <dgm:pt modelId="{22DA964E-126D-4B96-A0AE-1312EE75674C}" type="pres">
      <dgm:prSet presAssocID="{7791C7E8-56D9-43FB-B729-99367C7038B4}" presName="connectorText" presStyleLbl="sibTrans2D1" presStyleIdx="2" presStyleCnt="3"/>
      <dgm:spPr/>
    </dgm:pt>
    <dgm:pt modelId="{D92C5FBB-25FB-4A35-952F-B8F3949FAC6E}" type="pres">
      <dgm:prSet presAssocID="{864E3984-63CF-45E0-B685-382EBC13D601}" presName="node" presStyleLbl="node1" presStyleIdx="3" presStyleCnt="4">
        <dgm:presLayoutVars>
          <dgm:bulletEnabled val="1"/>
        </dgm:presLayoutVars>
      </dgm:prSet>
      <dgm:spPr/>
    </dgm:pt>
  </dgm:ptLst>
  <dgm:cxnLst>
    <dgm:cxn modelId="{343EAE0F-10AE-4992-85C2-98C072C644E7}" srcId="{7B750F3E-3BB1-4B89-BC43-EB661EA28494}" destId="{864E3984-63CF-45E0-B685-382EBC13D601}" srcOrd="3" destOrd="0" parTransId="{D2197C1C-EB4F-4BF7-85A1-D87141650CEA}" sibTransId="{8E332723-0871-477D-99BD-010C112B8F30}"/>
    <dgm:cxn modelId="{01BE962E-A3D8-4A3F-ABB3-FD5BC5F38600}" srcId="{7B750F3E-3BB1-4B89-BC43-EB661EA28494}" destId="{1F235202-0EAE-45DD-8A90-DB936877E2B7}" srcOrd="2" destOrd="0" parTransId="{2CF881D6-2A2F-425C-8977-9451DE5A94E3}" sibTransId="{7791C7E8-56D9-43FB-B729-99367C7038B4}"/>
    <dgm:cxn modelId="{CC226865-1A16-486E-85F2-30476AE5BE99}" type="presOf" srcId="{2B05F8F3-40B1-491B-898A-187262D0D185}" destId="{F5C5CC88-8BAC-4977-B560-6C2A20F35C31}" srcOrd="0" destOrd="0" presId="urn:microsoft.com/office/officeart/2005/8/layout/process1"/>
    <dgm:cxn modelId="{B998624C-F2F7-4002-AC73-629DA4D29B41}" type="presOf" srcId="{07426EF9-7C6F-4B52-8329-8022528C4121}" destId="{516237F8-AA62-4E6E-904A-FC5E46E84E6B}" srcOrd="0" destOrd="0" presId="urn:microsoft.com/office/officeart/2005/8/layout/process1"/>
    <dgm:cxn modelId="{8C058657-BF0C-4596-93B0-75A38349B086}" srcId="{7B750F3E-3BB1-4B89-BC43-EB661EA28494}" destId="{F1332E50-C7B6-4873-B9C0-999EF8E2A559}" srcOrd="1" destOrd="0" parTransId="{8920FB1E-A3BE-4AF0-887E-82FA6A691DA1}" sibTransId="{07426EF9-7C6F-4B52-8329-8022528C4121}"/>
    <dgm:cxn modelId="{32ED1659-E821-4E5B-8E4A-5AD031BF476C}" type="presOf" srcId="{1F235202-0EAE-45DD-8A90-DB936877E2B7}" destId="{A6E07E0E-39AA-4B13-98B8-E6118AEBF16E}" srcOrd="0" destOrd="0" presId="urn:microsoft.com/office/officeart/2005/8/layout/process1"/>
    <dgm:cxn modelId="{F5A4AD79-20A4-4C90-964D-5587EEBFD526}" type="presOf" srcId="{BAB1E65A-1130-4A3D-891F-BD14F53D2414}" destId="{4D28BA8A-A36F-4E72-B000-6282330433B2}" srcOrd="1" destOrd="0" presId="urn:microsoft.com/office/officeart/2005/8/layout/process1"/>
    <dgm:cxn modelId="{7298A381-4E81-4543-B0DA-F12AC3E1E426}" type="presOf" srcId="{7B750F3E-3BB1-4B89-BC43-EB661EA28494}" destId="{CC8290D1-1240-4DC3-9DE3-FBF888F66102}" srcOrd="0" destOrd="0" presId="urn:microsoft.com/office/officeart/2005/8/layout/process1"/>
    <dgm:cxn modelId="{2B4D4A99-0B17-4BC2-9972-87C5177B41FE}" type="presOf" srcId="{7791C7E8-56D9-43FB-B729-99367C7038B4}" destId="{22DA964E-126D-4B96-A0AE-1312EE75674C}" srcOrd="1" destOrd="0" presId="urn:microsoft.com/office/officeart/2005/8/layout/process1"/>
    <dgm:cxn modelId="{900ADFCA-42CB-4835-BF32-20A0BE242FA9}" type="presOf" srcId="{7791C7E8-56D9-43FB-B729-99367C7038B4}" destId="{DE749F66-A63C-4FE3-9070-0F025BBE6885}" srcOrd="0" destOrd="0" presId="urn:microsoft.com/office/officeart/2005/8/layout/process1"/>
    <dgm:cxn modelId="{A302F9DE-70DE-4831-8FB1-6B4188A2F09A}" type="presOf" srcId="{07426EF9-7C6F-4B52-8329-8022528C4121}" destId="{73A08B4C-4456-47FA-AC58-A147719D8C75}" srcOrd="1" destOrd="0" presId="urn:microsoft.com/office/officeart/2005/8/layout/process1"/>
    <dgm:cxn modelId="{27583BE1-FAFE-4AC0-A52F-AC8D3CDBCF1D}" type="presOf" srcId="{BAB1E65A-1130-4A3D-891F-BD14F53D2414}" destId="{DBC131A5-6F8F-42B0-B637-89764DECB631}" srcOrd="0" destOrd="0" presId="urn:microsoft.com/office/officeart/2005/8/layout/process1"/>
    <dgm:cxn modelId="{A31B9AE8-7EED-43B2-A69B-58748820EC3B}" type="presOf" srcId="{F1332E50-C7B6-4873-B9C0-999EF8E2A559}" destId="{D286E59D-9A5F-42FA-9D2B-E843B4E21DAC}" srcOrd="0" destOrd="0" presId="urn:microsoft.com/office/officeart/2005/8/layout/process1"/>
    <dgm:cxn modelId="{DD4743F3-8F91-4B22-BE92-FADE61BD20BA}" srcId="{7B750F3E-3BB1-4B89-BC43-EB661EA28494}" destId="{2B05F8F3-40B1-491B-898A-187262D0D185}" srcOrd="0" destOrd="0" parTransId="{CE2C9671-F66A-4BB1-8860-F7DF3794C954}" sibTransId="{BAB1E65A-1130-4A3D-891F-BD14F53D2414}"/>
    <dgm:cxn modelId="{99586FF9-6900-4DF0-83C3-BF1E9CA374A1}" type="presOf" srcId="{864E3984-63CF-45E0-B685-382EBC13D601}" destId="{D92C5FBB-25FB-4A35-952F-B8F3949FAC6E}" srcOrd="0" destOrd="0" presId="urn:microsoft.com/office/officeart/2005/8/layout/process1"/>
    <dgm:cxn modelId="{6BDD88AF-75E4-4C48-A888-803B187F9CB6}" type="presParOf" srcId="{CC8290D1-1240-4DC3-9DE3-FBF888F66102}" destId="{F5C5CC88-8BAC-4977-B560-6C2A20F35C31}" srcOrd="0" destOrd="0" presId="urn:microsoft.com/office/officeart/2005/8/layout/process1"/>
    <dgm:cxn modelId="{5455621B-296A-422B-8FDB-3D0C9DC74C93}" type="presParOf" srcId="{CC8290D1-1240-4DC3-9DE3-FBF888F66102}" destId="{DBC131A5-6F8F-42B0-B637-89764DECB631}" srcOrd="1" destOrd="0" presId="urn:microsoft.com/office/officeart/2005/8/layout/process1"/>
    <dgm:cxn modelId="{0B92AED7-E4B3-482C-AF46-E44C74808B33}" type="presParOf" srcId="{DBC131A5-6F8F-42B0-B637-89764DECB631}" destId="{4D28BA8A-A36F-4E72-B000-6282330433B2}" srcOrd="0" destOrd="0" presId="urn:microsoft.com/office/officeart/2005/8/layout/process1"/>
    <dgm:cxn modelId="{98188274-67A9-49EF-9F77-79A88E9C2DC5}" type="presParOf" srcId="{CC8290D1-1240-4DC3-9DE3-FBF888F66102}" destId="{D286E59D-9A5F-42FA-9D2B-E843B4E21DAC}" srcOrd="2" destOrd="0" presId="urn:microsoft.com/office/officeart/2005/8/layout/process1"/>
    <dgm:cxn modelId="{CA525ADE-C285-4ED4-A375-AAFEFBFC0BE3}" type="presParOf" srcId="{CC8290D1-1240-4DC3-9DE3-FBF888F66102}" destId="{516237F8-AA62-4E6E-904A-FC5E46E84E6B}" srcOrd="3" destOrd="0" presId="urn:microsoft.com/office/officeart/2005/8/layout/process1"/>
    <dgm:cxn modelId="{D4C3A448-D448-4F51-A71D-8CB6F735073D}" type="presParOf" srcId="{516237F8-AA62-4E6E-904A-FC5E46E84E6B}" destId="{73A08B4C-4456-47FA-AC58-A147719D8C75}" srcOrd="0" destOrd="0" presId="urn:microsoft.com/office/officeart/2005/8/layout/process1"/>
    <dgm:cxn modelId="{C8DAE478-BE4E-427E-9A1D-F990409039C0}" type="presParOf" srcId="{CC8290D1-1240-4DC3-9DE3-FBF888F66102}" destId="{A6E07E0E-39AA-4B13-98B8-E6118AEBF16E}" srcOrd="4" destOrd="0" presId="urn:microsoft.com/office/officeart/2005/8/layout/process1"/>
    <dgm:cxn modelId="{34E92C68-6148-496E-93A0-40009FF9A8A1}" type="presParOf" srcId="{CC8290D1-1240-4DC3-9DE3-FBF888F66102}" destId="{DE749F66-A63C-4FE3-9070-0F025BBE6885}" srcOrd="5" destOrd="0" presId="urn:microsoft.com/office/officeart/2005/8/layout/process1"/>
    <dgm:cxn modelId="{5A797A0C-9EAE-45F1-8D4F-70AEAB6517DB}" type="presParOf" srcId="{DE749F66-A63C-4FE3-9070-0F025BBE6885}" destId="{22DA964E-126D-4B96-A0AE-1312EE75674C}" srcOrd="0" destOrd="0" presId="urn:microsoft.com/office/officeart/2005/8/layout/process1"/>
    <dgm:cxn modelId="{95BC97AF-AFF2-4887-B219-E9B169E23799}" type="presParOf" srcId="{CC8290D1-1240-4DC3-9DE3-FBF888F66102}" destId="{D92C5FBB-25FB-4A35-952F-B8F3949FAC6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5CC88-8BAC-4977-B560-6C2A20F35C31}">
      <dsp:nvSpPr>
        <dsp:cNvPr id="0" name=""/>
        <dsp:cNvSpPr/>
      </dsp:nvSpPr>
      <dsp:spPr>
        <a:xfrm>
          <a:off x="3777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Get Admitted</a:t>
          </a:r>
        </a:p>
      </dsp:txBody>
      <dsp:txXfrm>
        <a:off x="32803" y="1474239"/>
        <a:ext cx="1593631" cy="932958"/>
      </dsp:txXfrm>
    </dsp:sp>
    <dsp:sp modelId="{DBC131A5-6F8F-42B0-B637-89764DECB631}">
      <dsp:nvSpPr>
        <dsp:cNvPr id="0" name=""/>
        <dsp:cNvSpPr/>
      </dsp:nvSpPr>
      <dsp:spPr>
        <a:xfrm>
          <a:off x="1820630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shade val="9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20630" y="1817832"/>
        <a:ext cx="245110" cy="245771"/>
      </dsp:txXfrm>
    </dsp:sp>
    <dsp:sp modelId="{D286E59D-9A5F-42FA-9D2B-E843B4E21DAC}">
      <dsp:nvSpPr>
        <dsp:cNvPr id="0" name=""/>
        <dsp:cNvSpPr/>
      </dsp:nvSpPr>
      <dsp:spPr>
        <a:xfrm>
          <a:off x="2316135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150630"/>
                <a:satOff val="-8075"/>
                <a:lumOff val="10310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150630"/>
                <a:satOff val="-8075"/>
                <a:lumOff val="1031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Determine Placement</a:t>
          </a:r>
        </a:p>
      </dsp:txBody>
      <dsp:txXfrm>
        <a:off x="2345161" y="1474239"/>
        <a:ext cx="1593631" cy="932958"/>
      </dsp:txXfrm>
    </dsp:sp>
    <dsp:sp modelId="{516237F8-AA62-4E6E-904A-FC5E46E84E6B}">
      <dsp:nvSpPr>
        <dsp:cNvPr id="0" name=""/>
        <dsp:cNvSpPr/>
      </dsp:nvSpPr>
      <dsp:spPr>
        <a:xfrm>
          <a:off x="4132987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225933"/>
                <a:satOff val="-11894"/>
                <a:lumOff val="14296"/>
                <a:alphaOff val="0"/>
                <a:tint val="96000"/>
                <a:lumMod val="100000"/>
              </a:schemeClr>
            </a:gs>
            <a:gs pos="78000">
              <a:schemeClr val="accent1">
                <a:shade val="90000"/>
                <a:hueOff val="225933"/>
                <a:satOff val="-11894"/>
                <a:lumOff val="1429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132987" y="1817832"/>
        <a:ext cx="245110" cy="245771"/>
      </dsp:txXfrm>
    </dsp:sp>
    <dsp:sp modelId="{A6E07E0E-39AA-4B13-98B8-E6118AEBF16E}">
      <dsp:nvSpPr>
        <dsp:cNvPr id="0" name=""/>
        <dsp:cNvSpPr/>
      </dsp:nvSpPr>
      <dsp:spPr>
        <a:xfrm>
          <a:off x="4628492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301259"/>
                <a:satOff val="-16151"/>
                <a:lumOff val="20619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301259"/>
                <a:satOff val="-16151"/>
                <a:lumOff val="2061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Register</a:t>
          </a:r>
        </a:p>
      </dsp:txBody>
      <dsp:txXfrm>
        <a:off x="4657518" y="1474239"/>
        <a:ext cx="1593631" cy="932958"/>
      </dsp:txXfrm>
    </dsp:sp>
    <dsp:sp modelId="{DE749F66-A63C-4FE3-9070-0F025BBE6885}">
      <dsp:nvSpPr>
        <dsp:cNvPr id="0" name=""/>
        <dsp:cNvSpPr/>
      </dsp:nvSpPr>
      <dsp:spPr>
        <a:xfrm>
          <a:off x="6445345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451866"/>
                <a:satOff val="-23789"/>
                <a:lumOff val="28591"/>
                <a:alphaOff val="0"/>
                <a:tint val="96000"/>
                <a:lumMod val="100000"/>
              </a:schemeClr>
            </a:gs>
            <a:gs pos="78000">
              <a:schemeClr val="accent1">
                <a:shade val="90000"/>
                <a:hueOff val="451866"/>
                <a:satOff val="-23789"/>
                <a:lumOff val="2859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45345" y="1817832"/>
        <a:ext cx="245110" cy="245771"/>
      </dsp:txXfrm>
    </dsp:sp>
    <dsp:sp modelId="{D92C5FBB-25FB-4A35-952F-B8F3949FAC6E}">
      <dsp:nvSpPr>
        <dsp:cNvPr id="0" name=""/>
        <dsp:cNvSpPr/>
      </dsp:nvSpPr>
      <dsp:spPr>
        <a:xfrm>
          <a:off x="6940850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451889"/>
                <a:satOff val="-24226"/>
                <a:lumOff val="30929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451889"/>
                <a:satOff val="-24226"/>
                <a:lumOff val="3092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Pay</a:t>
          </a:r>
          <a:endParaRPr lang="en-US" sz="2300" kern="1200" dirty="0"/>
        </a:p>
      </dsp:txBody>
      <dsp:txXfrm>
        <a:off x="6969876" y="1474239"/>
        <a:ext cx="1593631" cy="932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C30B98-0153-E694-8425-FDCBD0743A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5B4E0-DF73-199E-4268-52DF4E6220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CA080-D17E-32B0-2A45-6316412BA3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0CFAA-EA9E-3680-26F0-AD29D6673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923FC-FB73-4D82-9CB4-2D9B3C42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1966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A481D-0D6D-421C-8FB4-028C81734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27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194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sponsor numerous campus events and opportunities for you to participate in our dynamic learning environment. Through Student Life, students engage in educational relationships that inspire positive social change, contributing to a richer and more fulfilling college experience. Not only that, students build leadership and professional skills that carry on through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922EE-688A-5C6D-E96C-7C21CACD32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21545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5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line graph displays our fastest-growing 4 fields of interest over the past 4 years.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16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761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09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NBCC commitment and the support available to students.</a:t>
            </a:r>
          </a:p>
          <a:p>
            <a:endParaRPr lang="en-US" dirty="0"/>
          </a:p>
          <a:p>
            <a:r>
              <a:rPr lang="en-US" dirty="0"/>
              <a:t>Then, explain all of the resources available on the NBCC Home Page.</a:t>
            </a:r>
          </a:p>
          <a:p>
            <a:endParaRPr lang="en-US" dirty="0"/>
          </a:p>
          <a:p>
            <a:r>
              <a:rPr lang="en-US" dirty="0"/>
              <a:t>Remember to play the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EBF73-FE84-612D-D456-832334E103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32306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slideshow/student-leadership-251159723/25115972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5FkkZE6yBg?feature=oembed" TargetMode="Externa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38567949-climb-the-ladder-of-success-business-achievement-or-development-concept-business-man-climbing-ladder-of-success-to-reach-higher-things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796C-822C-C982-D455-8E1E5B98E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04531"/>
            <a:ext cx="7709608" cy="164630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Welcome New Students!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EC311-EEBC-E1A7-220D-56F0BFC2B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696" y="3949198"/>
            <a:ext cx="6040362" cy="1096899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Fall Orientation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06C8A-4988-9DC1-AD14-543466EE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Orientation 2026</a:t>
            </a:r>
          </a:p>
        </p:txBody>
      </p:sp>
    </p:spTree>
    <p:extLst>
      <p:ext uri="{BB962C8B-B14F-4D97-AF65-F5344CB8AC3E}">
        <p14:creationId xmlns:p14="http://schemas.microsoft.com/office/powerpoint/2010/main" val="320549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D886-542F-DED1-8C9C-88F27040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Life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AE236-2EA5-E2EB-D148-BAF06B60E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627" y="1615417"/>
            <a:ext cx="4184035" cy="388077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Get involved with Student Life and Leadership!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Connect with fellow students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Discover empowerment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Make a difference</a:t>
            </a:r>
          </a:p>
        </p:txBody>
      </p:sp>
      <p:pic>
        <p:nvPicPr>
          <p:cNvPr id="7" name="Content Placeholder 6" descr="Smiling young man showing phone to laughing friend while sitting on floor of university corridor">
            <a:extLst>
              <a:ext uri="{FF2B5EF4-FFF2-40B4-BE49-F238E27FC236}">
                <a16:creationId xmlns:a16="http://schemas.microsoft.com/office/drawing/2014/main" id="{85A2A878-18EF-9B21-81BB-405C436414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6175" y1="50868" x2="46175" y2="50868"/>
                        <a14:foregroundMark x1="57018" y1="77868" x2="57018" y2="77868"/>
                        <a14:backgroundMark x1="66368" y1="22079" x2="66368" y2="22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89525" y="2706423"/>
            <a:ext cx="4184650" cy="2789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39EA7-4EB7-0F8B-4792-BC7B1786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Orientation 2026</a:t>
            </a:r>
          </a:p>
        </p:txBody>
      </p:sp>
    </p:spTree>
    <p:extLst>
      <p:ext uri="{BB962C8B-B14F-4D97-AF65-F5344CB8AC3E}">
        <p14:creationId xmlns:p14="http://schemas.microsoft.com/office/powerpoint/2010/main" val="238285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6A6D-8EE0-5CAC-9A3D-8BA3109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Peer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53A8-9140-0376-99A0-E4866215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Build Student Bonds with SRC</a:t>
            </a:r>
          </a:p>
          <a:p>
            <a:r>
              <a:rPr lang="en-CA" sz="2800" dirty="0"/>
              <a:t>Create a buddy system</a:t>
            </a:r>
          </a:p>
          <a:p>
            <a:r>
              <a:rPr lang="en-CA" sz="2800" dirty="0"/>
              <a:t>Your friend on Campus</a:t>
            </a:r>
          </a:p>
          <a:p>
            <a:r>
              <a:rPr lang="en-CA" sz="2800" dirty="0"/>
              <a:t>Help to succeed in all aspects of life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D4F988-2F97-4BEE-F8FE-824D067062D0}"/>
              </a:ext>
            </a:extLst>
          </p:cNvPr>
          <p:cNvGrpSpPr/>
          <p:nvPr/>
        </p:nvGrpSpPr>
        <p:grpSpPr>
          <a:xfrm>
            <a:off x="7180856" y="2138069"/>
            <a:ext cx="4186291" cy="2581862"/>
            <a:chOff x="3009898" y="609600"/>
            <a:chExt cx="6400802" cy="39476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F2752E-FFFC-9336-5803-68C3255D5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3009900" y="609600"/>
              <a:ext cx="6400800" cy="36004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6685E2-DF5F-B5C3-8678-5C38710ED691}"/>
                </a:ext>
              </a:extLst>
            </p:cNvPr>
            <p:cNvSpPr txBox="1"/>
            <p:nvPr/>
          </p:nvSpPr>
          <p:spPr>
            <a:xfrm>
              <a:off x="3009898" y="4280245"/>
              <a:ext cx="64008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https://www.slideshare.net/slideshow/student-leadership-251159723/251159723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97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1838-1B9C-C848-7327-01F2AAF5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Athletics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067A-8FAF-F73D-090C-7637CF3D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3117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Soccer</a:t>
            </a:r>
          </a:p>
          <a:p>
            <a:r>
              <a:rPr lang="en-US" sz="2800" dirty="0"/>
              <a:t>Golf</a:t>
            </a:r>
          </a:p>
          <a:p>
            <a:r>
              <a:rPr lang="en-US" sz="2800" dirty="0"/>
              <a:t>Tennis</a:t>
            </a:r>
          </a:p>
          <a:p>
            <a:r>
              <a:rPr lang="en-US" sz="2800" dirty="0"/>
              <a:t>Cross Country</a:t>
            </a:r>
          </a:p>
          <a:p>
            <a:r>
              <a:rPr lang="en-US" sz="2800" dirty="0"/>
              <a:t>Track and Field</a:t>
            </a:r>
          </a:p>
          <a:p>
            <a:r>
              <a:rPr lang="en-US" sz="2800" dirty="0"/>
              <a:t>Baseball</a:t>
            </a:r>
          </a:p>
          <a:p>
            <a:r>
              <a:rPr lang="en-US" sz="2800" dirty="0"/>
              <a:t>Softball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F5A2-1A26-51AA-C9A3-923F95D6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Orientation 2026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888194D-2523-98D3-8842-A1FF5F4690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095046"/>
              </p:ext>
            </p:extLst>
          </p:nvPr>
        </p:nvGraphicFramePr>
        <p:xfrm>
          <a:off x="3976914" y="1499854"/>
          <a:ext cx="5537199" cy="3627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978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AE850D-10A8-C88D-CFBA-9CECF589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Fields of Interest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8A88D8-9E15-DE56-CB9C-25C5179DE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486275"/>
          </a:xfrm>
        </p:spPr>
        <p:txBody>
          <a:bodyPr>
            <a:noAutofit/>
          </a:bodyPr>
          <a:lstStyle/>
          <a:p>
            <a:r>
              <a:rPr lang="en-US" sz="2400" dirty="0"/>
              <a:t>Design Studios</a:t>
            </a:r>
          </a:p>
          <a:p>
            <a:r>
              <a:rPr lang="en-US" sz="2400" dirty="0"/>
              <a:t>Branding Firms</a:t>
            </a:r>
          </a:p>
          <a:p>
            <a:r>
              <a:rPr lang="en-US" sz="2400" dirty="0"/>
              <a:t>Publishers</a:t>
            </a:r>
          </a:p>
          <a:p>
            <a:r>
              <a:rPr lang="en-US" sz="2400" dirty="0"/>
              <a:t>Digital/ Interactive Agencies</a:t>
            </a:r>
          </a:p>
          <a:p>
            <a:r>
              <a:rPr lang="en-US" sz="2400" dirty="0"/>
              <a:t>Advertising Agencies</a:t>
            </a:r>
          </a:p>
          <a:p>
            <a:r>
              <a:rPr lang="en-US" sz="2400" dirty="0"/>
              <a:t>Integrated Communication Firms</a:t>
            </a:r>
          </a:p>
          <a:p>
            <a:r>
              <a:rPr lang="en-US" sz="2400" dirty="0"/>
              <a:t>Marketing Companies</a:t>
            </a:r>
          </a:p>
          <a:p>
            <a:r>
              <a:rPr lang="en-US" sz="2400" dirty="0"/>
              <a:t>In-House Design Departments</a:t>
            </a:r>
          </a:p>
          <a:p>
            <a:r>
              <a:rPr lang="en-US" sz="2400" dirty="0"/>
              <a:t>Governments</a:t>
            </a:r>
          </a:p>
          <a:p>
            <a:r>
              <a:rPr lang="en-US" sz="2400" dirty="0"/>
              <a:t>Schools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4282E2C-9EEB-8CDD-0668-4DD8E891D5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9280717"/>
              </p:ext>
            </p:extLst>
          </p:nvPr>
        </p:nvGraphicFramePr>
        <p:xfrm>
          <a:off x="6491515" y="939799"/>
          <a:ext cx="4862285" cy="514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1974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7343-11F7-9CAE-7259-C25A9525B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NBCC Graphic Design</a:t>
            </a:r>
          </a:p>
        </p:txBody>
      </p:sp>
      <p:pic>
        <p:nvPicPr>
          <p:cNvPr id="5" name="Online Media 4" title="Graphic &amp; Communications Design Q&amp;A Session">
            <a:hlinkClick r:id="" action="ppaction://media"/>
            <a:extLst>
              <a:ext uri="{FF2B5EF4-FFF2-40B4-BE49-F238E27FC236}">
                <a16:creationId xmlns:a16="http://schemas.microsoft.com/office/drawing/2014/main" id="{54B7FE61-AF15-8150-3B91-AADE6BAB728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77334" y="1352867"/>
            <a:ext cx="8091225" cy="4572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0238A-C2D9-FD31-665C-7C38F28D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Orientation 2026</a:t>
            </a:r>
          </a:p>
        </p:txBody>
      </p:sp>
    </p:spTree>
    <p:extLst>
      <p:ext uri="{BB962C8B-B14F-4D97-AF65-F5344CB8AC3E}">
        <p14:creationId xmlns:p14="http://schemas.microsoft.com/office/powerpoint/2010/main" val="96784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5947-E1DC-F9D7-79E2-BABD02A1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Students</a:t>
            </a:r>
            <a:r>
              <a:rPr lang="fr-CA" dirty="0"/>
              <a:t> </a:t>
            </a:r>
            <a:r>
              <a:rPr lang="en-CA" noProof="0" dirty="0"/>
              <a:t>Succeed</a:t>
            </a:r>
            <a:r>
              <a:rPr lang="fr-CA" dirty="0"/>
              <a:t> </a:t>
            </a:r>
            <a:r>
              <a:rPr lang="fr-CA" dirty="0" err="1"/>
              <a:t>Here</a:t>
            </a:r>
            <a:r>
              <a:rPr lang="fr-CA" dirty="0"/>
              <a:t>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482AF-A32A-BF90-0570-CE95F6E1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Accessibility Services</a:t>
            </a:r>
          </a:p>
          <a:p>
            <a:r>
              <a:rPr lang="en-US" sz="2800" dirty="0"/>
              <a:t>Off-Campus Housing</a:t>
            </a:r>
          </a:p>
          <a:p>
            <a:r>
              <a:rPr lang="en-US" sz="2800" dirty="0"/>
              <a:t>Money Matters</a:t>
            </a:r>
          </a:p>
          <a:p>
            <a:r>
              <a:rPr lang="en-US" sz="2800" dirty="0"/>
              <a:t>International Student Support</a:t>
            </a:r>
          </a:p>
          <a:p>
            <a:r>
              <a:rPr lang="en-US" sz="2800" dirty="0"/>
              <a:t>Indigenous Student Support</a:t>
            </a:r>
          </a:p>
          <a:p>
            <a:r>
              <a:rPr lang="en-US" sz="2800" dirty="0"/>
              <a:t>Learner &amp; Library Services</a:t>
            </a:r>
          </a:p>
          <a:p>
            <a:r>
              <a:rPr lang="en-US" sz="2800" dirty="0"/>
              <a:t>Wellness &amp; Counselling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8CFAD-51BC-289B-48C1-FE442467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C26B54-A350-8B9C-580A-1014873083FB}"/>
              </a:ext>
            </a:extLst>
          </p:cNvPr>
          <p:cNvGrpSpPr/>
          <p:nvPr/>
        </p:nvGrpSpPr>
        <p:grpSpPr>
          <a:xfrm>
            <a:off x="6096000" y="1162263"/>
            <a:ext cx="3446528" cy="4096246"/>
            <a:chOff x="6066916" y="1193218"/>
            <a:chExt cx="3446528" cy="40962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CCFBB2-ADE2-2E42-911A-666F158D1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096000" y="1193218"/>
              <a:ext cx="3388360" cy="33883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02BC8A-0DD0-2C9D-70FD-2799D8B58350}"/>
                </a:ext>
              </a:extLst>
            </p:cNvPr>
            <p:cNvSpPr txBox="1"/>
            <p:nvPr/>
          </p:nvSpPr>
          <p:spPr>
            <a:xfrm>
              <a:off x="6066916" y="4581578"/>
              <a:ext cx="344652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000" dirty="0"/>
                <a:t>https://www.vecteezy.com/vector-art/38567949-climb-the-ladder-of-success-business-achievement-or-development-concept-business-man-climbing-ladder-of-success-to-reach-higher-things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88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40D5-FD20-99F0-51FD-4ED6FFBD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Enrollment Steps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64D424-CA62-559C-B459-8CD850B3C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82194"/>
              </p:ext>
            </p:extLst>
          </p:nvPr>
        </p:nvGraphicFramePr>
        <p:xfrm>
          <a:off x="741363" y="1270000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5BFAD-E457-B716-B506-674C032C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62C38-F430-6D67-7EBD-FB079BF6477B}"/>
              </a:ext>
            </a:extLst>
          </p:cNvPr>
          <p:cNvSpPr/>
          <p:nvPr/>
        </p:nvSpPr>
        <p:spPr>
          <a:xfrm>
            <a:off x="3607364" y="4228107"/>
            <a:ext cx="286431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Register Early!</a:t>
            </a:r>
            <a:endParaRPr 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358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42D557-D62C-5DAB-2CB3-8A728E3D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8" y="4473225"/>
            <a:ext cx="8288035" cy="109505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It is great to be in Graphic Design!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D7F49-0B04-B542-94E6-0C19FB67F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5968" y="5569874"/>
            <a:ext cx="8288035" cy="47148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Welcome to NBCC!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17B0F-4000-838D-FF40-20D704407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668256"/>
            <a:ext cx="12192001" cy="317658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022340-7351-950E-D722-EB983A1F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5968" y="6041362"/>
            <a:ext cx="488392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Orientation 2026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8F77FB-730E-3A90-B612-179ACAF37C3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1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321</TotalTime>
  <Words>306</Words>
  <Application>Microsoft Office PowerPoint</Application>
  <PresentationFormat>Widescreen</PresentationFormat>
  <Paragraphs>79</Paragraphs>
  <Slides>9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Trebuchet MS</vt:lpstr>
      <vt:lpstr>Wingdings</vt:lpstr>
      <vt:lpstr>Wingdings 3</vt:lpstr>
      <vt:lpstr>Facet</vt:lpstr>
      <vt:lpstr>Welcome New Students!</vt:lpstr>
      <vt:lpstr>Student Life</vt:lpstr>
      <vt:lpstr>Peer Leaders</vt:lpstr>
      <vt:lpstr>Athletics</vt:lpstr>
      <vt:lpstr>Fields of Interest</vt:lpstr>
      <vt:lpstr>NBCC Graphic Design</vt:lpstr>
      <vt:lpstr>Students Succeed Here!</vt:lpstr>
      <vt:lpstr>Enrollment Steps</vt:lpstr>
      <vt:lpstr>It is great to be in Graphic Design!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Tuan</dc:creator>
  <cp:lastModifiedBy>Tran, Tuan</cp:lastModifiedBy>
  <cp:revision>6</cp:revision>
  <dcterms:created xsi:type="dcterms:W3CDTF">2026-09-23T17:53:18Z</dcterms:created>
  <dcterms:modified xsi:type="dcterms:W3CDTF">2026-10-05T13:24:51Z</dcterms:modified>
</cp:coreProperties>
</file>