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24"/>
  </p:notesMasterIdLst>
  <p:sldIdLst>
    <p:sldId id="256" r:id="rId2"/>
    <p:sldId id="296" r:id="rId3"/>
    <p:sldId id="292" r:id="rId4"/>
    <p:sldId id="262" r:id="rId5"/>
    <p:sldId id="293" r:id="rId6"/>
    <p:sldId id="285" r:id="rId7"/>
    <p:sldId id="286" r:id="rId8"/>
    <p:sldId id="284" r:id="rId9"/>
    <p:sldId id="263" r:id="rId10"/>
    <p:sldId id="294" r:id="rId11"/>
    <p:sldId id="295" r:id="rId12"/>
    <p:sldId id="287" r:id="rId13"/>
    <p:sldId id="288" r:id="rId14"/>
    <p:sldId id="264" r:id="rId15"/>
    <p:sldId id="289" r:id="rId16"/>
    <p:sldId id="290" r:id="rId17"/>
    <p:sldId id="291" r:id="rId18"/>
    <p:sldId id="297" r:id="rId19"/>
    <p:sldId id="298" r:id="rId20"/>
    <p:sldId id="299" r:id="rId21"/>
    <p:sldId id="300" r:id="rId22"/>
    <p:sldId id="301" r:id="rId23"/>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3A5662-4AFC-4B20-B8F3-8E7DFFC8E0ED}" v="52" dt="2026-09-22T13:19:04.427"/>
  </p1510:revLst>
</p1510:revInfo>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63317" autoAdjust="0"/>
  </p:normalViewPr>
  <p:slideViewPr>
    <p:cSldViewPr snapToGrid="0" snapToObjects="1">
      <p:cViewPr varScale="1">
        <p:scale>
          <a:sx n="66" d="100"/>
          <a:sy n="66" d="100"/>
        </p:scale>
        <p:origin x="1554" y="72"/>
      </p:cViewPr>
      <p:guideLst>
        <p:guide orient="horz" pos="2160"/>
        <p:guide pos="2880"/>
      </p:guideLst>
    </p:cSldViewPr>
  </p:slideViewPr>
  <p:outlineViewPr>
    <p:cViewPr>
      <p:scale>
        <a:sx n="33" d="100"/>
        <a:sy n="33" d="100"/>
      </p:scale>
      <p:origin x="0" y="-72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ney, Aynslie (NBCC)" userId="5b4b8641-5be5-4a22-b80a-b2335657ba3c" providerId="ADAL" clId="{37570E6E-2003-4D91-B5AC-B452EC7E0FA7}"/>
    <pc:docChg chg="undo custSel addSld delSld modSld sldOrd">
      <pc:chgData name="Croney, Aynslie (NBCC)" userId="5b4b8641-5be5-4a22-b80a-b2335657ba3c" providerId="ADAL" clId="{37570E6E-2003-4D91-B5AC-B452EC7E0FA7}" dt="2026-09-22T13:22:07.730" v="499" actId="20577"/>
      <pc:docMkLst>
        <pc:docMk/>
      </pc:docMkLst>
      <pc:sldChg chg="addSp delSp modSp modAnim modNotesTx">
        <pc:chgData name="Croney, Aynslie (NBCC)" userId="5b4b8641-5be5-4a22-b80a-b2335657ba3c" providerId="ADAL" clId="{37570E6E-2003-4D91-B5AC-B452EC7E0FA7}" dt="2026-09-22T13:11:26.881" v="375" actId="20577"/>
        <pc:sldMkLst>
          <pc:docMk/>
          <pc:sldMk cId="0" sldId="256"/>
        </pc:sldMkLst>
        <pc:spChg chg="del">
          <ac:chgData name="Croney, Aynslie (NBCC)" userId="5b4b8641-5be5-4a22-b80a-b2335657ba3c" providerId="ADAL" clId="{37570E6E-2003-4D91-B5AC-B452EC7E0FA7}" dt="2026-09-22T11:05:20.333" v="34"/>
          <ac:spMkLst>
            <pc:docMk/>
            <pc:sldMk cId="0" sldId="256"/>
            <ac:spMk id="3" creationId="{00000000-0000-0000-0000-000000000000}"/>
          </ac:spMkLst>
        </pc:spChg>
        <pc:spChg chg="add mod">
          <ac:chgData name="Croney, Aynslie (NBCC)" userId="5b4b8641-5be5-4a22-b80a-b2335657ba3c" providerId="ADAL" clId="{37570E6E-2003-4D91-B5AC-B452EC7E0FA7}" dt="2026-09-22T11:05:20.333" v="34"/>
          <ac:spMkLst>
            <pc:docMk/>
            <pc:sldMk cId="0" sldId="256"/>
            <ac:spMk id="4" creationId="{BE1E5271-F8F5-0A8E-8708-BE2543A3A0A4}"/>
          </ac:spMkLst>
        </pc:spChg>
      </pc:sldChg>
      <pc:sldChg chg="del">
        <pc:chgData name="Croney, Aynslie (NBCC)" userId="5b4b8641-5be5-4a22-b80a-b2335657ba3c" providerId="ADAL" clId="{37570E6E-2003-4D91-B5AC-B452EC7E0FA7}" dt="2026-09-22T11:05:47.572" v="36" actId="47"/>
        <pc:sldMkLst>
          <pc:docMk/>
          <pc:sldMk cId="0" sldId="258"/>
        </pc:sldMkLst>
      </pc:sldChg>
      <pc:sldChg chg="add del">
        <pc:chgData name="Croney, Aynslie (NBCC)" userId="5b4b8641-5be5-4a22-b80a-b2335657ba3c" providerId="ADAL" clId="{37570E6E-2003-4D91-B5AC-B452EC7E0FA7}" dt="2026-09-16T12:27:46.169" v="1" actId="47"/>
        <pc:sldMkLst>
          <pc:docMk/>
          <pc:sldMk cId="0" sldId="262"/>
        </pc:sldMkLst>
      </pc:sldChg>
      <pc:sldChg chg="add del ord">
        <pc:chgData name="Croney, Aynslie (NBCC)" userId="5b4b8641-5be5-4a22-b80a-b2335657ba3c" providerId="ADAL" clId="{37570E6E-2003-4D91-B5AC-B452EC7E0FA7}" dt="2026-09-22T12:25:49.580" v="226"/>
        <pc:sldMkLst>
          <pc:docMk/>
          <pc:sldMk cId="0" sldId="263"/>
        </pc:sldMkLst>
      </pc:sldChg>
      <pc:sldChg chg="add del">
        <pc:chgData name="Croney, Aynslie (NBCC)" userId="5b4b8641-5be5-4a22-b80a-b2335657ba3c" providerId="ADAL" clId="{37570E6E-2003-4D91-B5AC-B452EC7E0FA7}" dt="2026-09-16T12:27:46.169" v="1" actId="47"/>
        <pc:sldMkLst>
          <pc:docMk/>
          <pc:sldMk cId="0" sldId="264"/>
        </pc:sldMkLst>
      </pc:sldChg>
      <pc:sldChg chg="add del modNotesTx">
        <pc:chgData name="Croney, Aynslie (NBCC)" userId="5b4b8641-5be5-4a22-b80a-b2335657ba3c" providerId="ADAL" clId="{37570E6E-2003-4D91-B5AC-B452EC7E0FA7}" dt="2026-09-22T13:12:01.867" v="377" actId="20577"/>
        <pc:sldMkLst>
          <pc:docMk/>
          <pc:sldMk cId="2178300166" sldId="284"/>
        </pc:sldMkLst>
      </pc:sldChg>
      <pc:sldChg chg="add del">
        <pc:chgData name="Croney, Aynslie (NBCC)" userId="5b4b8641-5be5-4a22-b80a-b2335657ba3c" providerId="ADAL" clId="{37570E6E-2003-4D91-B5AC-B452EC7E0FA7}" dt="2026-09-16T12:27:46.169" v="1" actId="47"/>
        <pc:sldMkLst>
          <pc:docMk/>
          <pc:sldMk cId="3164654673" sldId="285"/>
        </pc:sldMkLst>
      </pc:sldChg>
      <pc:sldChg chg="add del">
        <pc:chgData name="Croney, Aynslie (NBCC)" userId="5b4b8641-5be5-4a22-b80a-b2335657ba3c" providerId="ADAL" clId="{37570E6E-2003-4D91-B5AC-B452EC7E0FA7}" dt="2026-09-16T12:27:46.169" v="1" actId="47"/>
        <pc:sldMkLst>
          <pc:docMk/>
          <pc:sldMk cId="848942186" sldId="286"/>
        </pc:sldMkLst>
      </pc:sldChg>
      <pc:sldChg chg="add del">
        <pc:chgData name="Croney, Aynslie (NBCC)" userId="5b4b8641-5be5-4a22-b80a-b2335657ba3c" providerId="ADAL" clId="{37570E6E-2003-4D91-B5AC-B452EC7E0FA7}" dt="2026-09-16T12:27:46.169" v="1" actId="47"/>
        <pc:sldMkLst>
          <pc:docMk/>
          <pc:sldMk cId="2146938279" sldId="287"/>
        </pc:sldMkLst>
      </pc:sldChg>
      <pc:sldChg chg="add del modNotesTx">
        <pc:chgData name="Croney, Aynslie (NBCC)" userId="5b4b8641-5be5-4a22-b80a-b2335657ba3c" providerId="ADAL" clId="{37570E6E-2003-4D91-B5AC-B452EC7E0FA7}" dt="2026-09-22T13:12:22.899" v="378" actId="12"/>
        <pc:sldMkLst>
          <pc:docMk/>
          <pc:sldMk cId="3760131069" sldId="288"/>
        </pc:sldMkLst>
      </pc:sldChg>
      <pc:sldChg chg="add del">
        <pc:chgData name="Croney, Aynslie (NBCC)" userId="5b4b8641-5be5-4a22-b80a-b2335657ba3c" providerId="ADAL" clId="{37570E6E-2003-4D91-B5AC-B452EC7E0FA7}" dt="2026-09-16T12:27:46.169" v="1" actId="47"/>
        <pc:sldMkLst>
          <pc:docMk/>
          <pc:sldMk cId="545389691" sldId="289"/>
        </pc:sldMkLst>
      </pc:sldChg>
      <pc:sldChg chg="add del">
        <pc:chgData name="Croney, Aynslie (NBCC)" userId="5b4b8641-5be5-4a22-b80a-b2335657ba3c" providerId="ADAL" clId="{37570E6E-2003-4D91-B5AC-B452EC7E0FA7}" dt="2026-09-16T12:27:46.169" v="1" actId="47"/>
        <pc:sldMkLst>
          <pc:docMk/>
          <pc:sldMk cId="1492784685" sldId="290"/>
        </pc:sldMkLst>
      </pc:sldChg>
      <pc:sldChg chg="add del">
        <pc:chgData name="Croney, Aynslie (NBCC)" userId="5b4b8641-5be5-4a22-b80a-b2335657ba3c" providerId="ADAL" clId="{37570E6E-2003-4D91-B5AC-B452EC7E0FA7}" dt="2026-09-16T12:27:46.169" v="1" actId="47"/>
        <pc:sldMkLst>
          <pc:docMk/>
          <pc:sldMk cId="3044958930" sldId="291"/>
        </pc:sldMkLst>
      </pc:sldChg>
      <pc:sldChg chg="addSp delSp modSp new mod ord modClrScheme modAnim chgLayout modNotesTx">
        <pc:chgData name="Croney, Aynslie (NBCC)" userId="5b4b8641-5be5-4a22-b80a-b2335657ba3c" providerId="ADAL" clId="{37570E6E-2003-4D91-B5AC-B452EC7E0FA7}" dt="2026-09-22T11:23:39.831" v="192"/>
        <pc:sldMkLst>
          <pc:docMk/>
          <pc:sldMk cId="105915915" sldId="292"/>
        </pc:sldMkLst>
        <pc:spChg chg="mod ord">
          <ac:chgData name="Croney, Aynslie (NBCC)" userId="5b4b8641-5be5-4a22-b80a-b2335657ba3c" providerId="ADAL" clId="{37570E6E-2003-4D91-B5AC-B452EC7E0FA7}" dt="2026-09-22T11:19:30.411" v="165" actId="700"/>
          <ac:spMkLst>
            <pc:docMk/>
            <pc:sldMk cId="105915915" sldId="292"/>
            <ac:spMk id="2" creationId="{40E29626-473C-EBDB-50F6-15BAE7D5ECB1}"/>
          </ac:spMkLst>
        </pc:spChg>
        <pc:spChg chg="mod ord">
          <ac:chgData name="Croney, Aynslie (NBCC)" userId="5b4b8641-5be5-4a22-b80a-b2335657ba3c" providerId="ADAL" clId="{37570E6E-2003-4D91-B5AC-B452EC7E0FA7}" dt="2026-09-22T11:19:30.411" v="165" actId="700"/>
          <ac:spMkLst>
            <pc:docMk/>
            <pc:sldMk cId="105915915" sldId="292"/>
            <ac:spMk id="3" creationId="{63EEF4CF-BF16-5DED-B63B-5FFFAF38BFD0}"/>
          </ac:spMkLst>
        </pc:spChg>
        <pc:spChg chg="add del mod ord">
          <ac:chgData name="Croney, Aynslie (NBCC)" userId="5b4b8641-5be5-4a22-b80a-b2335657ba3c" providerId="ADAL" clId="{37570E6E-2003-4D91-B5AC-B452EC7E0FA7}" dt="2026-09-22T11:20:59.873" v="181"/>
          <ac:spMkLst>
            <pc:docMk/>
            <pc:sldMk cId="105915915" sldId="292"/>
            <ac:spMk id="4" creationId="{31F499ED-58E2-5367-10C6-8B0DB2A1041C}"/>
          </ac:spMkLst>
        </pc:spChg>
        <pc:picChg chg="add mod">
          <ac:chgData name="Croney, Aynslie (NBCC)" userId="5b4b8641-5be5-4a22-b80a-b2335657ba3c" providerId="ADAL" clId="{37570E6E-2003-4D91-B5AC-B452EC7E0FA7}" dt="2026-09-22T11:22:23.161" v="184" actId="1076"/>
          <ac:picMkLst>
            <pc:docMk/>
            <pc:sldMk cId="105915915" sldId="292"/>
            <ac:picMk id="5" creationId="{F57F8921-FFC6-D9C1-0702-890E24F35F22}"/>
          </ac:picMkLst>
        </pc:picChg>
        <pc:picChg chg="add mod">
          <ac:chgData name="Croney, Aynslie (NBCC)" userId="5b4b8641-5be5-4a22-b80a-b2335657ba3c" providerId="ADAL" clId="{37570E6E-2003-4D91-B5AC-B452EC7E0FA7}" dt="2026-09-22T11:23:35.293" v="191" actId="1076"/>
          <ac:picMkLst>
            <pc:docMk/>
            <pc:sldMk cId="105915915" sldId="292"/>
            <ac:picMk id="7" creationId="{9C454EC2-8DC1-29BF-892C-07AE0BA570E2}"/>
          </ac:picMkLst>
        </pc:picChg>
      </pc:sldChg>
      <pc:sldChg chg="addSp delSp modSp new mod ord modNotesTx">
        <pc:chgData name="Croney, Aynslie (NBCC)" userId="5b4b8641-5be5-4a22-b80a-b2335657ba3c" providerId="ADAL" clId="{37570E6E-2003-4D91-B5AC-B452EC7E0FA7}" dt="2026-09-22T11:27:10.461" v="217" actId="478"/>
        <pc:sldMkLst>
          <pc:docMk/>
          <pc:sldMk cId="2087170377" sldId="293"/>
        </pc:sldMkLst>
        <pc:spChg chg="mod">
          <ac:chgData name="Croney, Aynslie (NBCC)" userId="5b4b8641-5be5-4a22-b80a-b2335657ba3c" providerId="ADAL" clId="{37570E6E-2003-4D91-B5AC-B452EC7E0FA7}" dt="2026-09-22T11:00:23.967" v="15"/>
          <ac:spMkLst>
            <pc:docMk/>
            <pc:sldMk cId="2087170377" sldId="293"/>
            <ac:spMk id="2" creationId="{B06B64C7-47BC-32B2-B082-8653AE528BDB}"/>
          </ac:spMkLst>
        </pc:spChg>
        <pc:spChg chg="del mod">
          <ac:chgData name="Croney, Aynslie (NBCC)" userId="5b4b8641-5be5-4a22-b80a-b2335657ba3c" providerId="ADAL" clId="{37570E6E-2003-4D91-B5AC-B452EC7E0FA7}" dt="2026-09-22T11:27:07.240" v="216" actId="478"/>
          <ac:spMkLst>
            <pc:docMk/>
            <pc:sldMk cId="2087170377" sldId="293"/>
            <ac:spMk id="3" creationId="{40F3E6FD-0354-A626-4CDA-60AC04666862}"/>
          </ac:spMkLst>
        </pc:spChg>
        <pc:spChg chg="add del mod">
          <ac:chgData name="Croney, Aynslie (NBCC)" userId="5b4b8641-5be5-4a22-b80a-b2335657ba3c" providerId="ADAL" clId="{37570E6E-2003-4D91-B5AC-B452EC7E0FA7}" dt="2026-09-22T11:27:10.461" v="217" actId="478"/>
          <ac:spMkLst>
            <pc:docMk/>
            <pc:sldMk cId="2087170377" sldId="293"/>
            <ac:spMk id="7" creationId="{402BF14C-4AD6-9B7C-1918-C2B3CCCBA806}"/>
          </ac:spMkLst>
        </pc:spChg>
        <pc:picChg chg="add mod">
          <ac:chgData name="Croney, Aynslie (NBCC)" userId="5b4b8641-5be5-4a22-b80a-b2335657ba3c" providerId="ADAL" clId="{37570E6E-2003-4D91-B5AC-B452EC7E0FA7}" dt="2026-09-22T11:25:46.860" v="210" actId="1076"/>
          <ac:picMkLst>
            <pc:docMk/>
            <pc:sldMk cId="2087170377" sldId="293"/>
            <ac:picMk id="4" creationId="{24DFF58B-7C1C-BFE4-9981-AF9F36266CED}"/>
          </ac:picMkLst>
        </pc:picChg>
        <pc:picChg chg="add mod">
          <ac:chgData name="Croney, Aynslie (NBCC)" userId="5b4b8641-5be5-4a22-b80a-b2335657ba3c" providerId="ADAL" clId="{37570E6E-2003-4D91-B5AC-B452EC7E0FA7}" dt="2026-09-22T11:27:00.936" v="215" actId="1076"/>
          <ac:picMkLst>
            <pc:docMk/>
            <pc:sldMk cId="2087170377" sldId="293"/>
            <ac:picMk id="5" creationId="{215027A9-F0E1-8D3B-8988-E53707FE0907}"/>
          </ac:picMkLst>
        </pc:picChg>
      </pc:sldChg>
      <pc:sldChg chg="addSp delSp modSp new mod setBg modNotesTx">
        <pc:chgData name="Croney, Aynslie (NBCC)" userId="5b4b8641-5be5-4a22-b80a-b2335657ba3c" providerId="ADAL" clId="{37570E6E-2003-4D91-B5AC-B452EC7E0FA7}" dt="2026-09-22T13:04:31.203" v="277" actId="14100"/>
        <pc:sldMkLst>
          <pc:docMk/>
          <pc:sldMk cId="300142035" sldId="294"/>
        </pc:sldMkLst>
        <pc:spChg chg="mod">
          <ac:chgData name="Croney, Aynslie (NBCC)" userId="5b4b8641-5be5-4a22-b80a-b2335657ba3c" providerId="ADAL" clId="{37570E6E-2003-4D91-B5AC-B452EC7E0FA7}" dt="2026-09-22T12:25:18.662" v="223" actId="26606"/>
          <ac:spMkLst>
            <pc:docMk/>
            <pc:sldMk cId="300142035" sldId="294"/>
            <ac:spMk id="2" creationId="{F896E2DE-F1DD-9957-7432-746F485D7C3F}"/>
          </ac:spMkLst>
        </pc:spChg>
        <pc:spChg chg="mod">
          <ac:chgData name="Croney, Aynslie (NBCC)" userId="5b4b8641-5be5-4a22-b80a-b2335657ba3c" providerId="ADAL" clId="{37570E6E-2003-4D91-B5AC-B452EC7E0FA7}" dt="2026-09-22T13:04:31.203" v="277" actId="14100"/>
          <ac:spMkLst>
            <pc:docMk/>
            <pc:sldMk cId="300142035" sldId="294"/>
            <ac:spMk id="3" creationId="{9E786525-EC6F-D38E-21A0-4EFF158C14E3}"/>
          </ac:spMkLst>
        </pc:spChg>
        <pc:spChg chg="add del">
          <ac:chgData name="Croney, Aynslie (NBCC)" userId="5b4b8641-5be5-4a22-b80a-b2335657ba3c" providerId="ADAL" clId="{37570E6E-2003-4D91-B5AC-B452EC7E0FA7}" dt="2026-09-22T12:25:18.662" v="223" actId="26606"/>
          <ac:spMkLst>
            <pc:docMk/>
            <pc:sldMk cId="300142035" sldId="294"/>
            <ac:spMk id="9" creationId="{5B015324-98EE-4370-8001-85C1278A18ED}"/>
          </ac:spMkLst>
        </pc:spChg>
        <pc:picChg chg="add mod">
          <ac:chgData name="Croney, Aynslie (NBCC)" userId="5b4b8641-5be5-4a22-b80a-b2335657ba3c" providerId="ADAL" clId="{37570E6E-2003-4D91-B5AC-B452EC7E0FA7}" dt="2026-09-22T13:04:23.788" v="275" actId="1076"/>
          <ac:picMkLst>
            <pc:docMk/>
            <pc:sldMk cId="300142035" sldId="294"/>
            <ac:picMk id="4" creationId="{6A15692E-5E70-9ED5-224E-2A70BB4D1CF6}"/>
          </ac:picMkLst>
        </pc:picChg>
        <pc:picChg chg="add del">
          <ac:chgData name="Croney, Aynslie (NBCC)" userId="5b4b8641-5be5-4a22-b80a-b2335657ba3c" providerId="ADAL" clId="{37570E6E-2003-4D91-B5AC-B452EC7E0FA7}" dt="2026-09-22T12:25:18.662" v="223" actId="26606"/>
          <ac:picMkLst>
            <pc:docMk/>
            <pc:sldMk cId="300142035" sldId="294"/>
            <ac:picMk id="11" creationId="{14E49BFF-40A2-4616-8638-9CBE4EC1F6AA}"/>
          </ac:picMkLst>
        </pc:picChg>
      </pc:sldChg>
      <pc:sldChg chg="addSp delSp modSp new mod modNotesTx">
        <pc:chgData name="Croney, Aynslie (NBCC)" userId="5b4b8641-5be5-4a22-b80a-b2335657ba3c" providerId="ADAL" clId="{37570E6E-2003-4D91-B5AC-B452EC7E0FA7}" dt="2026-09-22T13:22:07.730" v="499" actId="20577"/>
        <pc:sldMkLst>
          <pc:docMk/>
          <pc:sldMk cId="2109385370" sldId="295"/>
        </pc:sldMkLst>
        <pc:spChg chg="mod">
          <ac:chgData name="Croney, Aynslie (NBCC)" userId="5b4b8641-5be5-4a22-b80a-b2335657ba3c" providerId="ADAL" clId="{37570E6E-2003-4D91-B5AC-B452EC7E0FA7}" dt="2026-09-22T11:02:44.817" v="27"/>
          <ac:spMkLst>
            <pc:docMk/>
            <pc:sldMk cId="2109385370" sldId="295"/>
            <ac:spMk id="2" creationId="{C0DA0BDF-2046-57F6-2B19-CDD9F4B6FCB4}"/>
          </ac:spMkLst>
        </pc:spChg>
        <pc:spChg chg="del mod">
          <ac:chgData name="Croney, Aynslie (NBCC)" userId="5b4b8641-5be5-4a22-b80a-b2335657ba3c" providerId="ADAL" clId="{37570E6E-2003-4D91-B5AC-B452EC7E0FA7}" dt="2026-09-22T13:18:25.162" v="465" actId="478"/>
          <ac:spMkLst>
            <pc:docMk/>
            <pc:sldMk cId="2109385370" sldId="295"/>
            <ac:spMk id="3" creationId="{46F4800B-E9D7-50C2-801A-053967286B22}"/>
          </ac:spMkLst>
        </pc:spChg>
        <pc:spChg chg="add del mod">
          <ac:chgData name="Croney, Aynslie (NBCC)" userId="5b4b8641-5be5-4a22-b80a-b2335657ba3c" providerId="ADAL" clId="{37570E6E-2003-4D91-B5AC-B452EC7E0FA7}" dt="2026-09-22T13:18:27.349" v="466" actId="478"/>
          <ac:spMkLst>
            <pc:docMk/>
            <pc:sldMk cId="2109385370" sldId="295"/>
            <ac:spMk id="6" creationId="{7F739BD0-1F22-148E-4174-82785CE2F600}"/>
          </ac:spMkLst>
        </pc:spChg>
        <pc:graphicFrameChg chg="add mod modGraphic">
          <ac:chgData name="Croney, Aynslie (NBCC)" userId="5b4b8641-5be5-4a22-b80a-b2335657ba3c" providerId="ADAL" clId="{37570E6E-2003-4D91-B5AC-B452EC7E0FA7}" dt="2026-09-22T13:18:40.520" v="469" actId="14734"/>
          <ac:graphicFrameMkLst>
            <pc:docMk/>
            <pc:sldMk cId="2109385370" sldId="295"/>
            <ac:graphicFrameMk id="4" creationId="{BDBF5887-90BC-0AD0-2E39-966303B13614}"/>
          </ac:graphicFrameMkLst>
        </pc:graphicFrameChg>
      </pc:sldChg>
      <pc:sldChg chg="modSp add">
        <pc:chgData name="Croney, Aynslie (NBCC)" userId="5b4b8641-5be5-4a22-b80a-b2335657ba3c" providerId="ADAL" clId="{37570E6E-2003-4D91-B5AC-B452EC7E0FA7}" dt="2026-09-22T11:05:58.482" v="38" actId="113"/>
        <pc:sldMkLst>
          <pc:docMk/>
          <pc:sldMk cId="0" sldId="296"/>
        </pc:sldMkLst>
        <pc:spChg chg="mod">
          <ac:chgData name="Croney, Aynslie (NBCC)" userId="5b4b8641-5be5-4a22-b80a-b2335657ba3c" providerId="ADAL" clId="{37570E6E-2003-4D91-B5AC-B452EC7E0FA7}" dt="2026-09-22T11:05:58.482" v="38" actId="113"/>
          <ac:spMkLst>
            <pc:docMk/>
            <pc:sldMk cId="0" sldId="296"/>
            <ac:spMk id="3" creationId="{00000000-0000-0000-0000-000000000000}"/>
          </ac:spMkLst>
        </pc:spChg>
      </pc:sldChg>
      <pc:sldChg chg="addSp modSp new mod modClrScheme modAnim chgLayout modNotesTx">
        <pc:chgData name="Croney, Aynslie (NBCC)" userId="5b4b8641-5be5-4a22-b80a-b2335657ba3c" providerId="ADAL" clId="{37570E6E-2003-4D91-B5AC-B452EC7E0FA7}" dt="2026-09-22T13:10:23.578" v="333"/>
        <pc:sldMkLst>
          <pc:docMk/>
          <pc:sldMk cId="1035804460" sldId="297"/>
        </pc:sldMkLst>
        <pc:spChg chg="mod ord">
          <ac:chgData name="Croney, Aynslie (NBCC)" userId="5b4b8641-5be5-4a22-b80a-b2335657ba3c" providerId="ADAL" clId="{37570E6E-2003-4D91-B5AC-B452EC7E0FA7}" dt="2026-09-22T13:05:01.573" v="278" actId="700"/>
          <ac:spMkLst>
            <pc:docMk/>
            <pc:sldMk cId="1035804460" sldId="297"/>
            <ac:spMk id="2" creationId="{D98554C4-2DBF-E9F9-C60A-90EF58660968}"/>
          </ac:spMkLst>
        </pc:spChg>
        <pc:spChg chg="mod ord">
          <ac:chgData name="Croney, Aynslie (NBCC)" userId="5b4b8641-5be5-4a22-b80a-b2335657ba3c" providerId="ADAL" clId="{37570E6E-2003-4D91-B5AC-B452EC7E0FA7}" dt="2026-09-22T13:05:01.573" v="278" actId="700"/>
          <ac:spMkLst>
            <pc:docMk/>
            <pc:sldMk cId="1035804460" sldId="297"/>
            <ac:spMk id="3" creationId="{C6442086-6290-98ED-53F6-AFE44E349BD0}"/>
          </ac:spMkLst>
        </pc:spChg>
        <pc:spChg chg="add mod ord">
          <ac:chgData name="Croney, Aynslie (NBCC)" userId="5b4b8641-5be5-4a22-b80a-b2335657ba3c" providerId="ADAL" clId="{37570E6E-2003-4D91-B5AC-B452EC7E0FA7}" dt="2026-09-22T13:05:01.573" v="278" actId="700"/>
          <ac:spMkLst>
            <pc:docMk/>
            <pc:sldMk cId="1035804460" sldId="297"/>
            <ac:spMk id="7" creationId="{9DB984ED-941E-CED7-6D86-B194E5668D7D}"/>
          </ac:spMkLst>
        </pc:spChg>
        <pc:picChg chg="add mod modVis">
          <ac:chgData name="Croney, Aynslie (NBCC)" userId="5b4b8641-5be5-4a22-b80a-b2335657ba3c" providerId="ADAL" clId="{37570E6E-2003-4D91-B5AC-B452EC7E0FA7}" dt="2026-09-22T13:10:12.894" v="331" actId="14429"/>
          <ac:picMkLst>
            <pc:docMk/>
            <pc:sldMk cId="1035804460" sldId="297"/>
            <ac:picMk id="4" creationId="{7EBD1830-FB8E-08A1-2D49-F6AECF826387}"/>
          </ac:picMkLst>
        </pc:picChg>
        <pc:picChg chg="add mod">
          <ac:chgData name="Croney, Aynslie (NBCC)" userId="5b4b8641-5be5-4a22-b80a-b2335657ba3c" providerId="ADAL" clId="{37570E6E-2003-4D91-B5AC-B452EC7E0FA7}" dt="2026-09-22T13:05:30.929" v="287" actId="1076"/>
          <ac:picMkLst>
            <pc:docMk/>
            <pc:sldMk cId="1035804460" sldId="297"/>
            <ac:picMk id="5" creationId="{8D2FE6D7-9FFF-3FC2-28F3-9B0F33FE825A}"/>
          </ac:picMkLst>
        </pc:picChg>
        <pc:picChg chg="add mod modCrop">
          <ac:chgData name="Croney, Aynslie (NBCC)" userId="5b4b8641-5be5-4a22-b80a-b2335657ba3c" providerId="ADAL" clId="{37570E6E-2003-4D91-B5AC-B452EC7E0FA7}" dt="2026-09-22T13:05:54.978" v="295" actId="1076"/>
          <ac:picMkLst>
            <pc:docMk/>
            <pc:sldMk cId="1035804460" sldId="297"/>
            <ac:picMk id="6" creationId="{DFC58B1C-7AB2-E806-DAE6-433A7F4E509A}"/>
          </ac:picMkLst>
        </pc:picChg>
        <pc:picChg chg="add mod">
          <ac:chgData name="Croney, Aynslie (NBCC)" userId="5b4b8641-5be5-4a22-b80a-b2335657ba3c" providerId="ADAL" clId="{37570E6E-2003-4D91-B5AC-B452EC7E0FA7}" dt="2026-09-22T13:09:00.996" v="322" actId="1076"/>
          <ac:picMkLst>
            <pc:docMk/>
            <pc:sldMk cId="1035804460" sldId="297"/>
            <ac:picMk id="8" creationId="{52F63049-7D8A-5FBB-C071-D0D10E70EAA1}"/>
          </ac:picMkLst>
        </pc:picChg>
      </pc:sldChg>
      <pc:sldChg chg="addSp delSp modSp new mod modAnim modNotesTx">
        <pc:chgData name="Croney, Aynslie (NBCC)" userId="5b4b8641-5be5-4a22-b80a-b2335657ba3c" providerId="ADAL" clId="{37570E6E-2003-4D91-B5AC-B452EC7E0FA7}" dt="2026-09-22T11:18:59.135" v="162"/>
        <pc:sldMkLst>
          <pc:docMk/>
          <pc:sldMk cId="3388102047" sldId="298"/>
        </pc:sldMkLst>
        <pc:spChg chg="mod">
          <ac:chgData name="Croney, Aynslie (NBCC)" userId="5b4b8641-5be5-4a22-b80a-b2335657ba3c" providerId="ADAL" clId="{37570E6E-2003-4D91-B5AC-B452EC7E0FA7}" dt="2026-09-22T11:07:59.221" v="43"/>
          <ac:spMkLst>
            <pc:docMk/>
            <pc:sldMk cId="3388102047" sldId="298"/>
            <ac:spMk id="2" creationId="{69C0A59E-AF6C-1CED-98F1-C1C5F6E64B48}"/>
          </ac:spMkLst>
        </pc:spChg>
        <pc:spChg chg="del">
          <ac:chgData name="Croney, Aynslie (NBCC)" userId="5b4b8641-5be5-4a22-b80a-b2335657ba3c" providerId="ADAL" clId="{37570E6E-2003-4D91-B5AC-B452EC7E0FA7}" dt="2026-09-22T11:08:08.333" v="44"/>
          <ac:spMkLst>
            <pc:docMk/>
            <pc:sldMk cId="3388102047" sldId="298"/>
            <ac:spMk id="3" creationId="{5F8B512A-A5E8-7451-89E9-346FCE1F1673}"/>
          </ac:spMkLst>
        </pc:spChg>
        <pc:spChg chg="add del mod">
          <ac:chgData name="Croney, Aynslie (NBCC)" userId="5b4b8641-5be5-4a22-b80a-b2335657ba3c" providerId="ADAL" clId="{37570E6E-2003-4D91-B5AC-B452EC7E0FA7}" dt="2026-09-22T11:16:16.785" v="125" actId="478"/>
          <ac:spMkLst>
            <pc:docMk/>
            <pc:sldMk cId="3388102047" sldId="298"/>
            <ac:spMk id="7" creationId="{AD6703D4-8F35-B764-9F12-32B64555AE33}"/>
          </ac:spMkLst>
        </pc:spChg>
        <pc:graphicFrameChg chg="add del mod">
          <ac:chgData name="Croney, Aynslie (NBCC)" userId="5b4b8641-5be5-4a22-b80a-b2335657ba3c" providerId="ADAL" clId="{37570E6E-2003-4D91-B5AC-B452EC7E0FA7}" dt="2026-09-22T11:16:14.333" v="124" actId="478"/>
          <ac:graphicFrameMkLst>
            <pc:docMk/>
            <pc:sldMk cId="3388102047" sldId="298"/>
            <ac:graphicFrameMk id="4" creationId="{79ADF22C-39CD-083C-261F-22F1A0077481}"/>
          </ac:graphicFrameMkLst>
        </pc:graphicFrameChg>
        <pc:picChg chg="add mod">
          <ac:chgData name="Croney, Aynslie (NBCC)" userId="5b4b8641-5be5-4a22-b80a-b2335657ba3c" providerId="ADAL" clId="{37570E6E-2003-4D91-B5AC-B452EC7E0FA7}" dt="2026-09-22T11:16:20.358" v="126" actId="1076"/>
          <ac:picMkLst>
            <pc:docMk/>
            <pc:sldMk cId="3388102047" sldId="298"/>
            <ac:picMk id="5" creationId="{6CACEC03-BCC0-04E1-4AAB-A9EDA21B8CD1}"/>
          </ac:picMkLst>
        </pc:picChg>
        <pc:picChg chg="add mod">
          <ac:chgData name="Croney, Aynslie (NBCC)" userId="5b4b8641-5be5-4a22-b80a-b2335657ba3c" providerId="ADAL" clId="{37570E6E-2003-4D91-B5AC-B452EC7E0FA7}" dt="2026-09-22T11:17:38.635" v="138" actId="1038"/>
          <ac:picMkLst>
            <pc:docMk/>
            <pc:sldMk cId="3388102047" sldId="298"/>
            <ac:picMk id="9" creationId="{8E628050-0D1A-A71D-92D7-BEE889052E81}"/>
          </ac:picMkLst>
        </pc:picChg>
        <pc:picChg chg="add mod">
          <ac:chgData name="Croney, Aynslie (NBCC)" userId="5b4b8641-5be5-4a22-b80a-b2335657ba3c" providerId="ADAL" clId="{37570E6E-2003-4D91-B5AC-B452EC7E0FA7}" dt="2026-09-22T11:18:38.713" v="159" actId="14100"/>
          <ac:picMkLst>
            <pc:docMk/>
            <pc:sldMk cId="3388102047" sldId="298"/>
            <ac:picMk id="11" creationId="{393512F0-51B5-4343-8F47-AFD49D82F527}"/>
          </ac:picMkLst>
        </pc:picChg>
      </pc:sldChg>
      <pc:sldChg chg="addSp delSp modSp new mod modClrScheme chgLayout modNotesTx">
        <pc:chgData name="Croney, Aynslie (NBCC)" userId="5b4b8641-5be5-4a22-b80a-b2335657ba3c" providerId="ADAL" clId="{37570E6E-2003-4D91-B5AC-B452EC7E0FA7}" dt="2026-09-22T13:16:41.429" v="454" actId="20577"/>
        <pc:sldMkLst>
          <pc:docMk/>
          <pc:sldMk cId="4079752266" sldId="299"/>
        </pc:sldMkLst>
        <pc:spChg chg="mod ord">
          <ac:chgData name="Croney, Aynslie (NBCC)" userId="5b4b8641-5be5-4a22-b80a-b2335657ba3c" providerId="ADAL" clId="{37570E6E-2003-4D91-B5AC-B452EC7E0FA7}" dt="2026-09-22T13:16:13.657" v="451" actId="700"/>
          <ac:spMkLst>
            <pc:docMk/>
            <pc:sldMk cId="4079752266" sldId="299"/>
            <ac:spMk id="2" creationId="{79D50265-2896-D2C4-C7A5-CB2845FF622B}"/>
          </ac:spMkLst>
        </pc:spChg>
        <pc:spChg chg="add del mod ord">
          <ac:chgData name="Croney, Aynslie (NBCC)" userId="5b4b8641-5be5-4a22-b80a-b2335657ba3c" providerId="ADAL" clId="{37570E6E-2003-4D91-B5AC-B452EC7E0FA7}" dt="2026-09-22T13:16:13.657" v="451" actId="700"/>
          <ac:spMkLst>
            <pc:docMk/>
            <pc:sldMk cId="4079752266" sldId="299"/>
            <ac:spMk id="3" creationId="{6809E0A9-A7AD-EC14-D75D-9845180ED510}"/>
          </ac:spMkLst>
        </pc:spChg>
        <pc:spChg chg="add del mod ord">
          <ac:chgData name="Croney, Aynslie (NBCC)" userId="5b4b8641-5be5-4a22-b80a-b2335657ba3c" providerId="ADAL" clId="{37570E6E-2003-4D91-B5AC-B452EC7E0FA7}" dt="2026-09-22T13:16:17.563" v="452"/>
          <ac:spMkLst>
            <pc:docMk/>
            <pc:sldMk cId="4079752266" sldId="299"/>
            <ac:spMk id="4" creationId="{2EED230E-EF26-BD79-D276-5D8CC4A9CF91}"/>
          </ac:spMkLst>
        </pc:spChg>
        <pc:graphicFrameChg chg="add mod">
          <ac:chgData name="Croney, Aynslie (NBCC)" userId="5b4b8641-5be5-4a22-b80a-b2335657ba3c" providerId="ADAL" clId="{37570E6E-2003-4D91-B5AC-B452EC7E0FA7}" dt="2026-09-22T11:08:35.211" v="47"/>
          <ac:graphicFrameMkLst>
            <pc:docMk/>
            <pc:sldMk cId="4079752266" sldId="299"/>
            <ac:graphicFrameMk id="4" creationId="{20434607-AEEE-7A02-569F-D16D2B9629F4}"/>
          </ac:graphicFrameMkLst>
        </pc:graphicFrameChg>
        <pc:picChg chg="add mod">
          <ac:chgData name="Croney, Aynslie (NBCC)" userId="5b4b8641-5be5-4a22-b80a-b2335657ba3c" providerId="ADAL" clId="{37570E6E-2003-4D91-B5AC-B452EC7E0FA7}" dt="2026-09-22T13:16:17.563" v="452"/>
          <ac:picMkLst>
            <pc:docMk/>
            <pc:sldMk cId="4079752266" sldId="299"/>
            <ac:picMk id="5" creationId="{25EC1454-C7AF-560D-BF43-3F235DB93A82}"/>
          </ac:picMkLst>
        </pc:picChg>
      </pc:sldChg>
      <pc:sldChg chg="modSp new mod modNotesTx">
        <pc:chgData name="Croney, Aynslie (NBCC)" userId="5b4b8641-5be5-4a22-b80a-b2335657ba3c" providerId="ADAL" clId="{37570E6E-2003-4D91-B5AC-B452EC7E0FA7}" dt="2026-09-22T13:13:24.278" v="391" actId="20577"/>
        <pc:sldMkLst>
          <pc:docMk/>
          <pc:sldMk cId="3765045325" sldId="300"/>
        </pc:sldMkLst>
        <pc:spChg chg="mod">
          <ac:chgData name="Croney, Aynslie (NBCC)" userId="5b4b8641-5be5-4a22-b80a-b2335657ba3c" providerId="ADAL" clId="{37570E6E-2003-4D91-B5AC-B452EC7E0FA7}" dt="2026-09-22T11:09:29.964" v="58"/>
          <ac:spMkLst>
            <pc:docMk/>
            <pc:sldMk cId="3765045325" sldId="300"/>
            <ac:spMk id="2" creationId="{B806E418-9703-935C-7CCE-0279A1D89661}"/>
          </ac:spMkLst>
        </pc:spChg>
        <pc:spChg chg="mod">
          <ac:chgData name="Croney, Aynslie (NBCC)" userId="5b4b8641-5be5-4a22-b80a-b2335657ba3c" providerId="ADAL" clId="{37570E6E-2003-4D91-B5AC-B452EC7E0FA7}" dt="2026-09-22T11:11:30.403" v="80" actId="5793"/>
          <ac:spMkLst>
            <pc:docMk/>
            <pc:sldMk cId="3765045325" sldId="300"/>
            <ac:spMk id="3" creationId="{D9D63DED-6D34-F887-BAD6-AF833E4D4895}"/>
          </ac:spMkLst>
        </pc:spChg>
      </pc:sldChg>
      <pc:sldChg chg="modSp add mod modNotesTx">
        <pc:chgData name="Croney, Aynslie (NBCC)" userId="5b4b8641-5be5-4a22-b80a-b2335657ba3c" providerId="ADAL" clId="{37570E6E-2003-4D91-B5AC-B452EC7E0FA7}" dt="2026-09-22T13:14:41.871" v="431" actId="20577"/>
        <pc:sldMkLst>
          <pc:docMk/>
          <pc:sldMk cId="20254854" sldId="301"/>
        </pc:sldMkLst>
        <pc:spChg chg="mod">
          <ac:chgData name="Croney, Aynslie (NBCC)" userId="5b4b8641-5be5-4a22-b80a-b2335657ba3c" providerId="ADAL" clId="{37570E6E-2003-4D91-B5AC-B452EC7E0FA7}" dt="2026-09-22T13:14:11.613" v="402" actId="20577"/>
          <ac:spMkLst>
            <pc:docMk/>
            <pc:sldMk cId="20254854" sldId="301"/>
            <ac:spMk id="2" creationId="{92BDD147-C4C3-489A-939E-AEDE838DC6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17713" y="182563"/>
            <a:ext cx="3163887" cy="2373312"/>
          </a:xfrm>
          <a:prstGeom prst="rect">
            <a:avLst/>
          </a:prstGeom>
          <a:noFill/>
          <a:ln w="12700">
            <a:solidFill>
              <a:prstClr val="black"/>
            </a:solidFill>
          </a:ln>
        </p:spPr>
        <p:txBody>
          <a:bodyPr vert="horz" lIns="93177" tIns="46589" rIns="93177" bIns="46589" rtlCol="0" anchor="ctr"/>
          <a:lstStyle/>
          <a:p>
            <a:endParaRPr lang="en-CA"/>
          </a:p>
        </p:txBody>
      </p:sp>
      <p:sp>
        <p:nvSpPr>
          <p:cNvPr id="5" name="Notes Placeholder 4"/>
          <p:cNvSpPr>
            <a:spLocks noGrp="1"/>
          </p:cNvSpPr>
          <p:nvPr>
            <p:ph type="body" sz="quarter" idx="3"/>
          </p:nvPr>
        </p:nvSpPr>
        <p:spPr>
          <a:xfrm>
            <a:off x="701040" y="2663292"/>
            <a:ext cx="5608320" cy="618085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24658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commons.wikimedia.org/wiki/File:Whitworth_House_and_Wrendal_House_-_geograph.org.uk_-_6713521.jpg"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easy-peasy.ai/ai-image-generator/images/dwayne-johnson-caricature-5095beaf-6eb4-4304-8489-ce9eebf158ae"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edium.com/theagency/the-ad-that-changed-advertising-18291a67488c"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facebook.com/groups/6214467021932639"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instagram.com/p/DcaozKcEdan/"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marq.com/blog/14-magazine-layout-design-ideas-for-your-inspiration"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marq.com/blog/14-magazine-layout-design-ideas-for-your-inspiration"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amtakesmedia.wordpress.com/wp-content/uploads/2015/04/emily-didonato-maybelline-01.jpg"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99designs.com/blog/tips/texture-in-graphic-design/"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sickboat.com/blogs/blog/top-textures-for-handcrafted-look"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99designs.com/blog/tips/texture-in-graphic-design/"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99designs.com/blog/tips/texture-in-graphic-design/"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patternanddesign.com/how-to-create-6-most-common-colour-schemes-surface-pattern-designs/"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thespruce.com/easy-color-schemes-from-color-wheel-797784"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dreamstime.com/illustration/register-now-red-button.html"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www.facebook.com/groups/1661334077921820/posts/1700037440718150/" TargetMode="External"/><Relationship Id="rId5" Type="http://schemas.openxmlformats.org/officeDocument/2006/relationships/hyperlink" Target="https://tslmedia.sg/ipod-ad-campaigns/" TargetMode="External"/><Relationship Id="rId4" Type="http://schemas.openxmlformats.org/officeDocument/2006/relationships/hyperlink" Target="https://www.magnific.com/premium-vector/black-background-with-yellow-text-that-says-good-vibes_39550739.htm"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igitalsynopsis.com/design/brand-colors/"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blog.eyeconic.com/eye-health/color-blindess-101.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continuing with the foundations of design—what we call the </a:t>
            </a:r>
            <a:r>
              <a:rPr lang="en-US" i="1" dirty="0"/>
              <a:t>Elements of Design.</a:t>
            </a:r>
            <a:r>
              <a:rPr lang="en-US" dirty="0"/>
              <a:t>”</a:t>
            </a:r>
          </a:p>
          <a:p>
            <a:endParaRPr lang="en-US" i="1" dirty="0"/>
          </a:p>
          <a:p>
            <a:r>
              <a:rPr lang="en-US" dirty="0"/>
              <a:t>As a reminder - Think of today as learning the </a:t>
            </a:r>
            <a:r>
              <a:rPr lang="en-US" b="1" dirty="0"/>
              <a:t>ingredients of all design</a:t>
            </a:r>
            <a:r>
              <a:rPr lang="en-US" dirty="0"/>
              <a:t>. Just like you can’t cook without ingredients, you can’t create effective visual communication without these elements.</a:t>
            </a:r>
          </a:p>
          <a:p>
            <a:endParaRPr lang="en-US" dirty="0"/>
          </a:p>
          <a:p>
            <a:endParaRPr lang="en-US" dirty="0"/>
          </a:p>
          <a:p>
            <a:r>
              <a:rPr lang="en-US" dirty="0"/>
              <a:t>By the end of today, you’ll start to see these elements everywhere—on posters, in apps, in packaging, even in social media graphics. You’ll notice design differently, and that awareness will make you stronger designers.</a:t>
            </a:r>
            <a:endParaRPr lang="en-CA" dirty="0"/>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a:t>
            </a:fld>
            <a:endParaRPr lang="en-CA"/>
          </a:p>
        </p:txBody>
      </p:sp>
    </p:spTree>
    <p:extLst>
      <p:ext uri="{BB962C8B-B14F-4D97-AF65-F5344CB8AC3E}">
        <p14:creationId xmlns:p14="http://schemas.microsoft.com/office/powerpoint/2010/main" val="2162040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t>
            </a:r>
            <a:r>
              <a:rPr lang="en-US" b="1" dirty="0"/>
              <a:t>six essential building blocks</a:t>
            </a:r>
            <a:r>
              <a:rPr lang="en-US" dirty="0"/>
              <a:t> of visual design.”</a:t>
            </a:r>
          </a:p>
          <a:p>
            <a:endParaRPr lang="en-US" dirty="0"/>
          </a:p>
          <a:p>
            <a:r>
              <a:rPr lang="en-US" dirty="0"/>
              <a:t>Each one might seem simple, but designers use them deliberately to guide attention, create impact, and send messages.”</a:t>
            </a:r>
          </a:p>
          <a:p>
            <a:endParaRPr lang="en-US" dirty="0"/>
          </a:p>
          <a:p>
            <a:r>
              <a:rPr lang="en-US" dirty="0"/>
              <a:t>Think of them like a recipe: today we’ll look at each ingredient, and later in the course, we’ll learn how to combine them with the </a:t>
            </a:r>
            <a:r>
              <a:rPr lang="en-US" i="1" dirty="0"/>
              <a:t>principles of design</a:t>
            </a:r>
            <a:r>
              <a:rPr lang="en-US" dirty="0"/>
              <a:t>—like balance, alignment, and contrast.”</a:t>
            </a:r>
          </a:p>
          <a:p>
            <a:endParaRPr lang="en-US" dirty="0"/>
          </a:p>
          <a:p>
            <a:r>
              <a:rPr lang="en-US" dirty="0"/>
              <a:t>On the next few slides, we’ll dive into each element, one at a time.”</a:t>
            </a:r>
            <a:br>
              <a:rPr lang="en-US" dirty="0"/>
            </a:br>
            <a:endParaRPr lang="en-US"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2</a:t>
            </a:fld>
            <a:endParaRPr lang="en-CA"/>
          </a:p>
        </p:txBody>
      </p:sp>
    </p:spTree>
    <p:extLst>
      <p:ext uri="{BB962C8B-B14F-4D97-AF65-F5344CB8AC3E}">
        <p14:creationId xmlns:p14="http://schemas.microsoft.com/office/powerpoint/2010/main" val="2117245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CA" sz="1200" b="0" i="0" kern="1200" dirty="0">
                <a:solidFill>
                  <a:schemeClr val="tx1"/>
                </a:solidFill>
                <a:effectLst/>
                <a:latin typeface="+mn-lt"/>
                <a:ea typeface="+mn-ea"/>
                <a:cs typeface="+mn-cs"/>
              </a:rPr>
              <a:t>Many people think scale and proportion are the same thing, but they are slightly different.</a:t>
            </a:r>
          </a:p>
          <a:p>
            <a:pPr fontAlgn="t"/>
            <a:endParaRPr lang="en-CA" sz="1200" b="1" i="0" kern="1200" dirty="0">
              <a:solidFill>
                <a:schemeClr val="tx1"/>
              </a:solidFill>
              <a:effectLst/>
              <a:latin typeface="+mn-lt"/>
              <a:ea typeface="+mn-ea"/>
              <a:cs typeface="+mn-cs"/>
            </a:endParaRPr>
          </a:p>
          <a:p>
            <a:pPr fontAlgn="t"/>
            <a:r>
              <a:rPr lang="en-CA" sz="1200" b="1" i="0" kern="1200" dirty="0">
                <a:solidFill>
                  <a:schemeClr val="tx1"/>
                </a:solidFill>
                <a:effectLst/>
                <a:latin typeface="+mn-lt"/>
                <a:ea typeface="+mn-ea"/>
                <a:cs typeface="+mn-cs"/>
              </a:rPr>
              <a:t>Scale</a:t>
            </a:r>
            <a:r>
              <a:rPr lang="en-CA" sz="1200" b="0" i="0" kern="1200" dirty="0">
                <a:solidFill>
                  <a:schemeClr val="tx1"/>
                </a:solidFill>
                <a:effectLst/>
                <a:latin typeface="+mn-lt"/>
                <a:ea typeface="+mn-ea"/>
                <a:cs typeface="+mn-cs"/>
              </a:rPr>
              <a:t> refers to the size of something compared to other objects around it.</a:t>
            </a:r>
          </a:p>
          <a:p>
            <a:pPr fontAlgn="t"/>
            <a:r>
              <a:rPr lang="en-CA" sz="1200" b="0" i="0" kern="1200" dirty="0">
                <a:solidFill>
                  <a:schemeClr val="tx1"/>
                </a:solidFill>
                <a:effectLst/>
                <a:latin typeface="+mn-lt"/>
                <a:ea typeface="+mn-ea"/>
                <a:cs typeface="+mn-cs"/>
              </a:rPr>
              <a:t>For example:</a:t>
            </a:r>
          </a:p>
          <a:p>
            <a:pPr lvl="0" fontAlgn="t"/>
            <a:r>
              <a:rPr lang="en-CA" sz="1200" b="0" i="0" kern="1200" dirty="0">
                <a:solidFill>
                  <a:schemeClr val="tx1"/>
                </a:solidFill>
                <a:effectLst/>
                <a:latin typeface="+mn-lt"/>
                <a:ea typeface="+mn-ea"/>
                <a:cs typeface="+mn-cs"/>
              </a:rPr>
              <a:t>A billboard is larger than a poster.</a:t>
            </a:r>
          </a:p>
          <a:p>
            <a:pPr lvl="0" fontAlgn="t"/>
            <a:r>
              <a:rPr lang="en-CA" sz="1200" b="0" i="0" kern="1200" dirty="0">
                <a:solidFill>
                  <a:schemeClr val="tx1"/>
                </a:solidFill>
                <a:effectLst/>
                <a:latin typeface="+mn-lt"/>
                <a:ea typeface="+mn-ea"/>
                <a:cs typeface="+mn-cs"/>
              </a:rPr>
              <a:t>A skyscraper is larger than a house.</a:t>
            </a:r>
          </a:p>
          <a:p>
            <a:pPr fontAlgn="t"/>
            <a:endParaRPr lang="en-CA" sz="1200" b="1" i="0" kern="1200" dirty="0">
              <a:solidFill>
                <a:schemeClr val="tx1"/>
              </a:solidFill>
              <a:effectLst/>
              <a:latin typeface="+mn-lt"/>
              <a:ea typeface="+mn-ea"/>
              <a:cs typeface="+mn-cs"/>
            </a:endParaRPr>
          </a:p>
          <a:p>
            <a:pPr fontAlgn="t"/>
            <a:r>
              <a:rPr lang="en-CA" sz="1200" b="1" i="0" kern="1200" dirty="0">
                <a:solidFill>
                  <a:schemeClr val="tx1"/>
                </a:solidFill>
                <a:effectLst/>
                <a:latin typeface="+mn-lt"/>
                <a:ea typeface="+mn-ea"/>
                <a:cs typeface="+mn-cs"/>
              </a:rPr>
              <a:t>Proportion</a:t>
            </a:r>
            <a:r>
              <a:rPr lang="en-CA" sz="1200" b="0" i="0" kern="1200" dirty="0">
                <a:solidFill>
                  <a:schemeClr val="tx1"/>
                </a:solidFill>
                <a:effectLst/>
                <a:latin typeface="+mn-lt"/>
                <a:ea typeface="+mn-ea"/>
                <a:cs typeface="+mn-cs"/>
              </a:rPr>
              <a:t> is how the parts of something relate to each other.</a:t>
            </a:r>
          </a:p>
          <a:p>
            <a:pPr fontAlgn="t"/>
            <a:r>
              <a:rPr lang="en-CA" sz="1200" b="0" i="0" kern="1200" dirty="0">
                <a:solidFill>
                  <a:schemeClr val="tx1"/>
                </a:solidFill>
                <a:effectLst/>
                <a:latin typeface="+mn-lt"/>
                <a:ea typeface="+mn-ea"/>
                <a:cs typeface="+mn-cs"/>
              </a:rPr>
              <a:t>Think about:</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A realistic human figure</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A cartoon character with an oversized head</a:t>
            </a:r>
          </a:p>
          <a:p>
            <a:pPr fontAlgn="t"/>
            <a:r>
              <a:rPr lang="en-CA" sz="1200" b="0" i="0" kern="1200" dirty="0">
                <a:solidFill>
                  <a:schemeClr val="tx1"/>
                </a:solidFill>
                <a:effectLst/>
                <a:latin typeface="+mn-lt"/>
                <a:ea typeface="+mn-ea"/>
                <a:cs typeface="+mn-cs"/>
              </a:rPr>
              <a:t>The character may be large or small, but the exaggerated head changes the proportion.</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Designers intentionally alter proportion to:</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Attract attention</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Create humour</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Communicate importance</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Create visual interest</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Ask students: </a:t>
            </a:r>
            <a:r>
              <a:rPr lang="en-CA" sz="1200" b="0" i="1" kern="1200" dirty="0">
                <a:solidFill>
                  <a:schemeClr val="tx1"/>
                </a:solidFill>
                <a:effectLst/>
                <a:latin typeface="+mn-lt"/>
                <a:ea typeface="+mn-ea"/>
                <a:cs typeface="+mn-cs"/>
              </a:rPr>
              <a:t>"Why do cartoon characters often have larger eyes than real people?“</a:t>
            </a:r>
          </a:p>
          <a:p>
            <a:pPr fontAlgn="t"/>
            <a:endParaRPr lang="en-CA" sz="1200" b="0" i="1" kern="1200" dirty="0">
              <a:solidFill>
                <a:schemeClr val="tx1"/>
              </a:solidFill>
              <a:effectLst/>
              <a:latin typeface="+mn-lt"/>
              <a:ea typeface="+mn-ea"/>
              <a:cs typeface="+mn-cs"/>
            </a:endParaRPr>
          </a:p>
          <a:p>
            <a:pPr fontAlgn="t"/>
            <a:r>
              <a:rPr lang="en-CA" sz="1200" b="0" i="1" kern="1200" dirty="0">
                <a:solidFill>
                  <a:schemeClr val="tx1"/>
                </a:solidFill>
                <a:effectLst/>
                <a:latin typeface="+mn-lt"/>
                <a:ea typeface="+mn-ea"/>
                <a:cs typeface="+mn-cs"/>
              </a:rPr>
              <a:t>Image from: </a:t>
            </a:r>
            <a:r>
              <a:rPr lang="en-CA" dirty="0">
                <a:hlinkClick r:id="rId3"/>
              </a:rPr>
              <a:t>File:Whitworth House and </a:t>
            </a:r>
            <a:r>
              <a:rPr lang="en-CA" dirty="0" err="1">
                <a:hlinkClick r:id="rId3"/>
              </a:rPr>
              <a:t>Wrendal</a:t>
            </a:r>
            <a:r>
              <a:rPr lang="en-CA" dirty="0">
                <a:hlinkClick r:id="rId3"/>
              </a:rPr>
              <a:t> House - geograph.org.uk - 6713521.jpg - Wikimedia Commons</a:t>
            </a:r>
            <a:endParaRPr lang="en-CA" dirty="0"/>
          </a:p>
          <a:p>
            <a:pPr fontAlgn="t"/>
            <a:r>
              <a:rPr lang="en-CA" sz="1200" b="0" i="0" kern="1200" dirty="0">
                <a:solidFill>
                  <a:schemeClr val="tx1"/>
                </a:solidFill>
                <a:effectLst/>
                <a:latin typeface="+mn-lt"/>
                <a:ea typeface="+mn-ea"/>
                <a:cs typeface="+mn-cs"/>
              </a:rPr>
              <a:t>https://commons.wikimedia.org/wiki/File:Whitworth_House_and_Wrendal_House_-_geograph.org.uk_-_6713521.jpg</a:t>
            </a:r>
          </a:p>
          <a:p>
            <a:pPr fontAlgn="t"/>
            <a:endParaRPr lang="en-CA" sz="1200" b="0" i="0" kern="1200" dirty="0">
              <a:solidFill>
                <a:schemeClr val="tx1"/>
              </a:solidFill>
              <a:effectLst/>
              <a:latin typeface="+mn-lt"/>
              <a:ea typeface="+mn-ea"/>
              <a:cs typeface="+mn-cs"/>
            </a:endParaRPr>
          </a:p>
          <a:p>
            <a:pPr fontAlgn="t"/>
            <a:r>
              <a:rPr lang="en-CA" dirty="0">
                <a:hlinkClick r:id="rId4"/>
              </a:rPr>
              <a:t>Dwayne Johnson Caricature - Fun &amp; Unique Artwork | AI Art Generator | Easy-Peasy.AI</a:t>
            </a:r>
            <a:endParaRPr lang="en-CA" dirty="0"/>
          </a:p>
          <a:p>
            <a:pPr fontAlgn="t"/>
            <a:r>
              <a:rPr lang="en-CA" sz="1200" b="0" i="0" kern="1200" dirty="0">
                <a:solidFill>
                  <a:schemeClr val="tx1"/>
                </a:solidFill>
                <a:effectLst/>
                <a:latin typeface="+mn-lt"/>
                <a:ea typeface="+mn-ea"/>
                <a:cs typeface="+mn-cs"/>
              </a:rPr>
              <a:t>https://easy-peasy.ai/ai-image-generator/images/dwayne-johnson-caricature-5095beaf-6eb4-4304-8489-ce9eebf158ae</a:t>
            </a:r>
          </a:p>
          <a:p>
            <a:endParaRPr lang="en-CA" dirty="0"/>
          </a:p>
        </p:txBody>
      </p:sp>
    </p:spTree>
    <p:extLst>
      <p:ext uri="{BB962C8B-B14F-4D97-AF65-F5344CB8AC3E}">
        <p14:creationId xmlns:p14="http://schemas.microsoft.com/office/powerpoint/2010/main" val="278510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 (Slide Copy):</a:t>
            </a:r>
            <a:r>
              <a:rPr lang="en-US" dirty="0"/>
              <a:t> The relative scale of elements in a design.</a:t>
            </a:r>
            <a:br>
              <a:rPr lang="en-US" dirty="0"/>
            </a:br>
            <a:r>
              <a:rPr lang="en-US" b="1" dirty="0"/>
              <a:t>Why it matters (Speaker Notes):</a:t>
            </a:r>
            <a:endParaRPr lang="en-US" dirty="0"/>
          </a:p>
          <a:p>
            <a:endParaRPr lang="en-US" dirty="0"/>
          </a:p>
          <a:p>
            <a:r>
              <a:rPr lang="en-US" dirty="0"/>
              <a:t>Size is one of the clearest ways to create </a:t>
            </a:r>
            <a:r>
              <a:rPr lang="en-US" b="1" dirty="0"/>
              <a:t>hierarchy</a:t>
            </a:r>
            <a:r>
              <a:rPr lang="en-US" dirty="0"/>
              <a:t>. The biggest element draws the most attention.</a:t>
            </a:r>
          </a:p>
          <a:p>
            <a:endParaRPr lang="en-US" dirty="0"/>
          </a:p>
          <a:p>
            <a:r>
              <a:rPr lang="en-US" dirty="0"/>
              <a:t>Image from</a:t>
            </a:r>
          </a:p>
          <a:p>
            <a:r>
              <a:rPr lang="en-US" dirty="0">
                <a:hlinkClick r:id="rId3"/>
              </a:rPr>
              <a:t>The ad that changed advertising.. Bill </a:t>
            </a:r>
            <a:r>
              <a:rPr lang="en-US" dirty="0" err="1">
                <a:hlinkClick r:id="rId3"/>
              </a:rPr>
              <a:t>Bernbach</a:t>
            </a:r>
            <a:r>
              <a:rPr lang="en-US" dirty="0">
                <a:hlinkClick r:id="rId3"/>
              </a:rPr>
              <a:t> had a problem. Carl Hahn… | by Mark Hamilton | The Agency | Medium</a:t>
            </a:r>
            <a:endParaRPr lang="en-US" dirty="0"/>
          </a:p>
          <a:p>
            <a:r>
              <a:rPr lang="en-US" dirty="0"/>
              <a:t>https://medium.com/theagency/the-ad-that-changed-advertising-18291a67488c</a:t>
            </a:r>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4</a:t>
            </a:fld>
            <a:endParaRPr lang="en-CA"/>
          </a:p>
        </p:txBody>
      </p:sp>
    </p:spTree>
    <p:extLst>
      <p:ext uri="{BB962C8B-B14F-4D97-AF65-F5344CB8AC3E}">
        <p14:creationId xmlns:p14="http://schemas.microsoft.com/office/powerpoint/2010/main" val="4236730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CA" sz="1200" b="0" i="0" kern="1200" dirty="0">
                <a:solidFill>
                  <a:schemeClr val="tx1"/>
                </a:solidFill>
                <a:effectLst/>
                <a:latin typeface="+mn-lt"/>
                <a:ea typeface="+mn-ea"/>
                <a:cs typeface="+mn-cs"/>
              </a:rPr>
              <a:t>Size can change the message completely.</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When an object is made very large it can suggest:</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Power</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Importance</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Strength</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Dominance</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When an object is made very small it can suggest:</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Vulnerability</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Distance</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Isolation</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Insignificance</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Designers use size to influence how viewers feel about subjects before they read a single word.</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Image from </a:t>
            </a:r>
            <a:r>
              <a:rPr lang="en-CA" dirty="0">
                <a:hlinkClick r:id="rId3"/>
              </a:rPr>
              <a:t>(4) ChatGPT Polska - PROMPTY, PORADY, TRIKI, ZASTOSOWANIE AI | Facebook</a:t>
            </a:r>
            <a:endParaRPr lang="en-CA" dirty="0"/>
          </a:p>
          <a:p>
            <a:pPr fontAlgn="t"/>
            <a:r>
              <a:rPr lang="en-CA" sz="1200" b="0" i="0" kern="1200" dirty="0">
                <a:solidFill>
                  <a:schemeClr val="tx1"/>
                </a:solidFill>
                <a:effectLst/>
                <a:latin typeface="+mn-lt"/>
                <a:ea typeface="+mn-ea"/>
                <a:cs typeface="+mn-cs"/>
              </a:rPr>
              <a:t>https://www.facebook.com/groups/6214467021932639</a:t>
            </a:r>
          </a:p>
          <a:p>
            <a:endParaRPr lang="en-CA" dirty="0"/>
          </a:p>
          <a:p>
            <a:r>
              <a:rPr lang="en-CA" dirty="0">
                <a:hlinkClick r:id="rId4"/>
              </a:rPr>
              <a:t>Instagram</a:t>
            </a:r>
            <a:endParaRPr lang="en-CA" dirty="0"/>
          </a:p>
          <a:p>
            <a:r>
              <a:rPr lang="en-CA" dirty="0"/>
              <a:t>https://www.instagram.com/p/DcaozKcEdan/</a:t>
            </a:r>
          </a:p>
        </p:txBody>
      </p:sp>
    </p:spTree>
    <p:extLst>
      <p:ext uri="{BB962C8B-B14F-4D97-AF65-F5344CB8AC3E}">
        <p14:creationId xmlns:p14="http://schemas.microsoft.com/office/powerpoint/2010/main" val="3800191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7A409-FD67-D51C-A8A1-0168C58F4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195B9-D307-7F88-BA5F-0CC1E9577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E3F8F-0E6C-FE40-034A-CE15612166AE}"/>
              </a:ext>
            </a:extLst>
          </p:cNvPr>
          <p:cNvSpPr>
            <a:spLocks noGrp="1"/>
          </p:cNvSpPr>
          <p:nvPr>
            <p:ph type="body" idx="1"/>
          </p:nvPr>
        </p:nvSpPr>
        <p:spPr/>
        <p:txBody>
          <a:bodyPr/>
          <a:lstStyle/>
          <a:p>
            <a:endParaRPr lang="en-US" dirty="0"/>
          </a:p>
          <a:p>
            <a:r>
              <a:rPr lang="en-US" dirty="0"/>
              <a:t>Designers use size to show importance (headlines larger than body text).</a:t>
            </a:r>
          </a:p>
          <a:p>
            <a:endParaRPr lang="en-US" dirty="0"/>
          </a:p>
          <a:p>
            <a:r>
              <a:rPr lang="en-US" dirty="0"/>
              <a:t>Images from </a:t>
            </a:r>
          </a:p>
          <a:p>
            <a:r>
              <a:rPr lang="en-US" dirty="0">
                <a:hlinkClick r:id="rId3"/>
              </a:rPr>
              <a:t>30 Magazine Design &amp; Layout Ideas to Spark Your Creativity – Marq</a:t>
            </a:r>
            <a:endParaRPr lang="en-US" dirty="0"/>
          </a:p>
          <a:p>
            <a:r>
              <a:rPr lang="en-US" dirty="0"/>
              <a:t>https://www.marq.com/blog/14-magazine-layout-design-ideas-for-your-inspiration</a:t>
            </a:r>
          </a:p>
          <a:p>
            <a:endParaRPr lang="en-US" dirty="0"/>
          </a:p>
        </p:txBody>
      </p:sp>
      <p:sp>
        <p:nvSpPr>
          <p:cNvPr id="4" name="Slide Number Placeholder 3">
            <a:extLst>
              <a:ext uri="{FF2B5EF4-FFF2-40B4-BE49-F238E27FC236}">
                <a16:creationId xmlns:a16="http://schemas.microsoft.com/office/drawing/2014/main" id="{A9E07370-8D63-512D-045B-7C33253E93B5}"/>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6</a:t>
            </a:fld>
            <a:endParaRPr lang="en-CA"/>
          </a:p>
        </p:txBody>
      </p:sp>
    </p:spTree>
    <p:extLst>
      <p:ext uri="{BB962C8B-B14F-4D97-AF65-F5344CB8AC3E}">
        <p14:creationId xmlns:p14="http://schemas.microsoft.com/office/powerpoint/2010/main" val="131457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5747A-6AF3-5BF4-80BE-24BC6C9B2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AA0FA-698D-D002-6090-059621C8C4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22CE82-5AA4-9510-22F3-F817775770C6}"/>
              </a:ext>
            </a:extLst>
          </p:cNvPr>
          <p:cNvSpPr>
            <a:spLocks noGrp="1"/>
          </p:cNvSpPr>
          <p:nvPr>
            <p:ph type="body" idx="1"/>
          </p:nvPr>
        </p:nvSpPr>
        <p:spPr/>
        <p:txBody>
          <a:bodyPr/>
          <a:lstStyle/>
          <a:p>
            <a:r>
              <a:rPr lang="en-US" dirty="0"/>
              <a:t>Contrast in size creates interest and makes designs easier to navigate.</a:t>
            </a:r>
          </a:p>
          <a:p>
            <a:endParaRPr lang="en-US" dirty="0"/>
          </a:p>
          <a:p>
            <a:r>
              <a:rPr lang="en-US" dirty="0"/>
              <a:t>Images from </a:t>
            </a:r>
          </a:p>
          <a:p>
            <a:r>
              <a:rPr lang="en-US" dirty="0">
                <a:hlinkClick r:id="rId3"/>
              </a:rPr>
              <a:t>30 Magazine Design &amp; Layout Ideas to Spark Your Creativity – Marq</a:t>
            </a:r>
            <a:endParaRPr lang="en-US" dirty="0"/>
          </a:p>
          <a:p>
            <a:r>
              <a:rPr lang="en-US" dirty="0"/>
              <a:t>https://www.marq.com/blog/14-magazine-layout-design-ideas-for-your-inspiration</a:t>
            </a:r>
          </a:p>
          <a:p>
            <a:endParaRPr lang="en-US" dirty="0"/>
          </a:p>
        </p:txBody>
      </p:sp>
      <p:sp>
        <p:nvSpPr>
          <p:cNvPr id="4" name="Slide Number Placeholder 3">
            <a:extLst>
              <a:ext uri="{FF2B5EF4-FFF2-40B4-BE49-F238E27FC236}">
                <a16:creationId xmlns:a16="http://schemas.microsoft.com/office/drawing/2014/main" id="{21030F60-2D0C-2675-5935-183B12444330}"/>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7</a:t>
            </a:fld>
            <a:endParaRPr lang="en-CA"/>
          </a:p>
        </p:txBody>
      </p:sp>
    </p:spTree>
    <p:extLst>
      <p:ext uri="{BB962C8B-B14F-4D97-AF65-F5344CB8AC3E}">
        <p14:creationId xmlns:p14="http://schemas.microsoft.com/office/powerpoint/2010/main" val="1340632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6574A-23DF-057E-EF66-E9CF34D1C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1E14F-4BA6-3F83-DC9B-5CFDDC4D4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4348B-FBFB-A985-D16B-A59E794227D1}"/>
              </a:ext>
            </a:extLst>
          </p:cNvPr>
          <p:cNvSpPr>
            <a:spLocks noGrp="1"/>
          </p:cNvSpPr>
          <p:nvPr>
            <p:ph type="body" idx="1"/>
          </p:nvPr>
        </p:nvSpPr>
        <p:spPr/>
        <p:txBody>
          <a:bodyPr/>
          <a:lstStyle/>
          <a:p>
            <a:r>
              <a:rPr lang="en-US" b="1" dirty="0"/>
              <a:t>Definition (Slide Copy):</a:t>
            </a:r>
            <a:r>
              <a:rPr lang="en-US" dirty="0"/>
              <a:t> The relative scale of elements in a design.</a:t>
            </a:r>
            <a:br>
              <a:rPr lang="en-US" dirty="0"/>
            </a:br>
            <a:r>
              <a:rPr lang="en-US" b="1" dirty="0"/>
              <a:t>Why it matters (Speaker Notes):</a:t>
            </a:r>
            <a:endParaRPr lang="en-US" dirty="0"/>
          </a:p>
          <a:p>
            <a:endParaRPr lang="en-US" dirty="0"/>
          </a:p>
          <a:p>
            <a:endParaRPr lang="en-US" dirty="0"/>
          </a:p>
          <a:p>
            <a:r>
              <a:rPr lang="en-US" dirty="0"/>
              <a:t>Oversized imagery can create drama; small subtle elements can create intimacy.</a:t>
            </a:r>
          </a:p>
          <a:p>
            <a:endParaRPr lang="en-US" dirty="0"/>
          </a:p>
          <a:p>
            <a:r>
              <a:rPr lang="en-US" dirty="0"/>
              <a:t>Example to show: </a:t>
            </a:r>
            <a:r>
              <a:rPr lang="en-US" b="1" dirty="0"/>
              <a:t>Apple product ads</a:t>
            </a:r>
            <a:r>
              <a:rPr lang="en-US" dirty="0"/>
              <a:t> → the iPhone dominates the page, with small supporting text.</a:t>
            </a:r>
          </a:p>
          <a:p>
            <a:endParaRPr lang="en-US" dirty="0"/>
          </a:p>
          <a:p>
            <a:pPr fontAlgn="t"/>
            <a:r>
              <a:rPr lang="en-CA" sz="1200" b="0" i="0" kern="1200" dirty="0">
                <a:solidFill>
                  <a:schemeClr val="tx1"/>
                </a:solidFill>
                <a:effectLst/>
                <a:latin typeface="+mn-lt"/>
                <a:ea typeface="+mn-ea"/>
                <a:cs typeface="+mn-cs"/>
              </a:rPr>
              <a:t>Notice how many advertisements make the product much larger than it would appear in real life.</a:t>
            </a:r>
          </a:p>
          <a:p>
            <a:pPr fontAlgn="t"/>
            <a:r>
              <a:rPr lang="en-CA" sz="1200" b="0" i="0" kern="1200" dirty="0">
                <a:solidFill>
                  <a:schemeClr val="tx1"/>
                </a:solidFill>
                <a:effectLst/>
                <a:latin typeface="+mn-lt"/>
                <a:ea typeface="+mn-ea"/>
                <a:cs typeface="+mn-cs"/>
              </a:rPr>
              <a:t>This creates:</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Emphasis</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Importance</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Memorability</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Think about movie posters.</a:t>
            </a:r>
          </a:p>
          <a:p>
            <a:pPr fontAlgn="t"/>
            <a:r>
              <a:rPr lang="en-CA" sz="1200" b="0" i="0" kern="1200" dirty="0">
                <a:solidFill>
                  <a:schemeClr val="tx1"/>
                </a:solidFill>
                <a:effectLst/>
                <a:latin typeface="+mn-lt"/>
                <a:ea typeface="+mn-ea"/>
                <a:cs typeface="+mn-cs"/>
              </a:rPr>
              <a:t>The main character is often the largest element because the designer wants viewers to immediately understand where to focus.</a:t>
            </a:r>
          </a:p>
          <a:p>
            <a:endParaRPr lang="en-US" dirty="0"/>
          </a:p>
          <a:p>
            <a:endParaRPr lang="en-CA" dirty="0"/>
          </a:p>
          <a:p>
            <a:r>
              <a:rPr lang="en-CA" dirty="0"/>
              <a:t>Image from </a:t>
            </a:r>
          </a:p>
          <a:p>
            <a:r>
              <a:rPr lang="en-CA" dirty="0">
                <a:hlinkClick r:id="rId3"/>
              </a:rPr>
              <a:t>emily-didonato-maybelline-01.jpg (426×554)</a:t>
            </a:r>
            <a:endParaRPr lang="en-CA" dirty="0"/>
          </a:p>
          <a:p>
            <a:r>
              <a:rPr lang="en-CA" dirty="0"/>
              <a:t>https://samtakesmedia.wordpress.com/wp-content/uploads/2015/04/emily-didonato-maybelline-01.jpg</a:t>
            </a:r>
          </a:p>
          <a:p>
            <a:endParaRPr lang="en-CA" dirty="0"/>
          </a:p>
        </p:txBody>
      </p:sp>
      <p:sp>
        <p:nvSpPr>
          <p:cNvPr id="4" name="Slide Number Placeholder 3">
            <a:extLst>
              <a:ext uri="{FF2B5EF4-FFF2-40B4-BE49-F238E27FC236}">
                <a16:creationId xmlns:a16="http://schemas.microsoft.com/office/drawing/2014/main" id="{BD5DB978-35B4-EEE2-D70D-015721A250AD}"/>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8</a:t>
            </a:fld>
            <a:endParaRPr lang="en-CA"/>
          </a:p>
        </p:txBody>
      </p:sp>
    </p:spTree>
    <p:extLst>
      <p:ext uri="{BB962C8B-B14F-4D97-AF65-F5344CB8AC3E}">
        <p14:creationId xmlns:p14="http://schemas.microsoft.com/office/powerpoint/2010/main" val="3496205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 (Slide Copy):</a:t>
            </a:r>
            <a:r>
              <a:rPr lang="en-US" dirty="0"/>
              <a:t> The surface quality of an object, real (tactile) or implied (visual).</a:t>
            </a:r>
            <a:br>
              <a:rPr lang="en-US" dirty="0"/>
            </a:br>
            <a:r>
              <a:rPr lang="en-US" b="1" dirty="0"/>
              <a:t>Why it matters (Speaker Notes):</a:t>
            </a:r>
            <a:endParaRPr lang="en-US" dirty="0"/>
          </a:p>
          <a:p>
            <a:endParaRPr lang="en-US" dirty="0"/>
          </a:p>
          <a:p>
            <a:r>
              <a:rPr lang="en-US" dirty="0"/>
              <a:t>Texture adds richness and depth, preventing designs from feeling flat.</a:t>
            </a:r>
          </a:p>
          <a:p>
            <a:endParaRPr lang="en-US" dirty="0"/>
          </a:p>
          <a:p>
            <a:endParaRPr lang="en-US" dirty="0"/>
          </a:p>
          <a:p>
            <a:r>
              <a:rPr lang="en-US" dirty="0"/>
              <a:t>Smooth textures feel modern, clean, and high-tech (Apple packaging).</a:t>
            </a:r>
          </a:p>
          <a:p>
            <a:endParaRPr lang="en-US" dirty="0"/>
          </a:p>
          <a:p>
            <a:r>
              <a:rPr lang="en-US" dirty="0"/>
              <a:t>Rough textures feel rugged, handmade, authentic (craft beer labels, outdoor brands).</a:t>
            </a:r>
          </a:p>
          <a:p>
            <a:endParaRPr lang="en-US" dirty="0"/>
          </a:p>
          <a:p>
            <a:r>
              <a:rPr lang="en-US" dirty="0"/>
              <a:t>Images from </a:t>
            </a:r>
          </a:p>
          <a:p>
            <a:r>
              <a:rPr lang="en-US" dirty="0">
                <a:hlinkClick r:id="rId3"/>
              </a:rPr>
              <a:t>Innovative approaches to texture in graphic design - 99designs</a:t>
            </a:r>
            <a:endParaRPr lang="en-US" dirty="0"/>
          </a:p>
          <a:p>
            <a:r>
              <a:rPr lang="en-US" dirty="0"/>
              <a:t>https://99designs.com/blog/tips/texture-in-graphic-design/</a:t>
            </a:r>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9</a:t>
            </a:fld>
            <a:endParaRPr lang="en-CA"/>
          </a:p>
        </p:txBody>
      </p:sp>
    </p:spTree>
    <p:extLst>
      <p:ext uri="{BB962C8B-B14F-4D97-AF65-F5344CB8AC3E}">
        <p14:creationId xmlns:p14="http://schemas.microsoft.com/office/powerpoint/2010/main" val="2567777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CA" sz="1200" b="0" i="0" kern="1200" dirty="0">
                <a:solidFill>
                  <a:schemeClr val="tx1"/>
                </a:solidFill>
                <a:effectLst/>
                <a:latin typeface="+mn-lt"/>
                <a:ea typeface="+mn-ea"/>
                <a:cs typeface="+mn-cs"/>
              </a:rPr>
              <a:t>Texture makes designs feel more real and more believable.</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Consider these examples:</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A bakery package with a kraft-paper texture feels handmade.</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A technology advertisement with smooth metallic textures feels modern.</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A luxury brand often uses soft, elegant textures to communicate sophistication.</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Texture helps audiences imagine touching an object even when viewing it on a screen.</a:t>
            </a:r>
          </a:p>
          <a:p>
            <a:pPr fontAlgn="t"/>
            <a:r>
              <a:rPr lang="en-CA" sz="1200" b="0" i="0" kern="1200" dirty="0">
                <a:solidFill>
                  <a:schemeClr val="tx1"/>
                </a:solidFill>
                <a:effectLst/>
                <a:latin typeface="+mn-lt"/>
                <a:ea typeface="+mn-ea"/>
                <a:cs typeface="+mn-cs"/>
              </a:rPr>
              <a:t>This is called a </a:t>
            </a:r>
            <a:r>
              <a:rPr lang="en-CA" sz="1200" b="1" i="0" kern="1200" dirty="0">
                <a:solidFill>
                  <a:schemeClr val="tx1"/>
                </a:solidFill>
                <a:effectLst/>
                <a:latin typeface="+mn-lt"/>
                <a:ea typeface="+mn-ea"/>
                <a:cs typeface="+mn-cs"/>
              </a:rPr>
              <a:t>visual texture</a:t>
            </a:r>
            <a:r>
              <a:rPr lang="en-CA" sz="1200" b="0" i="0" kern="1200" dirty="0">
                <a:solidFill>
                  <a:schemeClr val="tx1"/>
                </a:solidFill>
                <a:effectLst/>
                <a:latin typeface="+mn-lt"/>
                <a:ea typeface="+mn-ea"/>
                <a:cs typeface="+mn-cs"/>
              </a:rPr>
              <a:t>.</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Designers use visual texture to create sensory experiences.</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Image from </a:t>
            </a:r>
            <a:r>
              <a:rPr lang="en-CA" dirty="0">
                <a:hlinkClick r:id="rId3"/>
              </a:rPr>
              <a:t>9 Top Graphic Textures for Handcrafted Look | .</a:t>
            </a:r>
            <a:r>
              <a:rPr lang="en-CA" dirty="0" err="1">
                <a:hlinkClick r:id="rId3"/>
              </a:rPr>
              <a:t>png</a:t>
            </a:r>
            <a:r>
              <a:rPr lang="en-CA" dirty="0">
                <a:hlinkClick r:id="rId3"/>
              </a:rPr>
              <a:t> marker, .</a:t>
            </a:r>
            <a:r>
              <a:rPr lang="en-CA" dirty="0" err="1">
                <a:hlinkClick r:id="rId3"/>
              </a:rPr>
              <a:t>png</a:t>
            </a:r>
            <a:r>
              <a:rPr lang="en-CA" dirty="0">
                <a:hlinkClick r:id="rId3"/>
              </a:rPr>
              <a:t> marker graphics, .</a:t>
            </a:r>
            <a:r>
              <a:rPr lang="en-CA" dirty="0" err="1">
                <a:hlinkClick r:id="rId3"/>
              </a:rPr>
              <a:t>png</a:t>
            </a:r>
            <a:r>
              <a:rPr lang="en-CA" dirty="0">
                <a:hlinkClick r:id="rId3"/>
              </a:rPr>
              <a:t> marker pack and more | </a:t>
            </a:r>
            <a:r>
              <a:rPr lang="en-CA" dirty="0" err="1">
                <a:hlinkClick r:id="rId3"/>
              </a:rPr>
              <a:t>Sickboat</a:t>
            </a:r>
            <a:r>
              <a:rPr lang="en-CA" dirty="0">
                <a:hlinkClick r:id="rId3"/>
              </a:rPr>
              <a:t> Blog </a:t>
            </a:r>
            <a:r>
              <a:rPr lang="en-CA" dirty="0" err="1">
                <a:hlinkClick r:id="rId3"/>
              </a:rPr>
              <a:t>blog</a:t>
            </a:r>
            <a:endParaRPr lang="en-CA" dirty="0"/>
          </a:p>
          <a:p>
            <a:pPr fontAlgn="t"/>
            <a:r>
              <a:rPr lang="en-CA" sz="1200" b="0" i="0" kern="1200" dirty="0">
                <a:solidFill>
                  <a:schemeClr val="tx1"/>
                </a:solidFill>
                <a:effectLst/>
                <a:latin typeface="+mn-lt"/>
                <a:ea typeface="+mn-ea"/>
                <a:cs typeface="+mn-cs"/>
              </a:rPr>
              <a:t>https://sickboat.com/blogs/blog/top-textures-for-handcrafted-look</a:t>
            </a:r>
          </a:p>
          <a:p>
            <a:endParaRPr lang="en-CA" dirty="0"/>
          </a:p>
        </p:txBody>
      </p:sp>
    </p:spTree>
    <p:extLst>
      <p:ext uri="{BB962C8B-B14F-4D97-AF65-F5344CB8AC3E}">
        <p14:creationId xmlns:p14="http://schemas.microsoft.com/office/powerpoint/2010/main" val="3528799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Different textures communicate different personalities.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As designers, we choose texture for the same reason we choose colour or typography: to communicate a message.</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Four brand examples: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Apple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Patagonia</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Luxury skincare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Craft brewery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Show examples </a:t>
            </a:r>
            <a:r>
              <a:rPr lang="en-CA"/>
              <a:t>on website</a:t>
            </a:r>
            <a:endParaRPr lang="en-CA" dirty="0"/>
          </a:p>
          <a:p>
            <a:endParaRPr lang="en-CA" dirty="0"/>
          </a:p>
        </p:txBody>
      </p:sp>
    </p:spTree>
    <p:extLst>
      <p:ext uri="{BB962C8B-B14F-4D97-AF65-F5344CB8AC3E}">
        <p14:creationId xmlns:p14="http://schemas.microsoft.com/office/powerpoint/2010/main" val="2945990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7F8E3-CF64-CBE2-CBC9-1DB48C4D5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E7960-7625-8C0D-44F3-AAEA899EE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79C76-CCA4-29E7-B971-433D0A8B3826}"/>
              </a:ext>
            </a:extLst>
          </p:cNvPr>
          <p:cNvSpPr>
            <a:spLocks noGrp="1"/>
          </p:cNvSpPr>
          <p:nvPr>
            <p:ph type="body" idx="1"/>
          </p:nvPr>
        </p:nvSpPr>
        <p:spPr/>
        <p:txBody>
          <a:bodyPr/>
          <a:lstStyle/>
          <a:p>
            <a:r>
              <a:rPr lang="en-US" b="1" dirty="0"/>
              <a:t>Definition (Slide Copy):</a:t>
            </a:r>
            <a:r>
              <a:rPr lang="en-US" dirty="0"/>
              <a:t> The surface quality of an object, real (tactile) or implied (visual).</a:t>
            </a:r>
            <a:br>
              <a:rPr lang="en-US" dirty="0"/>
            </a:br>
            <a:r>
              <a:rPr lang="en-US" b="1" dirty="0"/>
              <a:t>Why it matters (Speaker Notes):</a:t>
            </a:r>
            <a:endParaRPr lang="en-US" dirty="0"/>
          </a:p>
          <a:p>
            <a:endParaRPr lang="en-US" dirty="0"/>
          </a:p>
          <a:p>
            <a:r>
              <a:rPr lang="en-US" dirty="0"/>
              <a:t>It can be literal (raised printing, embossing, packaging material) or</a:t>
            </a:r>
          </a:p>
          <a:p>
            <a:endParaRPr lang="en-US" dirty="0"/>
          </a:p>
          <a:p>
            <a:endParaRPr lang="en-US" dirty="0"/>
          </a:p>
          <a:p>
            <a:endParaRPr lang="en-US" dirty="0"/>
          </a:p>
          <a:p>
            <a:endParaRPr lang="en-US" dirty="0"/>
          </a:p>
          <a:p>
            <a:r>
              <a:rPr lang="en-US" dirty="0"/>
              <a:t>Images from </a:t>
            </a:r>
          </a:p>
          <a:p>
            <a:r>
              <a:rPr lang="en-US" dirty="0">
                <a:hlinkClick r:id="rId3"/>
              </a:rPr>
              <a:t>Innovative approaches to texture in graphic design - 99designs</a:t>
            </a:r>
            <a:endParaRPr lang="en-US" dirty="0"/>
          </a:p>
          <a:p>
            <a:r>
              <a:rPr lang="en-US" dirty="0"/>
              <a:t>https://99designs.com/blog/tips/texture-in-graphic-design/</a:t>
            </a:r>
          </a:p>
          <a:p>
            <a:endParaRPr lang="en-CA" dirty="0"/>
          </a:p>
        </p:txBody>
      </p:sp>
      <p:sp>
        <p:nvSpPr>
          <p:cNvPr id="4" name="Slide Number Placeholder 3">
            <a:extLst>
              <a:ext uri="{FF2B5EF4-FFF2-40B4-BE49-F238E27FC236}">
                <a16:creationId xmlns:a16="http://schemas.microsoft.com/office/drawing/2014/main" id="{517C9940-416E-68E5-F81F-1EDC7C3AB232}"/>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12</a:t>
            </a:fld>
            <a:endParaRPr lang="en-CA"/>
          </a:p>
        </p:txBody>
      </p:sp>
    </p:spTree>
    <p:extLst>
      <p:ext uri="{BB962C8B-B14F-4D97-AF65-F5344CB8AC3E}">
        <p14:creationId xmlns:p14="http://schemas.microsoft.com/office/powerpoint/2010/main" val="3547180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4A648-FD5F-F9FD-11D6-5385D981C4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C518-1310-EA4C-A0CA-9516C2CF8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0B32C-A6D0-70A3-A3B9-FDCBA626A843}"/>
              </a:ext>
            </a:extLst>
          </p:cNvPr>
          <p:cNvSpPr>
            <a:spLocks noGrp="1"/>
          </p:cNvSpPr>
          <p:nvPr>
            <p:ph type="body" idx="1"/>
          </p:nvPr>
        </p:nvSpPr>
        <p:spPr/>
        <p:txBody>
          <a:bodyPr/>
          <a:lstStyle/>
          <a:p>
            <a:r>
              <a:rPr lang="en-US" dirty="0"/>
              <a:t>visual (photography of wood, metal, fabric).</a:t>
            </a:r>
          </a:p>
          <a:p>
            <a:endParaRPr lang="en-US" dirty="0"/>
          </a:p>
          <a:p>
            <a:pPr fontAlgn="t"/>
            <a:r>
              <a:rPr lang="en-CA" sz="1200" b="0" i="0" kern="1200" dirty="0">
                <a:solidFill>
                  <a:schemeClr val="tx1"/>
                </a:solidFill>
                <a:effectLst/>
                <a:latin typeface="+mn-lt"/>
                <a:ea typeface="+mn-ea"/>
                <a:cs typeface="+mn-cs"/>
              </a:rPr>
              <a:t>Most graphic designers work with implied texture rather than physical texture.</a:t>
            </a:r>
          </a:p>
          <a:p>
            <a:pPr fontAlgn="t"/>
            <a:r>
              <a:rPr lang="en-CA" sz="1200" b="0" i="0" kern="1200" dirty="0">
                <a:solidFill>
                  <a:schemeClr val="tx1"/>
                </a:solidFill>
                <a:effectLst/>
                <a:latin typeface="+mn-lt"/>
                <a:ea typeface="+mn-ea"/>
                <a:cs typeface="+mn-cs"/>
              </a:rPr>
              <a:t>For example:</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A photograph of weathered wood</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A brick wall background</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Water droplets on packaging</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Wrinkled paper effects</a:t>
            </a:r>
          </a:p>
          <a:p>
            <a:pPr fontAlgn="t"/>
            <a:r>
              <a:rPr lang="en-CA" sz="1200" b="0" i="0" kern="1200" dirty="0">
                <a:solidFill>
                  <a:schemeClr val="tx1"/>
                </a:solidFill>
                <a:effectLst/>
                <a:latin typeface="+mn-lt"/>
                <a:ea typeface="+mn-ea"/>
                <a:cs typeface="+mn-cs"/>
              </a:rPr>
              <a:t>The surface is actually smooth, but our brain interprets the image as textured.</a:t>
            </a:r>
          </a:p>
          <a:p>
            <a:endParaRPr lang="en-US" dirty="0"/>
          </a:p>
          <a:p>
            <a:endParaRPr lang="en-US" dirty="0"/>
          </a:p>
          <a:p>
            <a:r>
              <a:rPr lang="en-US" dirty="0"/>
              <a:t>Images from </a:t>
            </a:r>
          </a:p>
          <a:p>
            <a:r>
              <a:rPr lang="en-US" dirty="0">
                <a:hlinkClick r:id="rId3"/>
              </a:rPr>
              <a:t>Innovative approaches to texture in graphic design - 99designs</a:t>
            </a:r>
            <a:endParaRPr lang="en-US" dirty="0"/>
          </a:p>
          <a:p>
            <a:r>
              <a:rPr lang="en-US" dirty="0"/>
              <a:t>https://99designs.com/blog/tips/texture-in-graphic-design/</a:t>
            </a:r>
          </a:p>
          <a:p>
            <a:endParaRPr lang="en-CA" dirty="0"/>
          </a:p>
        </p:txBody>
      </p:sp>
      <p:sp>
        <p:nvSpPr>
          <p:cNvPr id="4" name="Slide Number Placeholder 3">
            <a:extLst>
              <a:ext uri="{FF2B5EF4-FFF2-40B4-BE49-F238E27FC236}">
                <a16:creationId xmlns:a16="http://schemas.microsoft.com/office/drawing/2014/main" id="{BB215891-5861-D507-1ECB-064A4C49FA69}"/>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13</a:t>
            </a:fld>
            <a:endParaRPr lang="en-CA"/>
          </a:p>
        </p:txBody>
      </p:sp>
    </p:spTree>
    <p:extLst>
      <p:ext uri="{BB962C8B-B14F-4D97-AF65-F5344CB8AC3E}">
        <p14:creationId xmlns:p14="http://schemas.microsoft.com/office/powerpoint/2010/main" val="23823019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 (Slide Copy):</a:t>
            </a:r>
            <a:r>
              <a:rPr lang="en-US" dirty="0"/>
              <a:t> The perception of light reflected from surfaces, including hue, value, and saturation.</a:t>
            </a:r>
            <a:br>
              <a:rPr lang="en-US" dirty="0"/>
            </a:br>
            <a:r>
              <a:rPr lang="en-US" b="1" dirty="0"/>
              <a:t>Why it matters (Speaker Notes):</a:t>
            </a:r>
            <a:endParaRPr lang="en-US" dirty="0"/>
          </a:p>
          <a:p>
            <a:endParaRPr lang="en-US" dirty="0"/>
          </a:p>
          <a:p>
            <a:r>
              <a:rPr lang="en-US" dirty="0"/>
              <a:t>Images from </a:t>
            </a:r>
          </a:p>
          <a:p>
            <a:r>
              <a:rPr lang="en-US" dirty="0">
                <a:hlinkClick r:id="rId3"/>
              </a:rPr>
              <a:t>How to create the 6 most common </a:t>
            </a:r>
            <a:r>
              <a:rPr lang="en-US" dirty="0" err="1">
                <a:hlinkClick r:id="rId3"/>
              </a:rPr>
              <a:t>colour</a:t>
            </a:r>
            <a:r>
              <a:rPr lang="en-US" dirty="0">
                <a:hlinkClick r:id="rId3"/>
              </a:rPr>
              <a:t> schemes for your Surface Pattern Designs - Pattern and Design</a:t>
            </a:r>
            <a:endParaRPr lang="en-US" dirty="0"/>
          </a:p>
          <a:p>
            <a:r>
              <a:rPr lang="en-US" dirty="0"/>
              <a:t>https://patternanddesign.com/how-to-create-6-most-common-colour-schemes-surface-pattern-designs/</a:t>
            </a:r>
          </a:p>
          <a:p>
            <a:endParaRPr lang="en-US" dirty="0"/>
          </a:p>
          <a:p>
            <a:endParaRPr lang="en-CA" dirty="0"/>
          </a:p>
        </p:txBody>
      </p:sp>
      <p:sp>
        <p:nvSpPr>
          <p:cNvPr id="4" name="Slide Number Placeholder 3"/>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14</a:t>
            </a:fld>
            <a:endParaRPr lang="en-CA"/>
          </a:p>
        </p:txBody>
      </p:sp>
    </p:spTree>
    <p:extLst>
      <p:ext uri="{BB962C8B-B14F-4D97-AF65-F5344CB8AC3E}">
        <p14:creationId xmlns:p14="http://schemas.microsoft.com/office/powerpoint/2010/main" val="3202115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403CD-78F0-6745-4392-0B5C7C6C2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FC68C-B38C-89E6-03A5-69C5A4F45B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4F485-9F2F-D3B4-A7B1-B169C90D0845}"/>
              </a:ext>
            </a:extLst>
          </p:cNvPr>
          <p:cNvSpPr>
            <a:spLocks noGrp="1"/>
          </p:cNvSpPr>
          <p:nvPr>
            <p:ph type="body" idx="1"/>
          </p:nvPr>
        </p:nvSpPr>
        <p:spPr/>
        <p:txBody>
          <a:bodyPr/>
          <a:lstStyle/>
          <a:p>
            <a:pPr eaLnBrk="1" hangingPunct="1">
              <a:spcBef>
                <a:spcPct val="0"/>
              </a:spcBef>
            </a:pPr>
            <a:r>
              <a:rPr lang="en-US" altLang="en-US" dirty="0"/>
              <a:t>Products are made to be sold.  Products sell when an audience finds your product more appealing than your competitors.  For this to occur, your product must be attractive and memorable.  A decision to buy often has as much to do with a buyer’s perception of a product as it does with the product itself.</a:t>
            </a:r>
          </a:p>
          <a:p>
            <a:pPr eaLnBrk="1" hangingPunct="1">
              <a:spcBef>
                <a:spcPct val="0"/>
              </a:spcBef>
            </a:pPr>
            <a:endParaRPr lang="en-US" altLang="en-US" dirty="0"/>
          </a:p>
          <a:p>
            <a:pPr eaLnBrk="1" hangingPunct="1">
              <a:spcBef>
                <a:spcPct val="0"/>
              </a:spcBef>
            </a:pPr>
            <a:r>
              <a:rPr lang="en-US" altLang="en-US" dirty="0"/>
              <a:t>Image retrieved from: http://bmighty2.com/wp-content/uploads/2016/02/Consumer-Buying.jpg</a:t>
            </a:r>
          </a:p>
          <a:p>
            <a:endParaRPr lang="en-CA" dirty="0"/>
          </a:p>
        </p:txBody>
      </p:sp>
      <p:sp>
        <p:nvSpPr>
          <p:cNvPr id="4" name="Slide Number Placeholder 3">
            <a:extLst>
              <a:ext uri="{FF2B5EF4-FFF2-40B4-BE49-F238E27FC236}">
                <a16:creationId xmlns:a16="http://schemas.microsoft.com/office/drawing/2014/main" id="{9FFD58B8-90FE-67BD-ADFD-0ADE2AEE4326}"/>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15</a:t>
            </a:fld>
            <a:endParaRPr lang="en-CA"/>
          </a:p>
        </p:txBody>
      </p:sp>
    </p:spTree>
    <p:extLst>
      <p:ext uri="{BB962C8B-B14F-4D97-AF65-F5344CB8AC3E}">
        <p14:creationId xmlns:p14="http://schemas.microsoft.com/office/powerpoint/2010/main" val="3969998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EBA4F-979D-3364-7A23-12B5F29646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D8C86-921E-F816-B426-D7EAB5319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93F0E-7557-DEC1-2B89-A76886B5A0DB}"/>
              </a:ext>
            </a:extLst>
          </p:cNvPr>
          <p:cNvSpPr>
            <a:spLocks noGrp="1"/>
          </p:cNvSpPr>
          <p:nvPr>
            <p:ph type="body" idx="1"/>
          </p:nvPr>
        </p:nvSpPr>
        <p:spPr/>
        <p:txBody>
          <a:bodyPr/>
          <a:lstStyle/>
          <a:p>
            <a:r>
              <a:rPr lang="en-US" dirty="0"/>
              <a:t>Colour is the most </a:t>
            </a:r>
            <a:r>
              <a:rPr lang="en-US" b="1" dirty="0"/>
              <a:t>emotionally powerful element</a:t>
            </a:r>
            <a:r>
              <a:rPr lang="en-US" dirty="0"/>
              <a:t>. It affects mood, meaning, and brand identity.</a:t>
            </a:r>
          </a:p>
          <a:p>
            <a:r>
              <a:rPr lang="en-US" dirty="0"/>
              <a:t>Red = passion, urgency, energy (Coca-Cola, Netflix).</a:t>
            </a:r>
          </a:p>
          <a:p>
            <a:r>
              <a:rPr lang="en-US" dirty="0"/>
              <a:t>Blue = trust, stability, calm (banks, healthcare, Facebook).</a:t>
            </a:r>
          </a:p>
          <a:p>
            <a:r>
              <a:rPr lang="en-US" dirty="0"/>
              <a:t>Green = nature, health, balance (Starbucks, Whole Foods).</a:t>
            </a:r>
          </a:p>
          <a:p>
            <a:r>
              <a:rPr lang="en-US" dirty="0"/>
              <a:t>Yellow = optimism, youth, energy (IKEA, McDonald’s).</a:t>
            </a:r>
          </a:p>
          <a:p>
            <a:endParaRPr lang="en-US" dirty="0"/>
          </a:p>
          <a:p>
            <a:endParaRPr lang="en-CA" dirty="0"/>
          </a:p>
        </p:txBody>
      </p:sp>
      <p:sp>
        <p:nvSpPr>
          <p:cNvPr id="4" name="Slide Number Placeholder 3">
            <a:extLst>
              <a:ext uri="{FF2B5EF4-FFF2-40B4-BE49-F238E27FC236}">
                <a16:creationId xmlns:a16="http://schemas.microsoft.com/office/drawing/2014/main" id="{9115E1DA-7AC7-45F0-2368-1CD58D997E57}"/>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16</a:t>
            </a:fld>
            <a:endParaRPr lang="en-CA"/>
          </a:p>
        </p:txBody>
      </p:sp>
    </p:spTree>
    <p:extLst>
      <p:ext uri="{BB962C8B-B14F-4D97-AF65-F5344CB8AC3E}">
        <p14:creationId xmlns:p14="http://schemas.microsoft.com/office/powerpoint/2010/main" val="239777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1A14D-885F-47EE-0AB3-C68019251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8619A-3351-04F0-386F-1A6A9245D2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8580F5-C7BD-A92B-A04B-9ED1DAB308A6}"/>
              </a:ext>
            </a:extLst>
          </p:cNvPr>
          <p:cNvSpPr>
            <a:spLocks noGrp="1"/>
          </p:cNvSpPr>
          <p:nvPr>
            <p:ph type="body" idx="1"/>
          </p:nvPr>
        </p:nvSpPr>
        <p:spPr/>
        <p:txBody>
          <a:bodyPr/>
          <a:lstStyle/>
          <a:p>
            <a:endParaRPr lang="en-US" dirty="0"/>
          </a:p>
          <a:p>
            <a:r>
              <a:rPr lang="en-US" dirty="0"/>
              <a:t>Colour creates unity through schemes (monochromatic, complementary, analogous) and directs attention.</a:t>
            </a:r>
          </a:p>
          <a:p>
            <a:endParaRPr lang="en-US" dirty="0"/>
          </a:p>
          <a:p>
            <a:r>
              <a:rPr lang="en-CA" dirty="0"/>
              <a:t>Images from </a:t>
            </a:r>
          </a:p>
          <a:p>
            <a:r>
              <a:rPr lang="en-US" dirty="0">
                <a:hlinkClick r:id="rId3"/>
              </a:rPr>
              <a:t>How to Use the Color Wheel for Any Palette</a:t>
            </a:r>
            <a:endParaRPr lang="en-US" dirty="0"/>
          </a:p>
          <a:p>
            <a:r>
              <a:rPr lang="en-CA" dirty="0"/>
              <a:t>https://www.thespruce.com/easy-color-schemes-from-color-wheel-797784</a:t>
            </a:r>
          </a:p>
        </p:txBody>
      </p:sp>
      <p:sp>
        <p:nvSpPr>
          <p:cNvPr id="4" name="Slide Number Placeholder 3">
            <a:extLst>
              <a:ext uri="{FF2B5EF4-FFF2-40B4-BE49-F238E27FC236}">
                <a16:creationId xmlns:a16="http://schemas.microsoft.com/office/drawing/2014/main" id="{41ACE3C9-7C60-1CA7-7122-AA8A442B172D}"/>
              </a:ext>
            </a:extLst>
          </p:cNvPr>
          <p:cNvSpPr>
            <a:spLocks noGrp="1"/>
          </p:cNvSpPr>
          <p:nvPr>
            <p:ph type="sldNum" sz="quarter" idx="5"/>
          </p:nvPr>
        </p:nvSpPr>
        <p:spPr>
          <a:xfrm>
            <a:off x="3970938" y="8829967"/>
            <a:ext cx="3037840" cy="466433"/>
          </a:xfrm>
          <a:prstGeom prst="rect">
            <a:avLst/>
          </a:prstGeom>
        </p:spPr>
        <p:txBody>
          <a:bodyPr lIns="93177" tIns="46589" rIns="93177" bIns="46589"/>
          <a:lstStyle/>
          <a:p>
            <a:fld id="{EC8E7D8F-66A0-4AB2-A673-BBD50D9A8402}" type="slidenum">
              <a:rPr lang="en-CA" smtClean="0"/>
              <a:t>17</a:t>
            </a:fld>
            <a:endParaRPr lang="en-CA"/>
          </a:p>
        </p:txBody>
      </p:sp>
    </p:spTree>
    <p:extLst>
      <p:ext uri="{BB962C8B-B14F-4D97-AF65-F5344CB8AC3E}">
        <p14:creationId xmlns:p14="http://schemas.microsoft.com/office/powerpoint/2010/main" val="2670433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CA" sz="1200" b="0" i="0" kern="1200" dirty="0">
                <a:solidFill>
                  <a:schemeClr val="tx1"/>
                </a:solidFill>
                <a:effectLst/>
                <a:latin typeface="+mn-lt"/>
                <a:ea typeface="+mn-ea"/>
                <a:cs typeface="+mn-cs"/>
              </a:rPr>
              <a:t>One of the most important functions of colour is directing attention.</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READ SLIDE FIRST</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Think about:</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A red button on a grey page</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Yellow text on a black background</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A brightly coloured object in a black-and-white image</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Our eyes naturally move toward areas with stronger colour contrast.</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This is one of the most powerful tools designers have.</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Image from </a:t>
            </a:r>
            <a:r>
              <a:rPr lang="en-CA" dirty="0">
                <a:hlinkClick r:id="rId3"/>
              </a:rPr>
              <a:t>Register Now Red Button Stock Illustrations – 2,854 Register Now Red Button Stock Illustrations, Vectors &amp; Clipart – </a:t>
            </a:r>
            <a:r>
              <a:rPr lang="en-CA" dirty="0" err="1">
                <a:hlinkClick r:id="rId3"/>
              </a:rPr>
              <a:t>Dreamstime</a:t>
            </a:r>
            <a:endParaRPr lang="en-CA" dirty="0"/>
          </a:p>
          <a:p>
            <a:pPr fontAlgn="t"/>
            <a:r>
              <a:rPr lang="en-CA" sz="1200" b="0" i="0" kern="1200" dirty="0">
                <a:solidFill>
                  <a:schemeClr val="tx1"/>
                </a:solidFill>
                <a:effectLst/>
                <a:latin typeface="+mn-lt"/>
                <a:ea typeface="+mn-ea"/>
                <a:cs typeface="+mn-cs"/>
              </a:rPr>
              <a:t>https://www.dreamstime.com/illustration/register-now-red-button.html</a:t>
            </a:r>
          </a:p>
          <a:p>
            <a:endParaRPr lang="en-CA" sz="1200" b="0" i="0" kern="1200" dirty="0">
              <a:solidFill>
                <a:schemeClr val="tx1"/>
              </a:solidFill>
              <a:effectLst/>
              <a:latin typeface="+mn-lt"/>
              <a:ea typeface="+mn-ea"/>
              <a:cs typeface="+mn-cs"/>
            </a:endParaRPr>
          </a:p>
          <a:p>
            <a:r>
              <a:rPr lang="en-CA" dirty="0">
                <a:hlinkClick r:id="rId4"/>
              </a:rPr>
              <a:t>A black background with yellow text that says good vibes. | Premium Vector</a:t>
            </a:r>
            <a:endParaRPr lang="en-CA" dirty="0"/>
          </a:p>
          <a:p>
            <a:r>
              <a:rPr lang="en-CA" dirty="0"/>
              <a:t>https://www.magnific.com/premium-vector/black-background-with-yellow-text-that-says-good-vibes_39550739.htm</a:t>
            </a:r>
          </a:p>
          <a:p>
            <a:endParaRPr lang="en-CA" dirty="0"/>
          </a:p>
          <a:p>
            <a:r>
              <a:rPr lang="en-CA" dirty="0">
                <a:hlinkClick r:id="rId5"/>
              </a:rPr>
              <a:t>End Of An Era: 7 Best iPod Ad Campaigns Through The Years</a:t>
            </a:r>
            <a:endParaRPr lang="en-CA" dirty="0"/>
          </a:p>
          <a:p>
            <a:r>
              <a:rPr lang="en-CA" dirty="0"/>
              <a:t>https://tslmedia.sg/ipod-ad-campaigns/</a:t>
            </a:r>
          </a:p>
          <a:p>
            <a:endParaRPr lang="en-CA" dirty="0"/>
          </a:p>
          <a:p>
            <a:r>
              <a:rPr lang="en-CA" dirty="0">
                <a:hlinkClick r:id="rId6"/>
              </a:rPr>
              <a:t>AI ARTE! | 🖤🎨 Monochrome Pop: Black &amp; White + 1 Color Challenge</a:t>
            </a:r>
            <a:endParaRPr lang="en-CA" dirty="0"/>
          </a:p>
          <a:p>
            <a:r>
              <a:rPr lang="en-CA" dirty="0"/>
              <a:t>https://www.facebook.com/groups/1661334077921820/posts/1700037440718150/</a:t>
            </a:r>
          </a:p>
        </p:txBody>
      </p:sp>
    </p:spTree>
    <p:extLst>
      <p:ext uri="{BB962C8B-B14F-4D97-AF65-F5344CB8AC3E}">
        <p14:creationId xmlns:p14="http://schemas.microsoft.com/office/powerpoint/2010/main" val="3386379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CA" sz="1200" b="0" i="0" kern="1200" dirty="0">
                <a:solidFill>
                  <a:schemeClr val="tx1"/>
                </a:solidFill>
                <a:effectLst/>
                <a:latin typeface="+mn-lt"/>
                <a:ea typeface="+mn-ea"/>
                <a:cs typeface="+mn-cs"/>
              </a:rPr>
              <a:t>Colour helps audiences recognize brands instantly.</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Many companies become associated with specific colours.</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Sometimes people can identify a company before reading its name because of colour alone.</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Consistency in colour builds familiarity and trust.</a:t>
            </a:r>
          </a:p>
          <a:p>
            <a:pPr fontAlgn="t"/>
            <a:endParaRPr lang="en-CA" sz="1200" b="0" i="0" kern="1200" dirty="0">
              <a:solidFill>
                <a:schemeClr val="tx1"/>
              </a:solidFill>
              <a:effectLst/>
              <a:latin typeface="+mn-lt"/>
              <a:ea typeface="+mn-ea"/>
              <a:cs typeface="+mn-cs"/>
            </a:endParaRP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Image from </a:t>
            </a:r>
            <a:r>
              <a:rPr lang="en-CA" dirty="0">
                <a:hlinkClick r:id="rId3"/>
              </a:rPr>
              <a:t>Colors Used By Famous Brands (With Their Codes)</a:t>
            </a:r>
            <a:endParaRPr lang="en-CA" dirty="0"/>
          </a:p>
          <a:p>
            <a:pPr fontAlgn="t"/>
            <a:r>
              <a:rPr lang="en-CA" sz="1200" b="0" i="0" kern="1200" dirty="0">
                <a:solidFill>
                  <a:schemeClr val="tx1"/>
                </a:solidFill>
                <a:effectLst/>
                <a:latin typeface="+mn-lt"/>
                <a:ea typeface="+mn-ea"/>
                <a:cs typeface="+mn-cs"/>
              </a:rPr>
              <a:t>https://digitalsynopsis.com/design/brand-colors/</a:t>
            </a:r>
          </a:p>
          <a:p>
            <a:endParaRPr lang="en-CA" dirty="0"/>
          </a:p>
        </p:txBody>
      </p:sp>
    </p:spTree>
    <p:extLst>
      <p:ext uri="{BB962C8B-B14F-4D97-AF65-F5344CB8AC3E}">
        <p14:creationId xmlns:p14="http://schemas.microsoft.com/office/powerpoint/2010/main" val="12955489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CA" sz="1200" b="0" i="0" kern="1200" dirty="0">
                <a:solidFill>
                  <a:schemeClr val="tx1"/>
                </a:solidFill>
                <a:effectLst/>
                <a:latin typeface="+mn-lt"/>
                <a:ea typeface="+mn-ea"/>
                <a:cs typeface="+mn-cs"/>
              </a:rPr>
              <a:t>Not everyone sees colour the same way.</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Some users experience colour blindness or visual impairments.</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There are 4 main types of color blindness; these range between red-green color blindness, blue color blindness, and monochromatic color blindness.</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Good designers:</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Use symbols along with colour</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Provide sufficient contrast</a:t>
            </a:r>
          </a:p>
          <a:p>
            <a:pPr marL="171450" lvl="0" indent="-171450" fontAlgn="t">
              <a:buFont typeface="Arial" panose="020B0604020202020204" pitchFamily="34" charset="0"/>
              <a:buChar char="•"/>
            </a:pPr>
            <a:r>
              <a:rPr lang="en-CA" sz="1200" b="0" i="0" kern="1200" dirty="0">
                <a:solidFill>
                  <a:schemeClr val="tx1"/>
                </a:solidFill>
                <a:effectLst/>
                <a:latin typeface="+mn-lt"/>
                <a:ea typeface="+mn-ea"/>
                <a:cs typeface="+mn-cs"/>
              </a:rPr>
              <a:t>Test designs for accessibility</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A red-green comparison may be clear to some viewers but difficult for others.</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Design should communicate effectively to the widest possible audience.</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Images from:</a:t>
            </a:r>
          </a:p>
          <a:p>
            <a:pPr fontAlgn="t"/>
            <a:r>
              <a:rPr lang="en-CA" dirty="0">
                <a:hlinkClick r:id="rId3"/>
              </a:rPr>
              <a:t>Color Blindness 101: Causes, Types &amp; Vision Tests | Eye Health</a:t>
            </a:r>
            <a:endParaRPr lang="en-CA" dirty="0"/>
          </a:p>
          <a:p>
            <a:pPr fontAlgn="t"/>
            <a:r>
              <a:rPr lang="en-CA" sz="1200" b="0" i="0" kern="1200" dirty="0">
                <a:solidFill>
                  <a:schemeClr val="tx1"/>
                </a:solidFill>
                <a:effectLst/>
                <a:latin typeface="+mn-lt"/>
                <a:ea typeface="+mn-ea"/>
                <a:cs typeface="+mn-cs"/>
              </a:rPr>
              <a:t>https://blog.eyeconic.com/eye-health/color-blindess-101.html</a:t>
            </a:r>
          </a:p>
          <a:p>
            <a:pPr fontAlgn="t"/>
            <a:endParaRPr lang="en-CA" sz="1200" b="0" i="0" kern="1200" dirty="0">
              <a:solidFill>
                <a:schemeClr val="tx1"/>
              </a:solidFill>
              <a:effectLst/>
              <a:latin typeface="+mn-lt"/>
              <a:ea typeface="+mn-ea"/>
              <a:cs typeface="+mn-cs"/>
            </a:endParaRPr>
          </a:p>
          <a:p>
            <a:pPr fontAlgn="t"/>
            <a:endParaRPr lang="en-CA" sz="1200" b="0" i="0" kern="1200" dirty="0">
              <a:solidFill>
                <a:schemeClr val="tx1"/>
              </a:solidFill>
              <a:effectLst/>
              <a:latin typeface="+mn-lt"/>
              <a:ea typeface="+mn-ea"/>
              <a:cs typeface="+mn-cs"/>
            </a:endParaRPr>
          </a:p>
          <a:p>
            <a:endParaRPr lang="en-CA" dirty="0"/>
          </a:p>
        </p:txBody>
      </p:sp>
    </p:spTree>
    <p:extLst>
      <p:ext uri="{BB962C8B-B14F-4D97-AF65-F5344CB8AC3E}">
        <p14:creationId xmlns:p14="http://schemas.microsoft.com/office/powerpoint/2010/main" val="2727471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explored three powerful design elements.</a:t>
            </a:r>
          </a:p>
          <a:p>
            <a:endParaRPr lang="en-US" dirty="0"/>
          </a:p>
          <a:p>
            <a:r>
              <a:rPr lang="en-US" dirty="0"/>
              <a:t>Size influences what we look at first.</a:t>
            </a:r>
          </a:p>
          <a:p>
            <a:endParaRPr lang="en-US" dirty="0"/>
          </a:p>
          <a:p>
            <a:r>
              <a:rPr lang="en-US" dirty="0"/>
              <a:t>Texture influences how something feels, even when we cannot physically touch it.</a:t>
            </a:r>
          </a:p>
          <a:p>
            <a:endParaRPr lang="en-US" dirty="0"/>
          </a:p>
          <a:p>
            <a:r>
              <a:rPr lang="en-US" dirty="0"/>
              <a:t>Colour influences attention, recognition, mood, and </a:t>
            </a:r>
            <a:r>
              <a:rPr lang="en-US" dirty="0" err="1"/>
              <a:t>meaning.Individually</a:t>
            </a:r>
            <a:r>
              <a:rPr lang="en-US" dirty="0"/>
              <a:t> these elements are powerful.</a:t>
            </a:r>
          </a:p>
          <a:p>
            <a:endParaRPr lang="en-US" dirty="0"/>
          </a:p>
          <a:p>
            <a:r>
              <a:rPr lang="en-US" dirty="0"/>
              <a:t>When combined, they become the foundation of effective visual communication and graphic design.</a:t>
            </a:r>
            <a:endParaRPr lang="en-CA" dirty="0"/>
          </a:p>
        </p:txBody>
      </p:sp>
    </p:spTree>
    <p:extLst>
      <p:ext uri="{BB962C8B-B14F-4D97-AF65-F5344CB8AC3E}">
        <p14:creationId xmlns:p14="http://schemas.microsoft.com/office/powerpoint/2010/main" val="2232404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CA" sz="1200" b="0" i="0" kern="1200" dirty="0">
                <a:solidFill>
                  <a:schemeClr val="tx1"/>
                </a:solidFill>
                <a:effectLst/>
                <a:latin typeface="+mn-lt"/>
                <a:ea typeface="+mn-ea"/>
                <a:cs typeface="+mn-cs"/>
              </a:rPr>
              <a:t>Last Class we explored three fundamental elements of design: line, shape, and direction.</a:t>
            </a:r>
          </a:p>
          <a:p>
            <a:pPr fontAlgn="t"/>
            <a:endParaRPr lang="en-CA" sz="1200" b="1" i="0" kern="1200" dirty="0">
              <a:solidFill>
                <a:schemeClr val="tx1"/>
              </a:solidFill>
              <a:effectLst/>
              <a:latin typeface="+mn-lt"/>
              <a:ea typeface="+mn-ea"/>
              <a:cs typeface="+mn-cs"/>
            </a:endParaRPr>
          </a:p>
          <a:p>
            <a:pPr fontAlgn="t"/>
            <a:r>
              <a:rPr lang="en-CA" sz="1200" b="1" i="0" kern="1200" dirty="0">
                <a:solidFill>
                  <a:schemeClr val="tx1"/>
                </a:solidFill>
                <a:effectLst/>
                <a:latin typeface="+mn-lt"/>
                <a:ea typeface="+mn-ea"/>
                <a:cs typeface="+mn-cs"/>
              </a:rPr>
              <a:t>Lines</a:t>
            </a:r>
            <a:r>
              <a:rPr lang="en-CA" sz="1200" b="0" i="0" kern="1200" dirty="0">
                <a:solidFill>
                  <a:schemeClr val="tx1"/>
                </a:solidFill>
                <a:effectLst/>
                <a:latin typeface="+mn-lt"/>
                <a:ea typeface="+mn-ea"/>
                <a:cs typeface="+mn-cs"/>
              </a:rPr>
              <a:t> help create structure and movement. They can separate information, connect ideas, create patterns, and guide viewers through a design.</a:t>
            </a:r>
          </a:p>
          <a:p>
            <a:pPr fontAlgn="t"/>
            <a:endParaRPr lang="en-CA" sz="1200" b="1" i="0" kern="1200" dirty="0">
              <a:solidFill>
                <a:schemeClr val="tx1"/>
              </a:solidFill>
              <a:effectLst/>
              <a:latin typeface="+mn-lt"/>
              <a:ea typeface="+mn-ea"/>
              <a:cs typeface="+mn-cs"/>
            </a:endParaRPr>
          </a:p>
          <a:p>
            <a:pPr fontAlgn="t"/>
            <a:r>
              <a:rPr lang="en-CA" sz="1200" b="1" i="0" kern="1200" dirty="0">
                <a:solidFill>
                  <a:schemeClr val="tx1"/>
                </a:solidFill>
                <a:effectLst/>
                <a:latin typeface="+mn-lt"/>
                <a:ea typeface="+mn-ea"/>
                <a:cs typeface="+mn-cs"/>
              </a:rPr>
              <a:t>Shapes</a:t>
            </a:r>
            <a:r>
              <a:rPr lang="en-CA" sz="1200" b="0" i="0" kern="1200" dirty="0">
                <a:solidFill>
                  <a:schemeClr val="tx1"/>
                </a:solidFill>
                <a:effectLst/>
                <a:latin typeface="+mn-lt"/>
                <a:ea typeface="+mn-ea"/>
                <a:cs typeface="+mn-cs"/>
              </a:rPr>
              <a:t> help us organize information and communicate meaning. Whether geometric, organic, or abstract, shapes can influence how audiences interpret a message and identify visual elements.</a:t>
            </a:r>
          </a:p>
          <a:p>
            <a:pPr fontAlgn="t"/>
            <a:endParaRPr lang="en-CA" sz="1200" b="1" i="0" kern="1200" dirty="0">
              <a:solidFill>
                <a:schemeClr val="tx1"/>
              </a:solidFill>
              <a:effectLst/>
              <a:latin typeface="+mn-lt"/>
              <a:ea typeface="+mn-ea"/>
              <a:cs typeface="+mn-cs"/>
            </a:endParaRPr>
          </a:p>
          <a:p>
            <a:pPr fontAlgn="t"/>
            <a:r>
              <a:rPr lang="en-CA" sz="1200" b="1" i="0" kern="1200" dirty="0">
                <a:solidFill>
                  <a:schemeClr val="tx1"/>
                </a:solidFill>
                <a:effectLst/>
                <a:latin typeface="+mn-lt"/>
                <a:ea typeface="+mn-ea"/>
                <a:cs typeface="+mn-cs"/>
              </a:rPr>
              <a:t>Direction</a:t>
            </a:r>
            <a:r>
              <a:rPr lang="en-CA" sz="1200" b="0" i="0" kern="1200" dirty="0">
                <a:solidFill>
                  <a:schemeClr val="tx1"/>
                </a:solidFill>
                <a:effectLst/>
                <a:latin typeface="+mn-lt"/>
                <a:ea typeface="+mn-ea"/>
                <a:cs typeface="+mn-cs"/>
              </a:rPr>
              <a:t> affects how our eyes move through a composition. Designers use direction to create flow, emphasize important information, and lead viewers from one element to another.</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Individually, each element plays an important role in visual communication.</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When combined, these six elements work together to create designs that are organized, engaging, and effective at communicating a message.</a:t>
            </a:r>
          </a:p>
          <a:p>
            <a:pPr fontAlgn="t"/>
            <a:endParaRPr lang="en-CA" sz="1200" b="0" i="0" kern="1200" dirty="0">
              <a:solidFill>
                <a:schemeClr val="tx1"/>
              </a:solidFill>
              <a:effectLst/>
              <a:latin typeface="+mn-lt"/>
              <a:ea typeface="+mn-ea"/>
              <a:cs typeface="+mn-cs"/>
            </a:endParaRPr>
          </a:p>
          <a:p>
            <a:pPr fontAlgn="t"/>
            <a:r>
              <a:rPr lang="en-CA" sz="1200" b="0" i="0" kern="1200" dirty="0">
                <a:solidFill>
                  <a:schemeClr val="tx1"/>
                </a:solidFill>
                <a:effectLst/>
                <a:latin typeface="+mn-lt"/>
                <a:ea typeface="+mn-ea"/>
                <a:cs typeface="+mn-cs"/>
              </a:rPr>
              <a:t>As designers, understanding how these elements work helps us make intentional choices that improve both the appearance and functionality of our designs.</a:t>
            </a:r>
          </a:p>
          <a:p>
            <a:endParaRPr lang="en-CA" dirty="0"/>
          </a:p>
        </p:txBody>
      </p:sp>
      <p:sp>
        <p:nvSpPr>
          <p:cNvPr id="4" name="Slide Number Placeholder 3"/>
          <p:cNvSpPr>
            <a:spLocks noGrp="1"/>
          </p:cNvSpPr>
          <p:nvPr>
            <p:ph type="sldNum" sz="quarter" idx="5"/>
          </p:nvPr>
        </p:nvSpPr>
        <p:spPr/>
        <p:txBody>
          <a:bodyPr/>
          <a:lstStyle/>
          <a:p>
            <a:fld id="{95AD4D42-ADB4-41A1-8DC2-0A86D5CD780A}" type="slidenum">
              <a:rPr lang="en-CA" smtClean="0"/>
              <a:t>22</a:t>
            </a:fld>
            <a:endParaRPr lang="en-CA"/>
          </a:p>
        </p:txBody>
      </p:sp>
    </p:spTree>
    <p:extLst>
      <p:ext uri="{BB962C8B-B14F-4D97-AF65-F5344CB8AC3E}">
        <p14:creationId xmlns:p14="http://schemas.microsoft.com/office/powerpoint/2010/main" val="1063714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8179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55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0849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2099" y="2194560"/>
            <a:ext cx="3907540" cy="4069080"/>
          </a:xfrm>
        </p:spPr>
        <p:txBody>
          <a:bodyPr>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6740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6597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9944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3760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94360" y="3124200"/>
            <a:ext cx="3086100" cy="313944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4874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3458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3353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dirty="0"/>
              <a:t>Click to edit Master title style</a:t>
            </a:r>
          </a:p>
        </p:txBody>
      </p:sp>
      <p:sp>
        <p:nvSpPr>
          <p:cNvPr id="4" name="Text Placeholder 3"/>
          <p:cNvSpPr>
            <a:spLocks noGrp="1"/>
          </p:cNvSpPr>
          <p:nvPr>
            <p:ph type="body" sz="half" idx="2"/>
          </p:nvPr>
        </p:nvSpPr>
        <p:spPr>
          <a:xfrm>
            <a:off x="685800" y="3649134"/>
            <a:ext cx="7772400" cy="1330852"/>
          </a:xfrm>
        </p:spPr>
        <p:txBody>
          <a:bodyPr anchor="ct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1137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5" name="Picture 14"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64476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8957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49135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8261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82574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normAutofit/>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914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2861211"/>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37.jpeg"/><Relationship Id="rId5" Type="http://schemas.openxmlformats.org/officeDocument/2006/relationships/image" Target="../media/image36.png"/><Relationship Id="rId4" Type="http://schemas.openxmlformats.org/officeDocument/2006/relationships/image" Target="../media/image35.jpeg"/></Relationships>
</file>

<file path=ppt/slides/_rels/slide1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73321" y="640080"/>
            <a:ext cx="4688333" cy="3566160"/>
          </a:xfrm>
        </p:spPr>
        <p:txBody>
          <a:bodyPr anchor="b">
            <a:normAutofit/>
          </a:bodyPr>
          <a:lstStyle/>
          <a:p>
            <a:r>
              <a:rPr lang="en-US" sz="4700" dirty="0"/>
              <a:t>The DNA of Design</a:t>
            </a:r>
            <a:endParaRPr lang="en-CA" sz="4700" dirty="0"/>
          </a:p>
        </p:txBody>
      </p:sp>
      <p:pic>
        <p:nvPicPr>
          <p:cNvPr id="5" name="Picture 4" descr="Yellow floating 3D art">
            <a:extLst>
              <a:ext uri="{FF2B5EF4-FFF2-40B4-BE49-F238E27FC236}">
                <a16:creationId xmlns:a16="http://schemas.microsoft.com/office/drawing/2014/main" id="{228BA788-1DED-DD9C-4452-A5A47D4AA685}"/>
              </a:ext>
            </a:extLst>
          </p:cNvPr>
          <p:cNvPicPr>
            <a:picLocks noChangeAspect="1"/>
          </p:cNvPicPr>
          <p:nvPr/>
        </p:nvPicPr>
        <p:blipFill>
          <a:blip r:embed="rId3"/>
          <a:srcRect l="25286" r="39061" b="1"/>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4" name="Subtitle 2">
            <a:extLst>
              <a:ext uri="{FF2B5EF4-FFF2-40B4-BE49-F238E27FC236}">
                <a16:creationId xmlns:a16="http://schemas.microsoft.com/office/drawing/2014/main" id="{BE1E5271-F8F5-0A8E-8708-BE2543A3A0A4}"/>
              </a:ext>
            </a:extLst>
          </p:cNvPr>
          <p:cNvSpPr>
            <a:spLocks noGrp="1"/>
          </p:cNvSpPr>
          <p:nvPr>
            <p:ph type="subTitle" idx="1"/>
          </p:nvPr>
        </p:nvSpPr>
        <p:spPr>
          <a:xfrm>
            <a:off x="3973513" y="4635500"/>
            <a:ext cx="4687887" cy="1573213"/>
          </a:xfrm>
        </p:spPr>
        <p:txBody>
          <a:bodyPr>
            <a:normAutofit/>
          </a:bodyPr>
          <a:lstStyle/>
          <a:p>
            <a:r>
              <a:rPr lang="en-US" dirty="0"/>
              <a:t>Elements of Design – Building Blocks of Visual Communication</a:t>
            </a:r>
            <a:endParaRPr lang="en-CA"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Elements of Design</a:t>
            </a:r>
          </a:p>
        </p:txBody>
      </p:sp>
      <p:sp>
        <p:nvSpPr>
          <p:cNvPr id="3" name="Content Placeholder 2"/>
          <p:cNvSpPr>
            <a:spLocks noGrp="1"/>
          </p:cNvSpPr>
          <p:nvPr>
            <p:ph idx="1"/>
          </p:nvPr>
        </p:nvSpPr>
        <p:spPr>
          <a:xfrm>
            <a:off x="524024" y="2194560"/>
            <a:ext cx="2319662" cy="4069080"/>
          </a:xfrm>
        </p:spPr>
        <p:txBody>
          <a:bodyPr>
            <a:normAutofit/>
          </a:bodyPr>
          <a:lstStyle/>
          <a:p>
            <a:endParaRPr sz="2400" dirty="0"/>
          </a:p>
          <a:p>
            <a:r>
              <a:rPr sz="2400" dirty="0"/>
              <a:t>Line</a:t>
            </a:r>
            <a:r>
              <a:rPr lang="en-CA" sz="2400" dirty="0"/>
              <a:t>:</a:t>
            </a:r>
            <a:endParaRPr sz="2400" dirty="0"/>
          </a:p>
          <a:p>
            <a:r>
              <a:rPr sz="2400" dirty="0"/>
              <a:t>Shape</a:t>
            </a:r>
            <a:r>
              <a:rPr lang="en-CA" sz="2400" dirty="0"/>
              <a:t>:</a:t>
            </a:r>
            <a:endParaRPr sz="2400" dirty="0"/>
          </a:p>
          <a:p>
            <a:r>
              <a:rPr sz="2400" dirty="0"/>
              <a:t>Direction</a:t>
            </a:r>
            <a:r>
              <a:rPr lang="en-CA" sz="2400" dirty="0"/>
              <a:t>:</a:t>
            </a:r>
            <a:endParaRPr sz="2400" dirty="0"/>
          </a:p>
          <a:p>
            <a:r>
              <a:rPr sz="2400" b="1" dirty="0"/>
              <a:t>Size</a:t>
            </a:r>
            <a:r>
              <a:rPr lang="en-CA" sz="2400" b="1" dirty="0"/>
              <a:t>:</a:t>
            </a:r>
            <a:endParaRPr sz="2400" b="1" dirty="0"/>
          </a:p>
          <a:p>
            <a:r>
              <a:rPr sz="2400" b="1" dirty="0"/>
              <a:t>Texture</a:t>
            </a:r>
            <a:r>
              <a:rPr lang="en-CA" sz="2400" b="1" dirty="0"/>
              <a:t>:</a:t>
            </a:r>
            <a:endParaRPr sz="2400" b="1" dirty="0"/>
          </a:p>
          <a:p>
            <a:r>
              <a:rPr sz="2400" b="1" dirty="0"/>
              <a:t>Colour</a:t>
            </a:r>
            <a:r>
              <a:rPr lang="en-CA" sz="2400" b="1" dirty="0"/>
              <a:t>:</a:t>
            </a:r>
            <a:endParaRPr sz="2400" b="1" dirty="0"/>
          </a:p>
        </p:txBody>
      </p:sp>
      <p:sp>
        <p:nvSpPr>
          <p:cNvPr id="4" name="Content Placeholder 2">
            <a:extLst>
              <a:ext uri="{FF2B5EF4-FFF2-40B4-BE49-F238E27FC236}">
                <a16:creationId xmlns:a16="http://schemas.microsoft.com/office/drawing/2014/main" id="{CD3816AA-1C42-2C3A-9D4C-9B63D1994129}"/>
              </a:ext>
            </a:extLst>
          </p:cNvPr>
          <p:cNvSpPr txBox="1">
            <a:spLocks/>
          </p:cNvSpPr>
          <p:nvPr/>
        </p:nvSpPr>
        <p:spPr>
          <a:xfrm>
            <a:off x="2706189" y="2194560"/>
            <a:ext cx="2018211" cy="40690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endParaRPr lang="en-US" dirty="0"/>
          </a:p>
        </p:txBody>
      </p:sp>
      <p:sp>
        <p:nvSpPr>
          <p:cNvPr id="5" name="Content Placeholder 2">
            <a:extLst>
              <a:ext uri="{FF2B5EF4-FFF2-40B4-BE49-F238E27FC236}">
                <a16:creationId xmlns:a16="http://schemas.microsoft.com/office/drawing/2014/main" id="{896DB92D-55DC-AC6B-6F60-775F7E92BF72}"/>
              </a:ext>
            </a:extLst>
          </p:cNvPr>
          <p:cNvSpPr txBox="1">
            <a:spLocks/>
          </p:cNvSpPr>
          <p:nvPr/>
        </p:nvSpPr>
        <p:spPr>
          <a:xfrm>
            <a:off x="2312628" y="2194560"/>
            <a:ext cx="6871558" cy="40690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endParaRPr lang="en-US" sz="2400" dirty="0"/>
          </a:p>
          <a:p>
            <a:pPr marL="0" indent="0">
              <a:buNone/>
            </a:pPr>
            <a:r>
              <a:rPr lang="en-US" sz="2400" dirty="0"/>
              <a:t>A path between two points</a:t>
            </a:r>
          </a:p>
          <a:p>
            <a:pPr marL="0" indent="0">
              <a:buNone/>
            </a:pPr>
            <a:r>
              <a:rPr lang="en-US" sz="2400" dirty="0"/>
              <a:t>A two-dimensional enclosed space</a:t>
            </a:r>
          </a:p>
          <a:p>
            <a:pPr marL="0" indent="0">
              <a:buNone/>
            </a:pPr>
            <a:r>
              <a:rPr lang="en-US" sz="2400" dirty="0"/>
              <a:t>The orientation or movement of elements</a:t>
            </a:r>
          </a:p>
          <a:p>
            <a:pPr marL="0" indent="0">
              <a:buNone/>
            </a:pPr>
            <a:r>
              <a:rPr lang="en-US" sz="2400" dirty="0"/>
              <a:t>The relative scale of elements</a:t>
            </a:r>
          </a:p>
          <a:p>
            <a:pPr marL="0" indent="0">
              <a:buNone/>
            </a:pPr>
            <a:r>
              <a:rPr lang="en-US" sz="2400" dirty="0"/>
              <a:t>The surface quality of an object</a:t>
            </a:r>
          </a:p>
          <a:p>
            <a:pPr marL="0" indent="0">
              <a:buNone/>
            </a:pPr>
            <a:r>
              <a:rPr lang="en-US" sz="2400" dirty="0"/>
              <a:t>The perception of light reflected from surfaces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29626-473C-EBDB-50F6-15BAE7D5ECB1}"/>
              </a:ext>
            </a:extLst>
          </p:cNvPr>
          <p:cNvSpPr>
            <a:spLocks noGrp="1"/>
          </p:cNvSpPr>
          <p:nvPr>
            <p:ph type="title"/>
          </p:nvPr>
        </p:nvSpPr>
        <p:spPr/>
        <p:txBody>
          <a:bodyPr/>
          <a:lstStyle/>
          <a:p>
            <a:r>
              <a:rPr lang="en-CA" dirty="0"/>
              <a:t>Scale &amp; Proportion</a:t>
            </a:r>
          </a:p>
        </p:txBody>
      </p:sp>
      <p:sp>
        <p:nvSpPr>
          <p:cNvPr id="3" name="Content Placeholder 2">
            <a:extLst>
              <a:ext uri="{FF2B5EF4-FFF2-40B4-BE49-F238E27FC236}">
                <a16:creationId xmlns:a16="http://schemas.microsoft.com/office/drawing/2014/main" id="{63EEF4CF-BF16-5DED-B63B-5FFFAF38BFD0}"/>
              </a:ext>
            </a:extLst>
          </p:cNvPr>
          <p:cNvSpPr>
            <a:spLocks noGrp="1"/>
          </p:cNvSpPr>
          <p:nvPr>
            <p:ph sz="half" idx="1"/>
          </p:nvPr>
        </p:nvSpPr>
        <p:spPr/>
        <p:txBody>
          <a:bodyPr/>
          <a:lstStyle/>
          <a:p>
            <a:pPr marL="0" indent="0">
              <a:buNone/>
            </a:pPr>
            <a:r>
              <a:rPr lang="en-US" b="1" dirty="0"/>
              <a:t>Scale</a:t>
            </a:r>
          </a:p>
          <a:p>
            <a:r>
              <a:rPr lang="en-US" dirty="0"/>
              <a:t>How large or small something is compared to its surroundings</a:t>
            </a:r>
          </a:p>
          <a:p>
            <a:pPr marL="0" indent="0">
              <a:buNone/>
            </a:pPr>
            <a:r>
              <a:rPr lang="en-US" b="1" dirty="0"/>
              <a:t>Proportion</a:t>
            </a:r>
          </a:p>
          <a:p>
            <a:r>
              <a:rPr lang="en-US" dirty="0"/>
              <a:t>The relationship between parts of the same object</a:t>
            </a:r>
            <a:endParaRPr lang="en-CA" dirty="0"/>
          </a:p>
        </p:txBody>
      </p:sp>
      <p:pic>
        <p:nvPicPr>
          <p:cNvPr id="5" name="Content Placeholder 4" descr="File:Whitworth House and Wrendal House - geograph.org.uk - 6713521.jpg">
            <a:extLst>
              <a:ext uri="{FF2B5EF4-FFF2-40B4-BE49-F238E27FC236}">
                <a16:creationId xmlns:a16="http://schemas.microsoft.com/office/drawing/2014/main" id="{F57F8921-FFC6-D9C1-0702-890E24F35F22}"/>
              </a:ext>
            </a:extLst>
          </p:cNvPr>
          <p:cNvPicPr>
            <a:picLocks noGrp="1" noChangeAspect="1"/>
          </p:cNvPicPr>
          <p:nvPr>
            <p:ph sz="half" idx="2"/>
          </p:nvPr>
        </p:nvPicPr>
        <p:blipFill>
          <a:blip r:embed="rId3"/>
          <a:stretch>
            <a:fillRect/>
          </a:stretch>
        </p:blipFill>
        <p:spPr>
          <a:xfrm>
            <a:off x="4641850" y="2194560"/>
            <a:ext cx="3908425" cy="2198489"/>
          </a:xfrm>
          <a:prstGeom prst="rect">
            <a:avLst/>
          </a:prstGeom>
        </p:spPr>
      </p:pic>
      <p:pic>
        <p:nvPicPr>
          <p:cNvPr id="7" name="Picture 6">
            <a:extLst>
              <a:ext uri="{FF2B5EF4-FFF2-40B4-BE49-F238E27FC236}">
                <a16:creationId xmlns:a16="http://schemas.microsoft.com/office/drawing/2014/main" id="{9C454EC2-8DC1-29BF-892C-07AE0BA570E2}"/>
              </a:ext>
            </a:extLst>
          </p:cNvPr>
          <p:cNvPicPr>
            <a:picLocks noChangeAspect="1"/>
          </p:cNvPicPr>
          <p:nvPr/>
        </p:nvPicPr>
        <p:blipFill>
          <a:blip r:embed="rId4"/>
          <a:stretch>
            <a:fillRect/>
          </a:stretch>
        </p:blipFill>
        <p:spPr>
          <a:xfrm>
            <a:off x="4696097" y="2466277"/>
            <a:ext cx="3853543" cy="3853543"/>
          </a:xfrm>
          <a:prstGeom prst="rect">
            <a:avLst/>
          </a:prstGeom>
        </p:spPr>
      </p:pic>
    </p:spTree>
    <p:extLst>
      <p:ext uri="{BB962C8B-B14F-4D97-AF65-F5344CB8AC3E}">
        <p14:creationId xmlns:p14="http://schemas.microsoft.com/office/powerpoint/2010/main" val="10591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Size</a:t>
            </a:r>
          </a:p>
        </p:txBody>
      </p:sp>
      <p:sp>
        <p:nvSpPr>
          <p:cNvPr id="3" name="Content Placeholder 2"/>
          <p:cNvSpPr>
            <a:spLocks noGrp="1"/>
          </p:cNvSpPr>
          <p:nvPr>
            <p:ph idx="1"/>
          </p:nvPr>
        </p:nvSpPr>
        <p:spPr>
          <a:xfrm>
            <a:off x="4599296" y="2024547"/>
            <a:ext cx="4168709" cy="4069080"/>
          </a:xfrm>
        </p:spPr>
        <p:txBody>
          <a:bodyPr/>
          <a:lstStyle/>
          <a:p>
            <a:pPr marL="0" indent="0">
              <a:buNone/>
            </a:pPr>
            <a:r>
              <a:rPr lang="en-US" dirty="0"/>
              <a:t>The relative scale of elements in a design</a:t>
            </a:r>
          </a:p>
          <a:p>
            <a:r>
              <a:rPr dirty="0"/>
              <a:t>Establishes hierarchy</a:t>
            </a:r>
          </a:p>
          <a:p>
            <a:r>
              <a:rPr dirty="0"/>
              <a:t>Shows importance</a:t>
            </a:r>
          </a:p>
          <a:p>
            <a:r>
              <a:rPr dirty="0"/>
              <a:t>Creates emphasis</a:t>
            </a:r>
          </a:p>
        </p:txBody>
      </p:sp>
      <p:pic>
        <p:nvPicPr>
          <p:cNvPr id="17410" name="Picture 2">
            <a:extLst>
              <a:ext uri="{FF2B5EF4-FFF2-40B4-BE49-F238E27FC236}">
                <a16:creationId xmlns:a16="http://schemas.microsoft.com/office/drawing/2014/main" id="{B6C85F5B-E778-6B04-AA69-980BFFD025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 y="1297491"/>
            <a:ext cx="3657600" cy="46429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B64C7-47BC-32B2-B082-8653AE528BDB}"/>
              </a:ext>
            </a:extLst>
          </p:cNvPr>
          <p:cNvSpPr>
            <a:spLocks noGrp="1"/>
          </p:cNvSpPr>
          <p:nvPr>
            <p:ph type="title"/>
          </p:nvPr>
        </p:nvSpPr>
        <p:spPr/>
        <p:txBody>
          <a:bodyPr/>
          <a:lstStyle/>
          <a:p>
            <a:r>
              <a:rPr lang="en-CA" dirty="0"/>
              <a:t>Size Creates Meaning</a:t>
            </a:r>
          </a:p>
        </p:txBody>
      </p:sp>
      <p:pic>
        <p:nvPicPr>
          <p:cNvPr id="4" name="Picture 3" descr="Tiny person on giant coffee cup">
            <a:extLst>
              <a:ext uri="{FF2B5EF4-FFF2-40B4-BE49-F238E27FC236}">
                <a16:creationId xmlns:a16="http://schemas.microsoft.com/office/drawing/2014/main" id="{24DFF58B-7C1C-BFE4-9981-AF9F36266CED}"/>
              </a:ext>
            </a:extLst>
          </p:cNvPr>
          <p:cNvPicPr>
            <a:picLocks noChangeAspect="1"/>
          </p:cNvPicPr>
          <p:nvPr/>
        </p:nvPicPr>
        <p:blipFill>
          <a:blip r:embed="rId3"/>
          <a:stretch>
            <a:fillRect/>
          </a:stretch>
        </p:blipFill>
        <p:spPr>
          <a:xfrm>
            <a:off x="594360" y="1641474"/>
            <a:ext cx="3819525" cy="4743450"/>
          </a:xfrm>
          <a:prstGeom prst="rect">
            <a:avLst/>
          </a:prstGeom>
        </p:spPr>
      </p:pic>
      <p:pic>
        <p:nvPicPr>
          <p:cNvPr id="5" name="Picture 4" descr="f you asked me how I'd describe Lapland, I'd probably say this: Huge  landscapes just open up in front of you. You feel really small, and for  some reason the sky just">
            <a:extLst>
              <a:ext uri="{FF2B5EF4-FFF2-40B4-BE49-F238E27FC236}">
                <a16:creationId xmlns:a16="http://schemas.microsoft.com/office/drawing/2014/main" id="{215027A9-F0E1-8D3B-8988-E53707FE0907}"/>
              </a:ext>
            </a:extLst>
          </p:cNvPr>
          <p:cNvPicPr>
            <a:picLocks noChangeAspect="1"/>
          </p:cNvPicPr>
          <p:nvPr/>
        </p:nvPicPr>
        <p:blipFill>
          <a:blip r:embed="rId4"/>
          <a:stretch>
            <a:fillRect/>
          </a:stretch>
        </p:blipFill>
        <p:spPr>
          <a:xfrm>
            <a:off x="4863465" y="1641474"/>
            <a:ext cx="3686175" cy="4914900"/>
          </a:xfrm>
          <a:prstGeom prst="rect">
            <a:avLst/>
          </a:prstGeom>
        </p:spPr>
      </p:pic>
    </p:spTree>
    <p:extLst>
      <p:ext uri="{BB962C8B-B14F-4D97-AF65-F5344CB8AC3E}">
        <p14:creationId xmlns:p14="http://schemas.microsoft.com/office/powerpoint/2010/main" val="2087170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D299C-9112-8465-D1F0-6308E0711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A798C-690E-6CF9-0B37-0E815E3A052A}"/>
              </a:ext>
            </a:extLst>
          </p:cNvPr>
          <p:cNvSpPr>
            <a:spLocks noGrp="1"/>
          </p:cNvSpPr>
          <p:nvPr>
            <p:ph type="title"/>
          </p:nvPr>
        </p:nvSpPr>
        <p:spPr/>
        <p:txBody>
          <a:bodyPr/>
          <a:lstStyle/>
          <a:p>
            <a:r>
              <a:rPr dirty="0"/>
              <a:t>Size</a:t>
            </a:r>
            <a:r>
              <a:rPr lang="en-CA" dirty="0"/>
              <a:t> - Text</a:t>
            </a:r>
            <a:endParaRPr dirty="0"/>
          </a:p>
        </p:txBody>
      </p:sp>
      <p:pic>
        <p:nvPicPr>
          <p:cNvPr id="18434" name="Picture 2" descr="Headline, subhead, and paragraph example">
            <a:extLst>
              <a:ext uri="{FF2B5EF4-FFF2-40B4-BE49-F238E27FC236}">
                <a16:creationId xmlns:a16="http://schemas.microsoft.com/office/drawing/2014/main" id="{83A49624-F323-A9F3-695D-4206BA2CA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33" y="2057401"/>
            <a:ext cx="8571222" cy="337654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DC0CE0A-9CB1-B813-AA48-352E2352A6F1}"/>
              </a:ext>
            </a:extLst>
          </p:cNvPr>
          <p:cNvPicPr>
            <a:picLocks noChangeAspect="1"/>
          </p:cNvPicPr>
          <p:nvPr/>
        </p:nvPicPr>
        <p:blipFill>
          <a:blip r:embed="rId4"/>
          <a:stretch>
            <a:fillRect/>
          </a:stretch>
        </p:blipFill>
        <p:spPr>
          <a:xfrm>
            <a:off x="743114" y="1159784"/>
            <a:ext cx="4078268" cy="5270703"/>
          </a:xfrm>
          <a:prstGeom prst="rect">
            <a:avLst/>
          </a:prstGeom>
        </p:spPr>
      </p:pic>
      <p:pic>
        <p:nvPicPr>
          <p:cNvPr id="12" name="Picture 11">
            <a:extLst>
              <a:ext uri="{FF2B5EF4-FFF2-40B4-BE49-F238E27FC236}">
                <a16:creationId xmlns:a16="http://schemas.microsoft.com/office/drawing/2014/main" id="{0594BCBF-3C46-C740-A538-F1BBA5DED4E6}"/>
              </a:ext>
            </a:extLst>
          </p:cNvPr>
          <p:cNvPicPr>
            <a:picLocks noChangeAspect="1"/>
          </p:cNvPicPr>
          <p:nvPr/>
        </p:nvPicPr>
        <p:blipFill>
          <a:blip r:embed="rId5"/>
          <a:stretch>
            <a:fillRect/>
          </a:stretch>
        </p:blipFill>
        <p:spPr>
          <a:xfrm>
            <a:off x="4986297" y="1615043"/>
            <a:ext cx="3893842" cy="5041075"/>
          </a:xfrm>
          <a:prstGeom prst="rect">
            <a:avLst/>
          </a:prstGeom>
        </p:spPr>
      </p:pic>
    </p:spTree>
    <p:extLst>
      <p:ext uri="{BB962C8B-B14F-4D97-AF65-F5344CB8AC3E}">
        <p14:creationId xmlns:p14="http://schemas.microsoft.com/office/powerpoint/2010/main" val="316465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843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7BFCD-7289-7FD0-0127-4E4A8B152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63D82-B64C-13B6-1444-172F2E2D2E59}"/>
              </a:ext>
            </a:extLst>
          </p:cNvPr>
          <p:cNvSpPr>
            <a:spLocks noGrp="1"/>
          </p:cNvSpPr>
          <p:nvPr>
            <p:ph type="title"/>
          </p:nvPr>
        </p:nvSpPr>
        <p:spPr/>
        <p:txBody>
          <a:bodyPr/>
          <a:lstStyle/>
          <a:p>
            <a:r>
              <a:rPr dirty="0"/>
              <a:t>Size</a:t>
            </a:r>
            <a:r>
              <a:rPr lang="en-CA" dirty="0"/>
              <a:t> - Navigation</a:t>
            </a:r>
            <a:endParaRPr dirty="0"/>
          </a:p>
        </p:txBody>
      </p:sp>
      <p:pic>
        <p:nvPicPr>
          <p:cNvPr id="6" name="Picture 2" descr="hierarcy-exmaple-1">
            <a:extLst>
              <a:ext uri="{FF2B5EF4-FFF2-40B4-BE49-F238E27FC236}">
                <a16:creationId xmlns:a16="http://schemas.microsoft.com/office/drawing/2014/main" id="{BB6038C8-B7DD-62BD-4049-632FA385C5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63" r="50000"/>
          <a:stretch/>
        </p:blipFill>
        <p:spPr bwMode="auto">
          <a:xfrm>
            <a:off x="98945" y="1768454"/>
            <a:ext cx="4255472" cy="456410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ierarcy-exmaple-1">
            <a:extLst>
              <a:ext uri="{FF2B5EF4-FFF2-40B4-BE49-F238E27FC236}">
                <a16:creationId xmlns:a16="http://schemas.microsoft.com/office/drawing/2014/main" id="{B41F416F-F706-49CC-5F0A-8DDBE2EEAC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r="1664"/>
          <a:stretch/>
        </p:blipFill>
        <p:spPr bwMode="auto">
          <a:xfrm>
            <a:off x="4763545" y="1760560"/>
            <a:ext cx="4336056" cy="4564107"/>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517C1189-6B54-4C82-5A0F-B4306FE88097}"/>
              </a:ext>
            </a:extLst>
          </p:cNvPr>
          <p:cNvGrpSpPr/>
          <p:nvPr/>
        </p:nvGrpSpPr>
        <p:grpSpPr>
          <a:xfrm>
            <a:off x="509708" y="1621223"/>
            <a:ext cx="7985488" cy="5118531"/>
            <a:chOff x="509708" y="1621223"/>
            <a:chExt cx="7985488" cy="5118531"/>
          </a:xfrm>
        </p:grpSpPr>
        <p:pic>
          <p:nvPicPr>
            <p:cNvPr id="3" name="Picture 2" descr="See the source image">
              <a:extLst>
                <a:ext uri="{FF2B5EF4-FFF2-40B4-BE49-F238E27FC236}">
                  <a16:creationId xmlns:a16="http://schemas.microsoft.com/office/drawing/2014/main" id="{DDFD16E4-5BA4-B4DA-E65B-5422EE22F0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708" y="1621223"/>
              <a:ext cx="3323984" cy="47034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403C1814-A4C7-D60E-432E-9AF500A39C02}"/>
                </a:ext>
              </a:extLst>
            </p:cNvPr>
            <p:cNvPicPr>
              <a:picLocks noChangeAspect="1"/>
            </p:cNvPicPr>
            <p:nvPr/>
          </p:nvPicPr>
          <p:blipFill>
            <a:blip r:embed="rId5"/>
            <a:stretch>
              <a:fillRect/>
            </a:stretch>
          </p:blipFill>
          <p:spPr>
            <a:xfrm>
              <a:off x="4572000" y="1642314"/>
              <a:ext cx="3923196" cy="5097440"/>
            </a:xfrm>
            <a:prstGeom prst="rect">
              <a:avLst/>
            </a:prstGeom>
          </p:spPr>
        </p:pic>
      </p:grpSp>
    </p:spTree>
    <p:extLst>
      <p:ext uri="{BB962C8B-B14F-4D97-AF65-F5344CB8AC3E}">
        <p14:creationId xmlns:p14="http://schemas.microsoft.com/office/powerpoint/2010/main" val="848942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03432-9944-A803-9645-1CA4D3E75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B368B-B60F-A12D-3951-A8466AF2B7B1}"/>
              </a:ext>
            </a:extLst>
          </p:cNvPr>
          <p:cNvSpPr>
            <a:spLocks noGrp="1"/>
          </p:cNvSpPr>
          <p:nvPr>
            <p:ph type="title"/>
          </p:nvPr>
        </p:nvSpPr>
        <p:spPr/>
        <p:txBody>
          <a:bodyPr/>
          <a:lstStyle/>
          <a:p>
            <a:r>
              <a:rPr dirty="0"/>
              <a:t>Size</a:t>
            </a:r>
            <a:r>
              <a:rPr lang="en-CA" dirty="0"/>
              <a:t> - Imagery</a:t>
            </a:r>
            <a:endParaRPr dirty="0"/>
          </a:p>
        </p:txBody>
      </p:sp>
      <p:sp>
        <p:nvSpPr>
          <p:cNvPr id="6" name="object 4">
            <a:extLst>
              <a:ext uri="{FF2B5EF4-FFF2-40B4-BE49-F238E27FC236}">
                <a16:creationId xmlns:a16="http://schemas.microsoft.com/office/drawing/2014/main" id="{B833DE51-1480-AC4B-668A-3DF270270ECA}"/>
              </a:ext>
            </a:extLst>
          </p:cNvPr>
          <p:cNvSpPr/>
          <p:nvPr/>
        </p:nvSpPr>
        <p:spPr>
          <a:xfrm>
            <a:off x="594360" y="1624225"/>
            <a:ext cx="3455348" cy="4639415"/>
          </a:xfrm>
          <a:prstGeom prst="rect">
            <a:avLst/>
          </a:prstGeom>
          <a:blipFill>
            <a:blip r:embed="rId3" cstate="print"/>
            <a:stretch>
              <a:fillRect/>
            </a:stretch>
          </a:blipFill>
        </p:spPr>
        <p:txBody>
          <a:bodyPr wrap="square" lIns="0" tIns="0" rIns="0" bIns="0" rtlCol="0"/>
          <a:lstStyle/>
          <a:p>
            <a:endParaRPr dirty="0"/>
          </a:p>
        </p:txBody>
      </p:sp>
      <p:pic>
        <p:nvPicPr>
          <p:cNvPr id="16386" name="Picture 2" descr="Why is Apple's Marketing Just So Darn Good?">
            <a:extLst>
              <a:ext uri="{FF2B5EF4-FFF2-40B4-BE49-F238E27FC236}">
                <a16:creationId xmlns:a16="http://schemas.microsoft.com/office/drawing/2014/main" id="{FD91EA99-5E12-DACF-F81B-117C29BB9CFB}"/>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23601" r="8418"/>
          <a:stretch>
            <a:fillRect/>
          </a:stretch>
        </p:blipFill>
        <p:spPr bwMode="auto">
          <a:xfrm>
            <a:off x="4189863" y="2210905"/>
            <a:ext cx="4558352" cy="3450500"/>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a:extLst>
              <a:ext uri="{FF2B5EF4-FFF2-40B4-BE49-F238E27FC236}">
                <a16:creationId xmlns:a16="http://schemas.microsoft.com/office/drawing/2014/main" id="{36CD202A-1B73-4195-5D45-4BDD3BBFF0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209" y="1196595"/>
            <a:ext cx="4057650" cy="5276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8300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Texture</a:t>
            </a:r>
          </a:p>
        </p:txBody>
      </p:sp>
      <p:sp>
        <p:nvSpPr>
          <p:cNvPr id="3" name="Content Placeholder 2"/>
          <p:cNvSpPr>
            <a:spLocks noGrp="1"/>
          </p:cNvSpPr>
          <p:nvPr>
            <p:ph idx="1"/>
          </p:nvPr>
        </p:nvSpPr>
        <p:spPr/>
        <p:txBody>
          <a:bodyPr/>
          <a:lstStyle/>
          <a:p>
            <a:pPr marL="0" indent="0">
              <a:buNone/>
            </a:pPr>
            <a:r>
              <a:rPr lang="en-US" dirty="0"/>
              <a:t>The surface quality of an object, real or implied.</a:t>
            </a:r>
          </a:p>
          <a:p>
            <a:r>
              <a:rPr dirty="0"/>
              <a:t>Visual or tactile quality</a:t>
            </a:r>
          </a:p>
          <a:p>
            <a:r>
              <a:rPr dirty="0"/>
              <a:t>Adds depth</a:t>
            </a:r>
          </a:p>
          <a:p>
            <a:r>
              <a:rPr dirty="0"/>
              <a:t>Creates mood</a:t>
            </a:r>
          </a:p>
        </p:txBody>
      </p:sp>
      <p:pic>
        <p:nvPicPr>
          <p:cNvPr id="20482" name="Picture 2" descr="simulation">
            <a:extLst>
              <a:ext uri="{FF2B5EF4-FFF2-40B4-BE49-F238E27FC236}">
                <a16:creationId xmlns:a16="http://schemas.microsoft.com/office/drawing/2014/main" id="{DE89787E-2E6C-7266-93F8-D62ED15F79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7610" y="3842946"/>
            <a:ext cx="4820640" cy="27102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6E2DE-F1DD-9957-7432-746F485D7C3F}"/>
              </a:ext>
            </a:extLst>
          </p:cNvPr>
          <p:cNvSpPr>
            <a:spLocks noGrp="1"/>
          </p:cNvSpPr>
          <p:nvPr>
            <p:ph type="title"/>
          </p:nvPr>
        </p:nvSpPr>
        <p:spPr/>
        <p:txBody>
          <a:bodyPr/>
          <a:lstStyle/>
          <a:p>
            <a:r>
              <a:rPr lang="en-CA"/>
              <a:t>Texture Creates Experience</a:t>
            </a:r>
            <a:endParaRPr lang="en-CA" dirty="0"/>
          </a:p>
        </p:txBody>
      </p:sp>
      <p:sp>
        <p:nvSpPr>
          <p:cNvPr id="3" name="Content Placeholder 2">
            <a:extLst>
              <a:ext uri="{FF2B5EF4-FFF2-40B4-BE49-F238E27FC236}">
                <a16:creationId xmlns:a16="http://schemas.microsoft.com/office/drawing/2014/main" id="{9E786525-EC6F-D38E-21A0-4EFF158C14E3}"/>
              </a:ext>
            </a:extLst>
          </p:cNvPr>
          <p:cNvSpPr>
            <a:spLocks noGrp="1"/>
          </p:cNvSpPr>
          <p:nvPr>
            <p:ph idx="1"/>
          </p:nvPr>
        </p:nvSpPr>
        <p:spPr>
          <a:xfrm>
            <a:off x="594360" y="2194560"/>
            <a:ext cx="3407360" cy="4069080"/>
          </a:xfrm>
        </p:spPr>
        <p:txBody>
          <a:bodyPr/>
          <a:lstStyle/>
          <a:p>
            <a:r>
              <a:rPr lang="en-US" dirty="0"/>
              <a:t>Adds realism</a:t>
            </a:r>
          </a:p>
          <a:p>
            <a:r>
              <a:rPr lang="en-US" dirty="0"/>
              <a:t>Creates emotional response</a:t>
            </a:r>
          </a:p>
          <a:p>
            <a:r>
              <a:rPr lang="en-US" dirty="0"/>
              <a:t>Increases engagement</a:t>
            </a:r>
          </a:p>
          <a:p>
            <a:r>
              <a:rPr lang="en-US" dirty="0"/>
              <a:t>Strengthens storytelling</a:t>
            </a:r>
            <a:endParaRPr lang="en-CA" dirty="0"/>
          </a:p>
        </p:txBody>
      </p:sp>
      <p:pic>
        <p:nvPicPr>
          <p:cNvPr id="4" name="Picture 3" descr="9 Top Graphic Textures for Handcrafted Look | .png marker, .png marker  graphics, .png marker pack and more | Sickboat Blog blog">
            <a:extLst>
              <a:ext uri="{FF2B5EF4-FFF2-40B4-BE49-F238E27FC236}">
                <a16:creationId xmlns:a16="http://schemas.microsoft.com/office/drawing/2014/main" id="{6A15692E-5E70-9ED5-224E-2A70BB4D1CF6}"/>
              </a:ext>
            </a:extLst>
          </p:cNvPr>
          <p:cNvPicPr>
            <a:picLocks noChangeAspect="1"/>
          </p:cNvPicPr>
          <p:nvPr/>
        </p:nvPicPr>
        <p:blipFill>
          <a:blip r:embed="rId3"/>
          <a:stretch>
            <a:fillRect/>
          </a:stretch>
        </p:blipFill>
        <p:spPr>
          <a:xfrm>
            <a:off x="4001720" y="2580873"/>
            <a:ext cx="4925291" cy="2769984"/>
          </a:xfrm>
          <a:prstGeom prst="rect">
            <a:avLst/>
          </a:prstGeom>
        </p:spPr>
      </p:pic>
    </p:spTree>
    <p:extLst>
      <p:ext uri="{BB962C8B-B14F-4D97-AF65-F5344CB8AC3E}">
        <p14:creationId xmlns:p14="http://schemas.microsoft.com/office/powerpoint/2010/main" val="300142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A0BDF-2046-57F6-2B19-CDD9F4B6FCB4}"/>
              </a:ext>
            </a:extLst>
          </p:cNvPr>
          <p:cNvSpPr>
            <a:spLocks noGrp="1"/>
          </p:cNvSpPr>
          <p:nvPr>
            <p:ph type="title"/>
          </p:nvPr>
        </p:nvSpPr>
        <p:spPr/>
        <p:txBody>
          <a:bodyPr/>
          <a:lstStyle/>
          <a:p>
            <a:r>
              <a:rPr lang="en-CA" dirty="0"/>
              <a:t>Texture and Brand Personality</a:t>
            </a:r>
          </a:p>
        </p:txBody>
      </p:sp>
      <p:graphicFrame>
        <p:nvGraphicFramePr>
          <p:cNvPr id="4" name="Table 3">
            <a:extLst>
              <a:ext uri="{FF2B5EF4-FFF2-40B4-BE49-F238E27FC236}">
                <a16:creationId xmlns:a16="http://schemas.microsoft.com/office/drawing/2014/main" id="{BDBF5887-90BC-0AD0-2E39-966303B13614}"/>
              </a:ext>
            </a:extLst>
          </p:cNvPr>
          <p:cNvGraphicFramePr>
            <a:graphicFrameLocks noGrp="1"/>
          </p:cNvGraphicFramePr>
          <p:nvPr>
            <p:extLst>
              <p:ext uri="{D42A27DB-BD31-4B8C-83A1-F6EECF244321}">
                <p14:modId xmlns:p14="http://schemas.microsoft.com/office/powerpoint/2010/main" val="2613094955"/>
              </p:ext>
            </p:extLst>
          </p:nvPr>
        </p:nvGraphicFramePr>
        <p:xfrm>
          <a:off x="594360" y="2459230"/>
          <a:ext cx="7956550" cy="3389715"/>
        </p:xfrm>
        <a:graphic>
          <a:graphicData uri="http://schemas.openxmlformats.org/drawingml/2006/table">
            <a:tbl>
              <a:tblPr>
                <a:tableStyleId>{5DA37D80-6434-44D0-A028-1B22A696006F}</a:tableStyleId>
              </a:tblPr>
              <a:tblGrid>
                <a:gridCol w="3063240">
                  <a:extLst>
                    <a:ext uri="{9D8B030D-6E8A-4147-A177-3AD203B41FA5}">
                      <a16:colId xmlns:a16="http://schemas.microsoft.com/office/drawing/2014/main" val="863194321"/>
                    </a:ext>
                  </a:extLst>
                </a:gridCol>
                <a:gridCol w="4893310">
                  <a:extLst>
                    <a:ext uri="{9D8B030D-6E8A-4147-A177-3AD203B41FA5}">
                      <a16:colId xmlns:a16="http://schemas.microsoft.com/office/drawing/2014/main" val="2695512885"/>
                    </a:ext>
                  </a:extLst>
                </a:gridCol>
              </a:tblGrid>
              <a:tr h="484245">
                <a:tc>
                  <a:txBody>
                    <a:bodyPr/>
                    <a:lstStyle/>
                    <a:p>
                      <a:pPr>
                        <a:buNone/>
                      </a:pPr>
                      <a:r>
                        <a:rPr lang="en-CA" sz="2000">
                          <a:effectLst/>
                        </a:rPr>
                        <a:t>Texture</a:t>
                      </a:r>
                    </a:p>
                  </a:txBody>
                  <a:tcPr anchor="ctr">
                    <a:solidFill>
                      <a:schemeClr val="accent2">
                        <a:lumMod val="20000"/>
                        <a:lumOff val="80000"/>
                      </a:schemeClr>
                    </a:solidFill>
                  </a:tcPr>
                </a:tc>
                <a:tc>
                  <a:txBody>
                    <a:bodyPr/>
                    <a:lstStyle/>
                    <a:p>
                      <a:pPr>
                        <a:buNone/>
                      </a:pPr>
                      <a:r>
                        <a:rPr lang="en-CA" sz="2000" dirty="0">
                          <a:effectLst/>
                        </a:rPr>
                        <a:t>Message</a:t>
                      </a:r>
                    </a:p>
                  </a:txBody>
                  <a:tcPr anchor="ctr">
                    <a:solidFill>
                      <a:schemeClr val="accent2">
                        <a:lumMod val="20000"/>
                        <a:lumOff val="80000"/>
                      </a:schemeClr>
                    </a:solidFill>
                  </a:tcPr>
                </a:tc>
                <a:extLst>
                  <a:ext uri="{0D108BD9-81ED-4DB2-BD59-A6C34878D82A}">
                    <a16:rowId xmlns:a16="http://schemas.microsoft.com/office/drawing/2014/main" val="4058022224"/>
                  </a:ext>
                </a:extLst>
              </a:tr>
              <a:tr h="484245">
                <a:tc>
                  <a:txBody>
                    <a:bodyPr/>
                    <a:lstStyle/>
                    <a:p>
                      <a:pPr>
                        <a:buNone/>
                      </a:pPr>
                      <a:r>
                        <a:rPr lang="en-CA" sz="2000">
                          <a:effectLst/>
                        </a:rPr>
                        <a:t>Smooth</a:t>
                      </a:r>
                    </a:p>
                  </a:txBody>
                  <a:tcPr anchor="ctr"/>
                </a:tc>
                <a:tc>
                  <a:txBody>
                    <a:bodyPr/>
                    <a:lstStyle/>
                    <a:p>
                      <a:pPr>
                        <a:buNone/>
                      </a:pPr>
                      <a:r>
                        <a:rPr lang="en-CA" sz="2000">
                          <a:effectLst/>
                        </a:rPr>
                        <a:t>Modern, clean</a:t>
                      </a:r>
                    </a:p>
                  </a:txBody>
                  <a:tcPr anchor="ctr"/>
                </a:tc>
                <a:extLst>
                  <a:ext uri="{0D108BD9-81ED-4DB2-BD59-A6C34878D82A}">
                    <a16:rowId xmlns:a16="http://schemas.microsoft.com/office/drawing/2014/main" val="2393596688"/>
                  </a:ext>
                </a:extLst>
              </a:tr>
              <a:tr h="484245">
                <a:tc>
                  <a:txBody>
                    <a:bodyPr/>
                    <a:lstStyle/>
                    <a:p>
                      <a:pPr>
                        <a:buNone/>
                      </a:pPr>
                      <a:r>
                        <a:rPr lang="en-CA" sz="2000" dirty="0">
                          <a:effectLst/>
                        </a:rPr>
                        <a:t>Metallic</a:t>
                      </a:r>
                    </a:p>
                  </a:txBody>
                  <a:tcPr anchor="ctr"/>
                </a:tc>
                <a:tc>
                  <a:txBody>
                    <a:bodyPr/>
                    <a:lstStyle/>
                    <a:p>
                      <a:pPr>
                        <a:buNone/>
                      </a:pPr>
                      <a:r>
                        <a:rPr lang="en-CA" sz="2000">
                          <a:effectLst/>
                        </a:rPr>
                        <a:t>Professional, technological</a:t>
                      </a:r>
                    </a:p>
                  </a:txBody>
                  <a:tcPr anchor="ctr"/>
                </a:tc>
                <a:extLst>
                  <a:ext uri="{0D108BD9-81ED-4DB2-BD59-A6C34878D82A}">
                    <a16:rowId xmlns:a16="http://schemas.microsoft.com/office/drawing/2014/main" val="1667872449"/>
                  </a:ext>
                </a:extLst>
              </a:tr>
              <a:tr h="484245">
                <a:tc>
                  <a:txBody>
                    <a:bodyPr/>
                    <a:lstStyle/>
                    <a:p>
                      <a:pPr>
                        <a:buNone/>
                      </a:pPr>
                      <a:r>
                        <a:rPr lang="en-CA" sz="2000">
                          <a:effectLst/>
                        </a:rPr>
                        <a:t>Wood</a:t>
                      </a:r>
                    </a:p>
                  </a:txBody>
                  <a:tcPr anchor="ctr"/>
                </a:tc>
                <a:tc>
                  <a:txBody>
                    <a:bodyPr/>
                    <a:lstStyle/>
                    <a:p>
                      <a:pPr>
                        <a:buNone/>
                      </a:pPr>
                      <a:r>
                        <a:rPr lang="en-CA" sz="2000">
                          <a:effectLst/>
                        </a:rPr>
                        <a:t>Natural, authentic</a:t>
                      </a:r>
                    </a:p>
                  </a:txBody>
                  <a:tcPr anchor="ctr"/>
                </a:tc>
                <a:extLst>
                  <a:ext uri="{0D108BD9-81ED-4DB2-BD59-A6C34878D82A}">
                    <a16:rowId xmlns:a16="http://schemas.microsoft.com/office/drawing/2014/main" val="975706356"/>
                  </a:ext>
                </a:extLst>
              </a:tr>
              <a:tr h="484245">
                <a:tc>
                  <a:txBody>
                    <a:bodyPr/>
                    <a:lstStyle/>
                    <a:p>
                      <a:pPr>
                        <a:buNone/>
                      </a:pPr>
                      <a:r>
                        <a:rPr lang="en-CA" sz="2000">
                          <a:effectLst/>
                        </a:rPr>
                        <a:t>Fabric</a:t>
                      </a:r>
                    </a:p>
                  </a:txBody>
                  <a:tcPr anchor="ctr"/>
                </a:tc>
                <a:tc>
                  <a:txBody>
                    <a:bodyPr/>
                    <a:lstStyle/>
                    <a:p>
                      <a:pPr>
                        <a:buNone/>
                      </a:pPr>
                      <a:r>
                        <a:rPr lang="en-CA" sz="2000">
                          <a:effectLst/>
                        </a:rPr>
                        <a:t>Comfort, warmth</a:t>
                      </a:r>
                    </a:p>
                  </a:txBody>
                  <a:tcPr anchor="ctr"/>
                </a:tc>
                <a:extLst>
                  <a:ext uri="{0D108BD9-81ED-4DB2-BD59-A6C34878D82A}">
                    <a16:rowId xmlns:a16="http://schemas.microsoft.com/office/drawing/2014/main" val="2909368177"/>
                  </a:ext>
                </a:extLst>
              </a:tr>
              <a:tr h="484245">
                <a:tc>
                  <a:txBody>
                    <a:bodyPr/>
                    <a:lstStyle/>
                    <a:p>
                      <a:pPr>
                        <a:buNone/>
                      </a:pPr>
                      <a:r>
                        <a:rPr lang="en-CA" sz="2000">
                          <a:effectLst/>
                        </a:rPr>
                        <a:t>Stone</a:t>
                      </a:r>
                    </a:p>
                  </a:txBody>
                  <a:tcPr anchor="ctr"/>
                </a:tc>
                <a:tc>
                  <a:txBody>
                    <a:bodyPr/>
                    <a:lstStyle/>
                    <a:p>
                      <a:pPr>
                        <a:buNone/>
                      </a:pPr>
                      <a:r>
                        <a:rPr lang="en-CA" sz="2000">
                          <a:effectLst/>
                        </a:rPr>
                        <a:t>Strength, durability</a:t>
                      </a:r>
                    </a:p>
                  </a:txBody>
                  <a:tcPr anchor="ctr"/>
                </a:tc>
                <a:extLst>
                  <a:ext uri="{0D108BD9-81ED-4DB2-BD59-A6C34878D82A}">
                    <a16:rowId xmlns:a16="http://schemas.microsoft.com/office/drawing/2014/main" val="2762695339"/>
                  </a:ext>
                </a:extLst>
              </a:tr>
              <a:tr h="484245">
                <a:tc>
                  <a:txBody>
                    <a:bodyPr/>
                    <a:lstStyle/>
                    <a:p>
                      <a:pPr>
                        <a:buNone/>
                      </a:pPr>
                      <a:r>
                        <a:rPr lang="en-CA" sz="2000">
                          <a:effectLst/>
                        </a:rPr>
                        <a:t>Hand-drawn textures</a:t>
                      </a:r>
                    </a:p>
                  </a:txBody>
                  <a:tcPr anchor="ctr"/>
                </a:tc>
                <a:tc>
                  <a:txBody>
                    <a:bodyPr/>
                    <a:lstStyle/>
                    <a:p>
                      <a:pPr fontAlgn="t">
                        <a:lnSpc>
                          <a:spcPts val="1500"/>
                        </a:lnSpc>
                        <a:buNone/>
                      </a:pPr>
                      <a:r>
                        <a:rPr lang="en-CA" sz="2000" dirty="0">
                          <a:effectLst/>
                        </a:rPr>
                        <a:t>Creative, personal</a:t>
                      </a:r>
                      <a:endParaRPr lang="en-CA" sz="2000" b="0" i="0" dirty="0">
                        <a:effectLst/>
                        <a:latin typeface="Segoe UI" panose="020B0502040204020203" pitchFamily="34" charset="0"/>
                      </a:endParaRPr>
                    </a:p>
                  </a:txBody>
                  <a:tcPr anchor="ctr"/>
                </a:tc>
                <a:extLst>
                  <a:ext uri="{0D108BD9-81ED-4DB2-BD59-A6C34878D82A}">
                    <a16:rowId xmlns:a16="http://schemas.microsoft.com/office/drawing/2014/main" val="1613994685"/>
                  </a:ext>
                </a:extLst>
              </a:tr>
            </a:tbl>
          </a:graphicData>
        </a:graphic>
      </p:graphicFrame>
    </p:spTree>
    <p:extLst>
      <p:ext uri="{BB962C8B-B14F-4D97-AF65-F5344CB8AC3E}">
        <p14:creationId xmlns:p14="http://schemas.microsoft.com/office/powerpoint/2010/main" val="2109385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C73FA-7C41-CEEE-9DF5-EAD42AD727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958B3-9883-37FC-CFA7-CFF71BAD0183}"/>
              </a:ext>
            </a:extLst>
          </p:cNvPr>
          <p:cNvSpPr>
            <a:spLocks noGrp="1"/>
          </p:cNvSpPr>
          <p:nvPr>
            <p:ph type="title"/>
          </p:nvPr>
        </p:nvSpPr>
        <p:spPr/>
        <p:txBody>
          <a:bodyPr/>
          <a:lstStyle/>
          <a:p>
            <a:r>
              <a:rPr dirty="0"/>
              <a:t>Texture</a:t>
            </a:r>
            <a:r>
              <a:rPr lang="en-CA" dirty="0"/>
              <a:t> - Tactile</a:t>
            </a:r>
            <a:endParaRPr dirty="0"/>
          </a:p>
        </p:txBody>
      </p:sp>
      <p:pic>
        <p:nvPicPr>
          <p:cNvPr id="21506" name="Picture 2" descr="book cover texture">
            <a:extLst>
              <a:ext uri="{FF2B5EF4-FFF2-40B4-BE49-F238E27FC236}">
                <a16:creationId xmlns:a16="http://schemas.microsoft.com/office/drawing/2014/main" id="{E6BE3D20-DAAB-69F5-209F-D75E85382F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8679"/>
          <a:stretch>
            <a:fillRect/>
          </a:stretch>
        </p:blipFill>
        <p:spPr bwMode="auto">
          <a:xfrm>
            <a:off x="679989" y="1802946"/>
            <a:ext cx="3542211" cy="4819650"/>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textured business cards">
            <a:extLst>
              <a:ext uri="{FF2B5EF4-FFF2-40B4-BE49-F238E27FC236}">
                <a16:creationId xmlns:a16="http://schemas.microsoft.com/office/drawing/2014/main" id="{A77A6957-6FE7-71BB-5F5A-B6330A0226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9077" y="4324506"/>
            <a:ext cx="3846863" cy="2162792"/>
          </a:xfrm>
          <a:prstGeom prst="rect">
            <a:avLst/>
          </a:prstGeom>
          <a:noFill/>
          <a:extLst>
            <a:ext uri="{909E8E84-426E-40DD-AFC4-6F175D3DCCD1}">
              <a14:hiddenFill xmlns:a14="http://schemas.microsoft.com/office/drawing/2010/main">
                <a:solidFill>
                  <a:srgbClr val="FFFFFF"/>
                </a:solidFill>
              </a14:hiddenFill>
            </a:ext>
          </a:extLst>
        </p:spPr>
      </p:pic>
      <p:pic>
        <p:nvPicPr>
          <p:cNvPr id="21510" name="Picture 6" descr="wine labels">
            <a:extLst>
              <a:ext uri="{FF2B5EF4-FFF2-40B4-BE49-F238E27FC236}">
                <a16:creationId xmlns:a16="http://schemas.microsoft.com/office/drawing/2014/main" id="{574705BF-F99B-E367-4053-4DBAE6D785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1802" y="1801958"/>
            <a:ext cx="3846863" cy="2162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6938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2FF63-3661-0628-77F6-F5FDCEBD7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66F79-9A62-1E88-1D87-225C4C14BE34}"/>
              </a:ext>
            </a:extLst>
          </p:cNvPr>
          <p:cNvSpPr>
            <a:spLocks noGrp="1"/>
          </p:cNvSpPr>
          <p:nvPr>
            <p:ph type="title"/>
          </p:nvPr>
        </p:nvSpPr>
        <p:spPr/>
        <p:txBody>
          <a:bodyPr/>
          <a:lstStyle/>
          <a:p>
            <a:r>
              <a:rPr dirty="0"/>
              <a:t>Texture</a:t>
            </a:r>
            <a:r>
              <a:rPr lang="en-CA" dirty="0"/>
              <a:t> - implied</a:t>
            </a:r>
            <a:endParaRPr dirty="0"/>
          </a:p>
        </p:txBody>
      </p:sp>
      <p:pic>
        <p:nvPicPr>
          <p:cNvPr id="22530" name="Picture 2" descr="Audubon Magazine's March-April 2016 issue">
            <a:extLst>
              <a:ext uri="{FF2B5EF4-FFF2-40B4-BE49-F238E27FC236}">
                <a16:creationId xmlns:a16="http://schemas.microsoft.com/office/drawing/2014/main" id="{9DCB3736-009B-AACF-892A-F1CA92F0C2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652" y="1883247"/>
            <a:ext cx="4072494" cy="2438972"/>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Face texture">
            <a:extLst>
              <a:ext uri="{FF2B5EF4-FFF2-40B4-BE49-F238E27FC236}">
                <a16:creationId xmlns:a16="http://schemas.microsoft.com/office/drawing/2014/main" id="{8D0F08ED-78ED-0B4B-2996-A7ACC46E70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6504" y="1883247"/>
            <a:ext cx="4072494" cy="2289646"/>
          </a:xfrm>
          <a:prstGeom prst="rect">
            <a:avLst/>
          </a:prstGeom>
          <a:noFill/>
          <a:extLst>
            <a:ext uri="{909E8E84-426E-40DD-AFC4-6F175D3DCCD1}">
              <a14:hiddenFill xmlns:a14="http://schemas.microsoft.com/office/drawing/2010/main">
                <a:solidFill>
                  <a:srgbClr val="FFFFFF"/>
                </a:solidFill>
              </a14:hiddenFill>
            </a:ext>
          </a:extLst>
        </p:spPr>
      </p:pic>
      <p:pic>
        <p:nvPicPr>
          <p:cNvPr id="22534" name="Picture 6">
            <a:extLst>
              <a:ext uri="{FF2B5EF4-FFF2-40B4-BE49-F238E27FC236}">
                <a16:creationId xmlns:a16="http://schemas.microsoft.com/office/drawing/2014/main" id="{182D5C53-5879-7466-A8AC-56777DF4EE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6504" y="4419732"/>
            <a:ext cx="4072494" cy="2289646"/>
          </a:xfrm>
          <a:prstGeom prst="rect">
            <a:avLst/>
          </a:prstGeom>
          <a:noFill/>
          <a:extLst>
            <a:ext uri="{909E8E84-426E-40DD-AFC4-6F175D3DCCD1}">
              <a14:hiddenFill xmlns:a14="http://schemas.microsoft.com/office/drawing/2010/main">
                <a:solidFill>
                  <a:srgbClr val="FFFFFF"/>
                </a:solidFill>
              </a14:hiddenFill>
            </a:ext>
          </a:extLst>
        </p:spPr>
      </p:pic>
      <p:pic>
        <p:nvPicPr>
          <p:cNvPr id="22536" name="Picture 8" descr="overlay">
            <a:extLst>
              <a:ext uri="{FF2B5EF4-FFF2-40B4-BE49-F238E27FC236}">
                <a16:creationId xmlns:a16="http://schemas.microsoft.com/office/drawing/2014/main" id="{7B215107-2A81-42FA-2F06-D4E46613AD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652" y="4419732"/>
            <a:ext cx="4072494" cy="2289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0131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Colour</a:t>
            </a:r>
          </a:p>
        </p:txBody>
      </p:sp>
      <p:sp>
        <p:nvSpPr>
          <p:cNvPr id="3" name="Content Placeholder 2"/>
          <p:cNvSpPr>
            <a:spLocks noGrp="1"/>
          </p:cNvSpPr>
          <p:nvPr>
            <p:ph idx="1"/>
          </p:nvPr>
        </p:nvSpPr>
        <p:spPr>
          <a:xfrm>
            <a:off x="594360" y="2194560"/>
            <a:ext cx="5687687" cy="4069080"/>
          </a:xfrm>
        </p:spPr>
        <p:txBody>
          <a:bodyPr/>
          <a:lstStyle/>
          <a:p>
            <a:pPr marL="0" indent="0">
              <a:buNone/>
            </a:pPr>
            <a:r>
              <a:rPr lang="en-US" dirty="0"/>
              <a:t>The perception of light reflected from surfaces, including hue, value, and saturation.</a:t>
            </a:r>
          </a:p>
          <a:p>
            <a:r>
              <a:rPr dirty="0"/>
              <a:t>Creates mood</a:t>
            </a:r>
          </a:p>
          <a:p>
            <a:r>
              <a:rPr dirty="0"/>
              <a:t>Attracts attention</a:t>
            </a:r>
          </a:p>
          <a:p>
            <a:r>
              <a:rPr dirty="0"/>
              <a:t>Communicates meaning</a:t>
            </a:r>
          </a:p>
        </p:txBody>
      </p:sp>
      <p:pic>
        <p:nvPicPr>
          <p:cNvPr id="25602" name="Picture 2" descr="colour wheel for surface pattern designs">
            <a:extLst>
              <a:ext uri="{FF2B5EF4-FFF2-40B4-BE49-F238E27FC236}">
                <a16:creationId xmlns:a16="http://schemas.microsoft.com/office/drawing/2014/main" id="{057ED7F7-DD26-E4CD-5D92-A2B329D64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673" y="2292060"/>
            <a:ext cx="3609975" cy="3609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83196-103F-8F16-661B-CC5AB3BF8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58044-93C5-F590-F518-65B728E1A650}"/>
              </a:ext>
            </a:extLst>
          </p:cNvPr>
          <p:cNvSpPr>
            <a:spLocks noGrp="1"/>
          </p:cNvSpPr>
          <p:nvPr>
            <p:ph type="title"/>
          </p:nvPr>
        </p:nvSpPr>
        <p:spPr/>
        <p:txBody>
          <a:bodyPr/>
          <a:lstStyle/>
          <a:p>
            <a:r>
              <a:rPr dirty="0"/>
              <a:t>Colour</a:t>
            </a:r>
            <a:r>
              <a:rPr lang="en-CA" dirty="0"/>
              <a:t> - impact</a:t>
            </a:r>
            <a:endParaRPr dirty="0"/>
          </a:p>
        </p:txBody>
      </p:sp>
      <p:sp>
        <p:nvSpPr>
          <p:cNvPr id="5" name="Content Placeholder 4">
            <a:extLst>
              <a:ext uri="{FF2B5EF4-FFF2-40B4-BE49-F238E27FC236}">
                <a16:creationId xmlns:a16="http://schemas.microsoft.com/office/drawing/2014/main" id="{C0475791-BC73-CADD-991A-76F6B9831A6C}"/>
              </a:ext>
            </a:extLst>
          </p:cNvPr>
          <p:cNvSpPr>
            <a:spLocks noGrp="1"/>
          </p:cNvSpPr>
          <p:nvPr>
            <p:ph idx="1"/>
          </p:nvPr>
        </p:nvSpPr>
        <p:spPr/>
        <p:txBody>
          <a:bodyPr/>
          <a:lstStyle/>
          <a:p>
            <a:endParaRPr lang="en-CA"/>
          </a:p>
        </p:txBody>
      </p:sp>
      <p:pic>
        <p:nvPicPr>
          <p:cNvPr id="6" name="Picture 5" descr="Image result for people buy product because">
            <a:extLst>
              <a:ext uri="{FF2B5EF4-FFF2-40B4-BE49-F238E27FC236}">
                <a16:creationId xmlns:a16="http://schemas.microsoft.com/office/drawing/2014/main" id="{04324C31-45F3-5652-B30B-CAB6EFFD41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958" b="7305"/>
          <a:stretch/>
        </p:blipFill>
        <p:spPr bwMode="auto">
          <a:xfrm>
            <a:off x="985651" y="1639436"/>
            <a:ext cx="6833513" cy="496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5389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1811-ABAD-006B-E913-92404ED6A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17A53-74AD-3F10-F125-B31BF6447F27}"/>
              </a:ext>
            </a:extLst>
          </p:cNvPr>
          <p:cNvSpPr>
            <a:spLocks noGrp="1"/>
          </p:cNvSpPr>
          <p:nvPr>
            <p:ph type="title"/>
          </p:nvPr>
        </p:nvSpPr>
        <p:spPr/>
        <p:txBody>
          <a:bodyPr/>
          <a:lstStyle/>
          <a:p>
            <a:r>
              <a:rPr dirty="0"/>
              <a:t>Colour</a:t>
            </a:r>
            <a:r>
              <a:rPr lang="en-CA" dirty="0"/>
              <a:t> - Emotion</a:t>
            </a:r>
            <a:endParaRPr dirty="0"/>
          </a:p>
        </p:txBody>
      </p:sp>
      <p:pic>
        <p:nvPicPr>
          <p:cNvPr id="4" name="Picture 4" descr="Image result for coca cola">
            <a:extLst>
              <a:ext uri="{FF2B5EF4-FFF2-40B4-BE49-F238E27FC236}">
                <a16:creationId xmlns:a16="http://schemas.microsoft.com/office/drawing/2014/main" id="{4E171D45-02E2-B677-B0A5-D9F5FA4FE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716" t="-12067" r="-4868" b="-5537"/>
          <a:stretch>
            <a:fillRect/>
          </a:stretch>
        </p:blipFill>
        <p:spPr bwMode="auto">
          <a:xfrm>
            <a:off x="981075" y="2123952"/>
            <a:ext cx="374332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4" descr="Image result for mcdonalds transparent background">
            <a:extLst>
              <a:ext uri="{FF2B5EF4-FFF2-40B4-BE49-F238E27FC236}">
                <a16:creationId xmlns:a16="http://schemas.microsoft.com/office/drawing/2014/main" id="{61F0158D-DF27-6F8C-24EB-76BD574EE6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3363" y="4221161"/>
            <a:ext cx="2484437"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descr="47+ Thousand Whole Foods Logo Royalty-Free Images, Stock Photos &amp; Pictures  | Shutterstock">
            <a:extLst>
              <a:ext uri="{FF2B5EF4-FFF2-40B4-BE49-F238E27FC236}">
                <a16:creationId xmlns:a16="http://schemas.microsoft.com/office/drawing/2014/main" id="{E0119C55-58B8-BE2C-4E16-965C4CEF76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006" y="3771898"/>
            <a:ext cx="3932270" cy="19282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BMO Canada - Apps on Google Play">
            <a:extLst>
              <a:ext uri="{FF2B5EF4-FFF2-40B4-BE49-F238E27FC236}">
                <a16:creationId xmlns:a16="http://schemas.microsoft.com/office/drawing/2014/main" id="{A4AB809B-1C8E-571E-1C3B-702342357A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2112" y="1980995"/>
            <a:ext cx="1796390" cy="1796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2784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9A20-9C15-2C6A-0BC6-49721D395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12F5E-EB18-7E75-54C7-A79B2B881EAE}"/>
              </a:ext>
            </a:extLst>
          </p:cNvPr>
          <p:cNvSpPr>
            <a:spLocks noGrp="1"/>
          </p:cNvSpPr>
          <p:nvPr>
            <p:ph type="title"/>
          </p:nvPr>
        </p:nvSpPr>
        <p:spPr>
          <a:xfrm>
            <a:off x="2171700" y="547619"/>
            <a:ext cx="6377940" cy="1293028"/>
          </a:xfrm>
        </p:spPr>
        <p:txBody>
          <a:bodyPr/>
          <a:lstStyle/>
          <a:p>
            <a:r>
              <a:rPr dirty="0"/>
              <a:t>Colour</a:t>
            </a:r>
            <a:r>
              <a:rPr lang="en-CA" dirty="0"/>
              <a:t> - unity</a:t>
            </a:r>
            <a:endParaRPr dirty="0"/>
          </a:p>
        </p:txBody>
      </p:sp>
      <p:sp>
        <p:nvSpPr>
          <p:cNvPr id="8" name="AutoShape 6" descr="Whole Foods Market">
            <a:extLst>
              <a:ext uri="{FF2B5EF4-FFF2-40B4-BE49-F238E27FC236}">
                <a16:creationId xmlns:a16="http://schemas.microsoft.com/office/drawing/2014/main" id="{256311CF-AF56-2A0F-547D-057EF097C24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10" name="Picture 9">
            <a:extLst>
              <a:ext uri="{FF2B5EF4-FFF2-40B4-BE49-F238E27FC236}">
                <a16:creationId xmlns:a16="http://schemas.microsoft.com/office/drawing/2014/main" id="{67A52438-4DCD-8C87-7F0C-66D1A8BC29C6}"/>
              </a:ext>
            </a:extLst>
          </p:cNvPr>
          <p:cNvPicPr>
            <a:picLocks noChangeAspect="1"/>
          </p:cNvPicPr>
          <p:nvPr/>
        </p:nvPicPr>
        <p:blipFill>
          <a:blip r:embed="rId3"/>
          <a:stretch>
            <a:fillRect/>
          </a:stretch>
        </p:blipFill>
        <p:spPr>
          <a:xfrm>
            <a:off x="1152525" y="1689017"/>
            <a:ext cx="7143750" cy="4762500"/>
          </a:xfrm>
          <a:prstGeom prst="rect">
            <a:avLst/>
          </a:prstGeom>
        </p:spPr>
      </p:pic>
    </p:spTree>
    <p:extLst>
      <p:ext uri="{BB962C8B-B14F-4D97-AF65-F5344CB8AC3E}">
        <p14:creationId xmlns:p14="http://schemas.microsoft.com/office/powerpoint/2010/main" val="3044958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554C4-2DBF-E9F9-C60A-90EF58660968}"/>
              </a:ext>
            </a:extLst>
          </p:cNvPr>
          <p:cNvSpPr>
            <a:spLocks noGrp="1"/>
          </p:cNvSpPr>
          <p:nvPr>
            <p:ph type="title"/>
          </p:nvPr>
        </p:nvSpPr>
        <p:spPr/>
        <p:txBody>
          <a:bodyPr/>
          <a:lstStyle/>
          <a:p>
            <a:r>
              <a:rPr lang="en-CA" dirty="0"/>
              <a:t>Colour Creates Contrast</a:t>
            </a:r>
          </a:p>
        </p:txBody>
      </p:sp>
      <p:sp>
        <p:nvSpPr>
          <p:cNvPr id="3" name="Content Placeholder 2">
            <a:extLst>
              <a:ext uri="{FF2B5EF4-FFF2-40B4-BE49-F238E27FC236}">
                <a16:creationId xmlns:a16="http://schemas.microsoft.com/office/drawing/2014/main" id="{C6442086-6290-98ED-53F6-AFE44E349BD0}"/>
              </a:ext>
            </a:extLst>
          </p:cNvPr>
          <p:cNvSpPr>
            <a:spLocks noGrp="1"/>
          </p:cNvSpPr>
          <p:nvPr>
            <p:ph sz="half" idx="1"/>
          </p:nvPr>
        </p:nvSpPr>
        <p:spPr/>
        <p:txBody>
          <a:bodyPr/>
          <a:lstStyle/>
          <a:p>
            <a:r>
              <a:rPr lang="en-US" dirty="0"/>
              <a:t>Colour Directs Attention</a:t>
            </a:r>
          </a:p>
          <a:p>
            <a:r>
              <a:rPr lang="en-US" dirty="0"/>
              <a:t>High contrast attracts attention</a:t>
            </a:r>
          </a:p>
          <a:p>
            <a:r>
              <a:rPr lang="en-US" dirty="0"/>
              <a:t>Low contrast creates harmony</a:t>
            </a:r>
          </a:p>
          <a:p>
            <a:r>
              <a:rPr lang="en-US" dirty="0"/>
              <a:t>Contrast improves readability</a:t>
            </a:r>
            <a:endParaRPr lang="en-CA" dirty="0"/>
          </a:p>
        </p:txBody>
      </p:sp>
      <p:sp>
        <p:nvSpPr>
          <p:cNvPr id="7" name="Content Placeholder 6">
            <a:extLst>
              <a:ext uri="{FF2B5EF4-FFF2-40B4-BE49-F238E27FC236}">
                <a16:creationId xmlns:a16="http://schemas.microsoft.com/office/drawing/2014/main" id="{9DB984ED-941E-CED7-6D86-B194E5668D7D}"/>
              </a:ext>
            </a:extLst>
          </p:cNvPr>
          <p:cNvSpPr>
            <a:spLocks noGrp="1"/>
          </p:cNvSpPr>
          <p:nvPr>
            <p:ph sz="half" idx="2"/>
          </p:nvPr>
        </p:nvSpPr>
        <p:spPr/>
        <p:txBody>
          <a:bodyPr/>
          <a:lstStyle/>
          <a:p>
            <a:endParaRPr lang="en-CA"/>
          </a:p>
        </p:txBody>
      </p:sp>
      <p:pic>
        <p:nvPicPr>
          <p:cNvPr id="4" name="Picture 3" descr="Register Now Red Button Stock Illustrations – 2,797 Register Now Red Button  Stock Illustrations, Vectors &amp; Clipart - Dreamstime">
            <a:extLst>
              <a:ext uri="{FF2B5EF4-FFF2-40B4-BE49-F238E27FC236}">
                <a16:creationId xmlns:a16="http://schemas.microsoft.com/office/drawing/2014/main" id="{7EBD1830-FB8E-08A1-2D49-F6AECF826387}"/>
              </a:ext>
            </a:extLst>
          </p:cNvPr>
          <p:cNvPicPr>
            <a:picLocks noChangeAspect="1"/>
          </p:cNvPicPr>
          <p:nvPr/>
        </p:nvPicPr>
        <p:blipFill>
          <a:blip r:embed="rId3"/>
          <a:stretch>
            <a:fillRect/>
          </a:stretch>
        </p:blipFill>
        <p:spPr>
          <a:xfrm>
            <a:off x="4639063" y="2546971"/>
            <a:ext cx="3907540" cy="2608283"/>
          </a:xfrm>
          <a:prstGeom prst="rect">
            <a:avLst/>
          </a:prstGeom>
        </p:spPr>
      </p:pic>
      <p:pic>
        <p:nvPicPr>
          <p:cNvPr id="5" name="Picture 4" descr="A black background with yellow text that says good vibes ...">
            <a:extLst>
              <a:ext uri="{FF2B5EF4-FFF2-40B4-BE49-F238E27FC236}">
                <a16:creationId xmlns:a16="http://schemas.microsoft.com/office/drawing/2014/main" id="{8D2FE6D7-9FFF-3FC2-28F3-9B0F33FE825A}"/>
              </a:ext>
            </a:extLst>
          </p:cNvPr>
          <p:cNvPicPr>
            <a:picLocks noChangeAspect="1"/>
          </p:cNvPicPr>
          <p:nvPr/>
        </p:nvPicPr>
        <p:blipFill>
          <a:blip r:embed="rId4"/>
          <a:stretch>
            <a:fillRect/>
          </a:stretch>
        </p:blipFill>
        <p:spPr>
          <a:xfrm>
            <a:off x="4421167" y="2128960"/>
            <a:ext cx="4343332" cy="4343332"/>
          </a:xfrm>
          <a:prstGeom prst="rect">
            <a:avLst/>
          </a:prstGeom>
        </p:spPr>
      </p:pic>
      <p:pic>
        <p:nvPicPr>
          <p:cNvPr id="6" name="Picture 5" descr="End Of An Era: 7 Best iPod Ad Campaigns Through The Years">
            <a:extLst>
              <a:ext uri="{FF2B5EF4-FFF2-40B4-BE49-F238E27FC236}">
                <a16:creationId xmlns:a16="http://schemas.microsoft.com/office/drawing/2014/main" id="{DFC58B1C-7AB2-E806-DAE6-433A7F4E509A}"/>
              </a:ext>
            </a:extLst>
          </p:cNvPr>
          <p:cNvPicPr>
            <a:picLocks noChangeAspect="1"/>
          </p:cNvPicPr>
          <p:nvPr/>
        </p:nvPicPr>
        <p:blipFill>
          <a:blip r:embed="rId5"/>
          <a:srcRect l="12594" t="14502" r="10545"/>
          <a:stretch>
            <a:fillRect/>
          </a:stretch>
        </p:blipFill>
        <p:spPr>
          <a:xfrm>
            <a:off x="4421167" y="2546971"/>
            <a:ext cx="4468270" cy="2795170"/>
          </a:xfrm>
          <a:prstGeom prst="rect">
            <a:avLst/>
          </a:prstGeom>
        </p:spPr>
      </p:pic>
      <p:pic>
        <p:nvPicPr>
          <p:cNvPr id="8" name="Picture 7" descr="Create a black and white image with one bold color">
            <a:extLst>
              <a:ext uri="{FF2B5EF4-FFF2-40B4-BE49-F238E27FC236}">
                <a16:creationId xmlns:a16="http://schemas.microsoft.com/office/drawing/2014/main" id="{52F63049-7D8A-5FBB-C071-D0D10E70EAA1}"/>
              </a:ext>
            </a:extLst>
          </p:cNvPr>
          <p:cNvPicPr>
            <a:picLocks noChangeAspect="1"/>
          </p:cNvPicPr>
          <p:nvPr/>
        </p:nvPicPr>
        <p:blipFill>
          <a:blip r:embed="rId6"/>
          <a:stretch>
            <a:fillRect/>
          </a:stretch>
        </p:blipFill>
        <p:spPr>
          <a:xfrm>
            <a:off x="5396311" y="2057401"/>
            <a:ext cx="2455324" cy="4502429"/>
          </a:xfrm>
          <a:prstGeom prst="rect">
            <a:avLst/>
          </a:prstGeom>
        </p:spPr>
      </p:pic>
    </p:spTree>
    <p:extLst>
      <p:ext uri="{BB962C8B-B14F-4D97-AF65-F5344CB8AC3E}">
        <p14:creationId xmlns:p14="http://schemas.microsoft.com/office/powerpoint/2010/main" val="103580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0A59E-AF6C-1CED-98F1-C1C5F6E64B48}"/>
              </a:ext>
            </a:extLst>
          </p:cNvPr>
          <p:cNvSpPr>
            <a:spLocks noGrp="1"/>
          </p:cNvSpPr>
          <p:nvPr>
            <p:ph type="title"/>
          </p:nvPr>
        </p:nvSpPr>
        <p:spPr/>
        <p:txBody>
          <a:bodyPr/>
          <a:lstStyle/>
          <a:p>
            <a:r>
              <a:rPr lang="en-CA" dirty="0"/>
              <a:t>Colour Builds Recognition</a:t>
            </a:r>
          </a:p>
        </p:txBody>
      </p:sp>
      <p:pic>
        <p:nvPicPr>
          <p:cNvPr id="5" name="Picture 4" descr="Colors Used By Famous Brands (With Their Codes)">
            <a:extLst>
              <a:ext uri="{FF2B5EF4-FFF2-40B4-BE49-F238E27FC236}">
                <a16:creationId xmlns:a16="http://schemas.microsoft.com/office/drawing/2014/main" id="{6CACEC03-BCC0-04E1-4AAB-A9EDA21B8CD1}"/>
              </a:ext>
            </a:extLst>
          </p:cNvPr>
          <p:cNvPicPr>
            <a:picLocks noChangeAspect="1"/>
          </p:cNvPicPr>
          <p:nvPr/>
        </p:nvPicPr>
        <p:blipFill>
          <a:blip r:embed="rId3"/>
          <a:stretch>
            <a:fillRect/>
          </a:stretch>
        </p:blipFill>
        <p:spPr>
          <a:xfrm>
            <a:off x="834115" y="2264227"/>
            <a:ext cx="7830913" cy="4176487"/>
          </a:xfrm>
          <a:prstGeom prst="rect">
            <a:avLst/>
          </a:prstGeom>
        </p:spPr>
      </p:pic>
      <p:pic>
        <p:nvPicPr>
          <p:cNvPr id="9" name="Picture 8">
            <a:extLst>
              <a:ext uri="{FF2B5EF4-FFF2-40B4-BE49-F238E27FC236}">
                <a16:creationId xmlns:a16="http://schemas.microsoft.com/office/drawing/2014/main" id="{8E628050-0D1A-A71D-92D7-BEE889052E81}"/>
              </a:ext>
            </a:extLst>
          </p:cNvPr>
          <p:cNvPicPr>
            <a:picLocks noChangeAspect="1"/>
          </p:cNvPicPr>
          <p:nvPr/>
        </p:nvPicPr>
        <p:blipFill>
          <a:blip r:embed="rId4"/>
          <a:stretch>
            <a:fillRect/>
          </a:stretch>
        </p:blipFill>
        <p:spPr>
          <a:xfrm>
            <a:off x="906685" y="3690974"/>
            <a:ext cx="7128000" cy="517178"/>
          </a:xfrm>
          <a:prstGeom prst="rect">
            <a:avLst/>
          </a:prstGeom>
        </p:spPr>
      </p:pic>
      <p:pic>
        <p:nvPicPr>
          <p:cNvPr id="11" name="Picture 10">
            <a:extLst>
              <a:ext uri="{FF2B5EF4-FFF2-40B4-BE49-F238E27FC236}">
                <a16:creationId xmlns:a16="http://schemas.microsoft.com/office/drawing/2014/main" id="{393512F0-51B5-4343-8F47-AFD49D82F527}"/>
              </a:ext>
            </a:extLst>
          </p:cNvPr>
          <p:cNvPicPr>
            <a:picLocks noChangeAspect="1"/>
          </p:cNvPicPr>
          <p:nvPr/>
        </p:nvPicPr>
        <p:blipFill>
          <a:blip r:embed="rId5"/>
          <a:stretch>
            <a:fillRect/>
          </a:stretch>
        </p:blipFill>
        <p:spPr>
          <a:xfrm>
            <a:off x="1037311" y="5788788"/>
            <a:ext cx="7092000" cy="584054"/>
          </a:xfrm>
          <a:prstGeom prst="rect">
            <a:avLst/>
          </a:prstGeom>
        </p:spPr>
      </p:pic>
    </p:spTree>
    <p:extLst>
      <p:ext uri="{BB962C8B-B14F-4D97-AF65-F5344CB8AC3E}">
        <p14:creationId xmlns:p14="http://schemas.microsoft.com/office/powerpoint/2010/main" val="338810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50265-2896-D2C4-C7A5-CB2845FF622B}"/>
              </a:ext>
            </a:extLst>
          </p:cNvPr>
          <p:cNvSpPr>
            <a:spLocks noGrp="1"/>
          </p:cNvSpPr>
          <p:nvPr>
            <p:ph type="title"/>
          </p:nvPr>
        </p:nvSpPr>
        <p:spPr/>
        <p:txBody>
          <a:bodyPr/>
          <a:lstStyle/>
          <a:p>
            <a:r>
              <a:rPr lang="en-CA" dirty="0"/>
              <a:t>Colour and Accessibility</a:t>
            </a:r>
          </a:p>
        </p:txBody>
      </p:sp>
      <p:sp>
        <p:nvSpPr>
          <p:cNvPr id="3" name="Content Placeholder 2">
            <a:extLst>
              <a:ext uri="{FF2B5EF4-FFF2-40B4-BE49-F238E27FC236}">
                <a16:creationId xmlns:a16="http://schemas.microsoft.com/office/drawing/2014/main" id="{6809E0A9-A7AD-EC14-D75D-9845180ED510}"/>
              </a:ext>
            </a:extLst>
          </p:cNvPr>
          <p:cNvSpPr>
            <a:spLocks noGrp="1"/>
          </p:cNvSpPr>
          <p:nvPr>
            <p:ph sz="half" idx="1"/>
          </p:nvPr>
        </p:nvSpPr>
        <p:spPr/>
        <p:txBody>
          <a:bodyPr/>
          <a:lstStyle/>
          <a:p>
            <a:r>
              <a:rPr lang="en-US" dirty="0"/>
              <a:t>Never rely on </a:t>
            </a:r>
            <a:r>
              <a:rPr lang="en-US" dirty="0" err="1"/>
              <a:t>colour</a:t>
            </a:r>
            <a:r>
              <a:rPr lang="en-US" dirty="0"/>
              <a:t> alone</a:t>
            </a:r>
          </a:p>
          <a:p>
            <a:r>
              <a:rPr lang="en-US" dirty="0"/>
              <a:t>Consider </a:t>
            </a:r>
            <a:r>
              <a:rPr lang="en-US" dirty="0" err="1"/>
              <a:t>colour</a:t>
            </a:r>
            <a:r>
              <a:rPr lang="en-US" dirty="0"/>
              <a:t> blindness</a:t>
            </a:r>
          </a:p>
          <a:p>
            <a:r>
              <a:rPr lang="en-US" dirty="0"/>
              <a:t>Ensure sufficient contrast</a:t>
            </a:r>
          </a:p>
          <a:p>
            <a:r>
              <a:rPr lang="en-US" dirty="0"/>
              <a:t>Support readability</a:t>
            </a:r>
            <a:endParaRPr lang="en-CA" dirty="0"/>
          </a:p>
        </p:txBody>
      </p:sp>
      <p:pic>
        <p:nvPicPr>
          <p:cNvPr id="5" name="Content Placeholder 4" descr="Color blindness chart example">
            <a:extLst>
              <a:ext uri="{FF2B5EF4-FFF2-40B4-BE49-F238E27FC236}">
                <a16:creationId xmlns:a16="http://schemas.microsoft.com/office/drawing/2014/main" id="{25EC1454-C7AF-560D-BF43-3F235DB93A82}"/>
              </a:ext>
            </a:extLst>
          </p:cNvPr>
          <p:cNvPicPr>
            <a:picLocks noGrp="1" noChangeAspect="1"/>
          </p:cNvPicPr>
          <p:nvPr>
            <p:ph sz="half" idx="2"/>
          </p:nvPr>
        </p:nvPicPr>
        <p:blipFill>
          <a:blip r:embed="rId3"/>
          <a:stretch>
            <a:fillRect/>
          </a:stretch>
        </p:blipFill>
        <p:spPr>
          <a:xfrm>
            <a:off x="4641850" y="2274887"/>
            <a:ext cx="3908425" cy="3908425"/>
          </a:xfrm>
          <a:prstGeom prst="rect">
            <a:avLst/>
          </a:prstGeom>
        </p:spPr>
      </p:pic>
    </p:spTree>
    <p:extLst>
      <p:ext uri="{BB962C8B-B14F-4D97-AF65-F5344CB8AC3E}">
        <p14:creationId xmlns:p14="http://schemas.microsoft.com/office/powerpoint/2010/main" val="4079752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E418-9703-935C-7CCE-0279A1D89661}"/>
              </a:ext>
            </a:extLst>
          </p:cNvPr>
          <p:cNvSpPr>
            <a:spLocks noGrp="1"/>
          </p:cNvSpPr>
          <p:nvPr>
            <p:ph type="title"/>
          </p:nvPr>
        </p:nvSpPr>
        <p:spPr/>
        <p:txBody>
          <a:bodyPr/>
          <a:lstStyle/>
          <a:p>
            <a:r>
              <a:rPr lang="en-CA" dirty="0"/>
              <a:t>Elements We Learned Today</a:t>
            </a:r>
          </a:p>
        </p:txBody>
      </p:sp>
      <p:sp>
        <p:nvSpPr>
          <p:cNvPr id="3" name="Content Placeholder 2">
            <a:extLst>
              <a:ext uri="{FF2B5EF4-FFF2-40B4-BE49-F238E27FC236}">
                <a16:creationId xmlns:a16="http://schemas.microsoft.com/office/drawing/2014/main" id="{D9D63DED-6D34-F887-BAD6-AF833E4D4895}"/>
              </a:ext>
            </a:extLst>
          </p:cNvPr>
          <p:cNvSpPr>
            <a:spLocks noGrp="1"/>
          </p:cNvSpPr>
          <p:nvPr>
            <p:ph idx="1"/>
          </p:nvPr>
        </p:nvSpPr>
        <p:spPr/>
        <p:txBody>
          <a:bodyPr/>
          <a:lstStyle/>
          <a:p>
            <a:pPr marL="0" indent="0">
              <a:buNone/>
            </a:pPr>
            <a:r>
              <a:rPr lang="en-US" dirty="0"/>
              <a:t>Size</a:t>
            </a:r>
          </a:p>
          <a:p>
            <a:r>
              <a:rPr lang="en-US" dirty="0"/>
              <a:t>Creates hierarchy and emphasis</a:t>
            </a:r>
          </a:p>
          <a:p>
            <a:pPr marL="0" indent="0">
              <a:buNone/>
            </a:pPr>
            <a:r>
              <a:rPr lang="en-US" dirty="0"/>
              <a:t>Texture</a:t>
            </a:r>
          </a:p>
          <a:p>
            <a:r>
              <a:rPr lang="en-US" dirty="0"/>
              <a:t>Creates experience and depth</a:t>
            </a:r>
          </a:p>
          <a:p>
            <a:pPr marL="0" indent="0">
              <a:buNone/>
            </a:pPr>
            <a:r>
              <a:rPr lang="en-US" dirty="0"/>
              <a:t>Colour</a:t>
            </a:r>
          </a:p>
          <a:p>
            <a:r>
              <a:rPr lang="en-US" dirty="0"/>
              <a:t>Creates attention, emotion, and meaning</a:t>
            </a:r>
            <a:endParaRPr lang="en-CA" dirty="0"/>
          </a:p>
        </p:txBody>
      </p:sp>
    </p:spTree>
    <p:extLst>
      <p:ext uri="{BB962C8B-B14F-4D97-AF65-F5344CB8AC3E}">
        <p14:creationId xmlns:p14="http://schemas.microsoft.com/office/powerpoint/2010/main" val="3765045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D147-C4C3-489A-939E-AEDE838DC6E3}"/>
              </a:ext>
            </a:extLst>
          </p:cNvPr>
          <p:cNvSpPr>
            <a:spLocks noGrp="1"/>
          </p:cNvSpPr>
          <p:nvPr>
            <p:ph type="title"/>
          </p:nvPr>
        </p:nvSpPr>
        <p:spPr/>
        <p:txBody>
          <a:bodyPr/>
          <a:lstStyle/>
          <a:p>
            <a:r>
              <a:rPr lang="en-CA" dirty="0"/>
              <a:t>Elements We Learned Last Class</a:t>
            </a:r>
          </a:p>
        </p:txBody>
      </p:sp>
      <p:sp>
        <p:nvSpPr>
          <p:cNvPr id="3" name="Content Placeholder 2">
            <a:extLst>
              <a:ext uri="{FF2B5EF4-FFF2-40B4-BE49-F238E27FC236}">
                <a16:creationId xmlns:a16="http://schemas.microsoft.com/office/drawing/2014/main" id="{D23C6A5B-47E3-065F-81E4-908C2C8DB26E}"/>
              </a:ext>
            </a:extLst>
          </p:cNvPr>
          <p:cNvSpPr>
            <a:spLocks noGrp="1"/>
          </p:cNvSpPr>
          <p:nvPr>
            <p:ph idx="1"/>
          </p:nvPr>
        </p:nvSpPr>
        <p:spPr/>
        <p:txBody>
          <a:bodyPr>
            <a:normAutofit lnSpcReduction="10000"/>
          </a:bodyPr>
          <a:lstStyle/>
          <a:p>
            <a:pPr marL="0" indent="0">
              <a:buNone/>
            </a:pPr>
            <a:r>
              <a:rPr lang="en-US" dirty="0"/>
              <a:t>Line</a:t>
            </a:r>
          </a:p>
          <a:p>
            <a:r>
              <a:rPr lang="en-US" dirty="0"/>
              <a:t>Creates movement, structure, and visual pathways.</a:t>
            </a:r>
          </a:p>
          <a:p>
            <a:pPr marL="0" indent="0">
              <a:buNone/>
            </a:pPr>
            <a:r>
              <a:rPr lang="en-US" dirty="0"/>
              <a:t>Shape</a:t>
            </a:r>
          </a:p>
          <a:p>
            <a:r>
              <a:rPr lang="en-US" dirty="0"/>
              <a:t>Creates meaning, organization, and recognition.</a:t>
            </a:r>
          </a:p>
          <a:p>
            <a:pPr marL="0" indent="0">
              <a:buNone/>
            </a:pPr>
            <a:r>
              <a:rPr lang="en-US"/>
              <a:t>Direction</a:t>
            </a:r>
          </a:p>
          <a:p>
            <a:r>
              <a:rPr lang="en-US" dirty="0"/>
              <a:t>Guides the viewer's eye and influences how information is experienced.</a:t>
            </a:r>
            <a:endParaRPr lang="en-CA" dirty="0"/>
          </a:p>
        </p:txBody>
      </p:sp>
    </p:spTree>
    <p:extLst>
      <p:ext uri="{BB962C8B-B14F-4D97-AF65-F5344CB8AC3E}">
        <p14:creationId xmlns:p14="http://schemas.microsoft.com/office/powerpoint/2010/main" val="20254854"/>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1920</TotalTime>
  <Words>2290</Words>
  <Application>Microsoft Office PowerPoint</Application>
  <PresentationFormat>On-screen Show (4:3)</PresentationFormat>
  <Paragraphs>359</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Century Gothic</vt:lpstr>
      <vt:lpstr>Segoe UI</vt:lpstr>
      <vt:lpstr>Vapor Trail</vt:lpstr>
      <vt:lpstr>The DNA of Design</vt:lpstr>
      <vt:lpstr>Elements of Design</vt:lpstr>
      <vt:lpstr>Scale &amp; Proportion</vt:lpstr>
      <vt:lpstr>Size</vt:lpstr>
      <vt:lpstr>Size Creates Meaning</vt:lpstr>
      <vt:lpstr>Size - Text</vt:lpstr>
      <vt:lpstr>Size - Navigation</vt:lpstr>
      <vt:lpstr>Size - Imagery</vt:lpstr>
      <vt:lpstr>Texture</vt:lpstr>
      <vt:lpstr>Texture Creates Experience</vt:lpstr>
      <vt:lpstr>Texture and Brand Personality</vt:lpstr>
      <vt:lpstr>Texture - Tactile</vt:lpstr>
      <vt:lpstr>Texture - implied</vt:lpstr>
      <vt:lpstr>Colour</vt:lpstr>
      <vt:lpstr>Colour - impact</vt:lpstr>
      <vt:lpstr>Colour - Emotion</vt:lpstr>
      <vt:lpstr>Colour - unity</vt:lpstr>
      <vt:lpstr>Colour Creates Contrast</vt:lpstr>
      <vt:lpstr>Colour Builds Recognition</vt:lpstr>
      <vt:lpstr>Colour and Accessibility</vt:lpstr>
      <vt:lpstr>Elements We Learned Today</vt:lpstr>
      <vt:lpstr>Elements We Learned Last Class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Croney, Aynslie (NBCC)</cp:lastModifiedBy>
  <cp:revision>3</cp:revision>
  <cp:lastPrinted>2025-09-08T15:59:49Z</cp:lastPrinted>
  <dcterms:created xsi:type="dcterms:W3CDTF">2013-01-27T09:14:16Z</dcterms:created>
  <dcterms:modified xsi:type="dcterms:W3CDTF">2026-09-22T13:22:08Z</dcterms:modified>
  <cp:category/>
</cp:coreProperties>
</file>