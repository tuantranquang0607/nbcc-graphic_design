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27"/>
  </p:notesMasterIdLst>
  <p:sldIdLst>
    <p:sldId id="256" r:id="rId2"/>
    <p:sldId id="257" r:id="rId3"/>
    <p:sldId id="268" r:id="rId4"/>
    <p:sldId id="266" r:id="rId5"/>
    <p:sldId id="267" r:id="rId6"/>
    <p:sldId id="258" r:id="rId7"/>
    <p:sldId id="259" r:id="rId8"/>
    <p:sldId id="269" r:id="rId9"/>
    <p:sldId id="270" r:id="rId10"/>
    <p:sldId id="271" r:id="rId11"/>
    <p:sldId id="272" r:id="rId12"/>
    <p:sldId id="260" r:id="rId13"/>
    <p:sldId id="274" r:id="rId14"/>
    <p:sldId id="275" r:id="rId15"/>
    <p:sldId id="276" r:id="rId16"/>
    <p:sldId id="277" r:id="rId17"/>
    <p:sldId id="278" r:id="rId18"/>
    <p:sldId id="279" r:id="rId19"/>
    <p:sldId id="273" r:id="rId20"/>
    <p:sldId id="261" r:id="rId21"/>
    <p:sldId id="280" r:id="rId22"/>
    <p:sldId id="282" r:id="rId23"/>
    <p:sldId id="281" r:id="rId24"/>
    <p:sldId id="283" r:id="rId25"/>
    <p:sldId id="284" r:id="rId26"/>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FA861E-7537-4FDA-A96C-64EC4E1DE706}" v="30" dt="2026-09-16T13:01:47.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MasterView">
  <p:normalViewPr>
    <p:restoredLeft sz="34587" autoAdjust="0"/>
    <p:restoredTop sz="49879" autoAdjust="0"/>
  </p:normalViewPr>
  <p:slideViewPr>
    <p:cSldViewPr snapToGrid="0" snapToObjects="1">
      <p:cViewPr varScale="1">
        <p:scale>
          <a:sx n="51" d="100"/>
          <a:sy n="51" d="100"/>
        </p:scale>
        <p:origin x="2214" y="78"/>
      </p:cViewPr>
      <p:guideLst>
        <p:guide orient="horz" pos="2160"/>
        <p:guide pos="2880"/>
      </p:guideLst>
    </p:cSldViewPr>
  </p:slideViewPr>
  <p:outlineViewPr>
    <p:cViewPr>
      <p:scale>
        <a:sx n="33" d="100"/>
        <a:sy n="33" d="100"/>
      </p:scale>
      <p:origin x="0" y="-72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80" d="100"/>
          <a:sy n="80" d="100"/>
        </p:scale>
        <p:origin x="388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undo custSel addSld delSld modSld sldOrd modNotesMaster">
      <pc:chgData name="Croney, Aynslie (NBCC)" userId="5b4b8641-5be5-4a22-b80a-b2335657ba3c" providerId="ADAL" clId="{37570E6E-2003-4D91-B5AC-B452EC7E0FA7}" dt="2026-09-16T13:02:00.354" v="345" actId="1076"/>
      <pc:docMkLst>
        <pc:docMk/>
      </pc:docMkLst>
      <pc:sldChg chg="modSp mod modAnim modNotesTx">
        <pc:chgData name="Croney, Aynslie (NBCC)" userId="5b4b8641-5be5-4a22-b80a-b2335657ba3c" providerId="ADAL" clId="{37570E6E-2003-4D91-B5AC-B452EC7E0FA7}" dt="2026-09-16T12:31:32.545" v="24"/>
        <pc:sldMkLst>
          <pc:docMk/>
          <pc:sldMk cId="0" sldId="256"/>
        </pc:sldMkLst>
        <pc:spChg chg="mod">
          <ac:chgData name="Croney, Aynslie (NBCC)" userId="5b4b8641-5be5-4a22-b80a-b2335657ba3c" providerId="ADAL" clId="{37570E6E-2003-4D91-B5AC-B452EC7E0FA7}" dt="2026-09-16T12:25:03.448" v="5" actId="20577"/>
          <ac:spMkLst>
            <pc:docMk/>
            <pc:sldMk cId="0" sldId="256"/>
            <ac:spMk id="2" creationId="{00000000-0000-0000-0000-000000000000}"/>
          </ac:spMkLst>
        </pc:spChg>
        <pc:spChg chg="mod">
          <ac:chgData name="Croney, Aynslie (NBCC)" userId="5b4b8641-5be5-4a22-b80a-b2335657ba3c" providerId="ADAL" clId="{37570E6E-2003-4D91-B5AC-B452EC7E0FA7}" dt="2026-09-16T12:31:32.545" v="24"/>
          <ac:spMkLst>
            <pc:docMk/>
            <pc:sldMk cId="0" sldId="256"/>
            <ac:spMk id="3" creationId="{00000000-0000-0000-0000-000000000000}"/>
          </ac:spMkLst>
        </pc:spChg>
      </pc:sldChg>
      <pc:sldChg chg="modNotesTx">
        <pc:chgData name="Croney, Aynslie (NBCC)" userId="5b4b8641-5be5-4a22-b80a-b2335657ba3c" providerId="ADAL" clId="{37570E6E-2003-4D91-B5AC-B452EC7E0FA7}" dt="2026-09-16T12:32:10.485" v="40" actId="12"/>
        <pc:sldMkLst>
          <pc:docMk/>
          <pc:sldMk cId="0" sldId="257"/>
        </pc:sldMkLst>
      </pc:sldChg>
      <pc:sldChg chg="modSp modAnim modNotesTx">
        <pc:chgData name="Croney, Aynslie (NBCC)" userId="5b4b8641-5be5-4a22-b80a-b2335657ba3c" providerId="ADAL" clId="{37570E6E-2003-4D91-B5AC-B452EC7E0FA7}" dt="2026-09-16T12:39:41.826" v="158" actId="20577"/>
        <pc:sldMkLst>
          <pc:docMk/>
          <pc:sldMk cId="0" sldId="258"/>
        </pc:sldMkLst>
        <pc:spChg chg="mod">
          <ac:chgData name="Croney, Aynslie (NBCC)" userId="5b4b8641-5be5-4a22-b80a-b2335657ba3c" providerId="ADAL" clId="{37570E6E-2003-4D91-B5AC-B452EC7E0FA7}" dt="2026-09-16T12:29:05.011" v="8" actId="113"/>
          <ac:spMkLst>
            <pc:docMk/>
            <pc:sldMk cId="0" sldId="258"/>
            <ac:spMk id="3" creationId="{00000000-0000-0000-0000-000000000000}"/>
          </ac:spMkLst>
        </pc:spChg>
      </pc:sldChg>
      <pc:sldChg chg="modNotesTx">
        <pc:chgData name="Croney, Aynslie (NBCC)" userId="5b4b8641-5be5-4a22-b80a-b2335657ba3c" providerId="ADAL" clId="{37570E6E-2003-4D91-B5AC-B452EC7E0FA7}" dt="2026-09-16T12:40:03.348" v="160" actId="6549"/>
        <pc:sldMkLst>
          <pc:docMk/>
          <pc:sldMk cId="0" sldId="259"/>
        </pc:sldMkLst>
      </pc:sldChg>
      <pc:sldChg chg="modNotesTx">
        <pc:chgData name="Croney, Aynslie (NBCC)" userId="5b4b8641-5be5-4a22-b80a-b2335657ba3c" providerId="ADAL" clId="{37570E6E-2003-4D91-B5AC-B452EC7E0FA7}" dt="2026-09-16T12:42:17.308" v="215" actId="20577"/>
        <pc:sldMkLst>
          <pc:docMk/>
          <pc:sldMk cId="0" sldId="260"/>
        </pc:sldMkLst>
      </pc:sldChg>
      <pc:sldChg chg="del">
        <pc:chgData name="Croney, Aynslie (NBCC)" userId="5b4b8641-5be5-4a22-b80a-b2335657ba3c" providerId="ADAL" clId="{37570E6E-2003-4D91-B5AC-B452EC7E0FA7}" dt="2026-09-16T12:28:48.945" v="7" actId="47"/>
        <pc:sldMkLst>
          <pc:docMk/>
          <pc:sldMk cId="0" sldId="262"/>
        </pc:sldMkLst>
      </pc:sldChg>
      <pc:sldChg chg="del">
        <pc:chgData name="Croney, Aynslie (NBCC)" userId="5b4b8641-5be5-4a22-b80a-b2335657ba3c" providerId="ADAL" clId="{37570E6E-2003-4D91-B5AC-B452EC7E0FA7}" dt="2026-09-16T12:28:48.945" v="7" actId="47"/>
        <pc:sldMkLst>
          <pc:docMk/>
          <pc:sldMk cId="0" sldId="263"/>
        </pc:sldMkLst>
      </pc:sldChg>
      <pc:sldChg chg="del">
        <pc:chgData name="Croney, Aynslie (NBCC)" userId="5b4b8641-5be5-4a22-b80a-b2335657ba3c" providerId="ADAL" clId="{37570E6E-2003-4D91-B5AC-B452EC7E0FA7}" dt="2026-09-16T12:28:48.945" v="7" actId="47"/>
        <pc:sldMkLst>
          <pc:docMk/>
          <pc:sldMk cId="0" sldId="264"/>
        </pc:sldMkLst>
      </pc:sldChg>
      <pc:sldChg chg="del">
        <pc:chgData name="Croney, Aynslie (NBCC)" userId="5b4b8641-5be5-4a22-b80a-b2335657ba3c" providerId="ADAL" clId="{37570E6E-2003-4D91-B5AC-B452EC7E0FA7}" dt="2026-09-16T12:28:48.945" v="7" actId="47"/>
        <pc:sldMkLst>
          <pc:docMk/>
          <pc:sldMk cId="0" sldId="265"/>
        </pc:sldMkLst>
      </pc:sldChg>
      <pc:sldChg chg="modNotesTx">
        <pc:chgData name="Croney, Aynslie (NBCC)" userId="5b4b8641-5be5-4a22-b80a-b2335657ba3c" providerId="ADAL" clId="{37570E6E-2003-4D91-B5AC-B452EC7E0FA7}" dt="2026-09-16T12:38:40.493" v="123" actId="20577"/>
        <pc:sldMkLst>
          <pc:docMk/>
          <pc:sldMk cId="1441284513" sldId="266"/>
        </pc:sldMkLst>
      </pc:sldChg>
      <pc:sldChg chg="modNotesTx">
        <pc:chgData name="Croney, Aynslie (NBCC)" userId="5b4b8641-5be5-4a22-b80a-b2335657ba3c" providerId="ADAL" clId="{37570E6E-2003-4D91-B5AC-B452EC7E0FA7}" dt="2026-09-16T12:39:12.117" v="127" actId="20577"/>
        <pc:sldMkLst>
          <pc:docMk/>
          <pc:sldMk cId="2560010965" sldId="267"/>
        </pc:sldMkLst>
      </pc:sldChg>
      <pc:sldChg chg="addSp delSp modSp mod ord delAnim modAnim modNotesTx">
        <pc:chgData name="Croney, Aynslie (NBCC)" userId="5b4b8641-5be5-4a22-b80a-b2335657ba3c" providerId="ADAL" clId="{37570E6E-2003-4D91-B5AC-B452EC7E0FA7}" dt="2026-09-16T12:37:51.302" v="95" actId="1076"/>
        <pc:sldMkLst>
          <pc:docMk/>
          <pc:sldMk cId="2908724844" sldId="268"/>
        </pc:sldMkLst>
        <pc:spChg chg="del">
          <ac:chgData name="Croney, Aynslie (NBCC)" userId="5b4b8641-5be5-4a22-b80a-b2335657ba3c" providerId="ADAL" clId="{37570E6E-2003-4D91-B5AC-B452EC7E0FA7}" dt="2026-09-16T12:32:40.587" v="45" actId="478"/>
          <ac:spMkLst>
            <pc:docMk/>
            <pc:sldMk cId="2908724844" sldId="268"/>
            <ac:spMk id="6" creationId="{2FCF720B-2D4E-07F7-E5BD-05E156795D31}"/>
          </ac:spMkLst>
        </pc:spChg>
        <pc:picChg chg="mod">
          <ac:chgData name="Croney, Aynslie (NBCC)" userId="5b4b8641-5be5-4a22-b80a-b2335657ba3c" providerId="ADAL" clId="{37570E6E-2003-4D91-B5AC-B452EC7E0FA7}" dt="2026-09-16T12:37:51.302" v="95" actId="1076"/>
          <ac:picMkLst>
            <pc:docMk/>
            <pc:sldMk cId="2908724844" sldId="268"/>
            <ac:picMk id="5" creationId="{F97BB9C8-860D-9A82-38E1-722378E4A36C}"/>
          </ac:picMkLst>
        </pc:picChg>
        <pc:picChg chg="add del">
          <ac:chgData name="Croney, Aynslie (NBCC)" userId="5b4b8641-5be5-4a22-b80a-b2335657ba3c" providerId="ADAL" clId="{37570E6E-2003-4D91-B5AC-B452EC7E0FA7}" dt="2026-09-16T12:32:49.869" v="47" actId="22"/>
          <ac:picMkLst>
            <pc:docMk/>
            <pc:sldMk cId="2908724844" sldId="268"/>
            <ac:picMk id="7" creationId="{B7D8B3F2-6BAA-4C7B-CA55-782F702EA740}"/>
          </ac:picMkLst>
        </pc:picChg>
        <pc:picChg chg="add del mod">
          <ac:chgData name="Croney, Aynslie (NBCC)" userId="5b4b8641-5be5-4a22-b80a-b2335657ba3c" providerId="ADAL" clId="{37570E6E-2003-4D91-B5AC-B452EC7E0FA7}" dt="2026-09-16T12:37:45.063" v="94" actId="478"/>
          <ac:picMkLst>
            <pc:docMk/>
            <pc:sldMk cId="2908724844" sldId="268"/>
            <ac:picMk id="9" creationId="{52A8B42F-2837-2A0F-73C4-F5A197DF41D9}"/>
          </ac:picMkLst>
        </pc:picChg>
      </pc:sldChg>
      <pc:sldChg chg="modAnim">
        <pc:chgData name="Croney, Aynslie (NBCC)" userId="5b4b8641-5be5-4a22-b80a-b2335657ba3c" providerId="ADAL" clId="{37570E6E-2003-4D91-B5AC-B452EC7E0FA7}" dt="2026-09-16T12:40:36.877" v="162"/>
        <pc:sldMkLst>
          <pc:docMk/>
          <pc:sldMk cId="4047831292" sldId="271"/>
        </pc:sldMkLst>
      </pc:sldChg>
      <pc:sldChg chg="modNotesTx">
        <pc:chgData name="Croney, Aynslie (NBCC)" userId="5b4b8641-5be5-4a22-b80a-b2335657ba3c" providerId="ADAL" clId="{37570E6E-2003-4D91-B5AC-B452EC7E0FA7}" dt="2026-09-16T12:40:59.501" v="212" actId="20577"/>
        <pc:sldMkLst>
          <pc:docMk/>
          <pc:sldMk cId="1842655429" sldId="272"/>
        </pc:sldMkLst>
      </pc:sldChg>
      <pc:sldChg chg="modNotesTx">
        <pc:chgData name="Croney, Aynslie (NBCC)" userId="5b4b8641-5be5-4a22-b80a-b2335657ba3c" providerId="ADAL" clId="{37570E6E-2003-4D91-B5AC-B452EC7E0FA7}" dt="2026-09-16T12:47:09.115" v="260" actId="20577"/>
        <pc:sldMkLst>
          <pc:docMk/>
          <pc:sldMk cId="1092789072" sldId="273"/>
        </pc:sldMkLst>
      </pc:sldChg>
      <pc:sldChg chg="modNotesTx">
        <pc:chgData name="Croney, Aynslie (NBCC)" userId="5b4b8641-5be5-4a22-b80a-b2335657ba3c" providerId="ADAL" clId="{37570E6E-2003-4D91-B5AC-B452EC7E0FA7}" dt="2026-09-16T12:46:38.122" v="258" actId="20577"/>
        <pc:sldMkLst>
          <pc:docMk/>
          <pc:sldMk cId="3811216200" sldId="275"/>
        </pc:sldMkLst>
      </pc:sldChg>
      <pc:sldChg chg="modNotesTx">
        <pc:chgData name="Croney, Aynslie (NBCC)" userId="5b4b8641-5be5-4a22-b80a-b2335657ba3c" providerId="ADAL" clId="{37570E6E-2003-4D91-B5AC-B452EC7E0FA7}" dt="2026-09-16T12:43:26.371" v="218" actId="12"/>
        <pc:sldMkLst>
          <pc:docMk/>
          <pc:sldMk cId="623582595" sldId="276"/>
        </pc:sldMkLst>
      </pc:sldChg>
      <pc:sldChg chg="modSp mod modNotesTx">
        <pc:chgData name="Croney, Aynslie (NBCC)" userId="5b4b8641-5be5-4a22-b80a-b2335657ba3c" providerId="ADAL" clId="{37570E6E-2003-4D91-B5AC-B452EC7E0FA7}" dt="2026-09-16T12:46:16.922" v="255" actId="1076"/>
        <pc:sldMkLst>
          <pc:docMk/>
          <pc:sldMk cId="2140173482" sldId="277"/>
        </pc:sldMkLst>
        <pc:spChg chg="mod">
          <ac:chgData name="Croney, Aynslie (NBCC)" userId="5b4b8641-5be5-4a22-b80a-b2335657ba3c" providerId="ADAL" clId="{37570E6E-2003-4D91-B5AC-B452EC7E0FA7}" dt="2026-09-16T12:46:16.922" v="255" actId="1076"/>
          <ac:spMkLst>
            <pc:docMk/>
            <pc:sldMk cId="2140173482" sldId="277"/>
            <ac:spMk id="3" creationId="{54EA0EC0-9718-2E82-E119-63C6F204E42C}"/>
          </ac:spMkLst>
        </pc:spChg>
      </pc:sldChg>
      <pc:sldChg chg="modSp mod modNotesTx">
        <pc:chgData name="Croney, Aynslie (NBCC)" userId="5b4b8641-5be5-4a22-b80a-b2335657ba3c" providerId="ADAL" clId="{37570E6E-2003-4D91-B5AC-B452EC7E0FA7}" dt="2026-09-16T12:44:58.628" v="236" actId="20577"/>
        <pc:sldMkLst>
          <pc:docMk/>
          <pc:sldMk cId="4151808521" sldId="278"/>
        </pc:sldMkLst>
        <pc:spChg chg="mod">
          <ac:chgData name="Croney, Aynslie (NBCC)" userId="5b4b8641-5be5-4a22-b80a-b2335657ba3c" providerId="ADAL" clId="{37570E6E-2003-4D91-B5AC-B452EC7E0FA7}" dt="2026-09-16T12:44:58.628" v="236" actId="20577"/>
          <ac:spMkLst>
            <pc:docMk/>
            <pc:sldMk cId="4151808521" sldId="278"/>
            <ac:spMk id="3" creationId="{FD1A96F5-3D3D-2877-7965-FFE6E603B6F7}"/>
          </ac:spMkLst>
        </pc:spChg>
      </pc:sldChg>
      <pc:sldChg chg="modNotesTx">
        <pc:chgData name="Croney, Aynslie (NBCC)" userId="5b4b8641-5be5-4a22-b80a-b2335657ba3c" providerId="ADAL" clId="{37570E6E-2003-4D91-B5AC-B452EC7E0FA7}" dt="2026-09-16T12:46:22.421" v="257" actId="20577"/>
        <pc:sldMkLst>
          <pc:docMk/>
          <pc:sldMk cId="1887875038" sldId="279"/>
        </pc:sldMkLst>
      </pc:sldChg>
      <pc:sldChg chg="modSp new mod">
        <pc:chgData name="Croney, Aynslie (NBCC)" userId="5b4b8641-5be5-4a22-b80a-b2335657ba3c" providerId="ADAL" clId="{37570E6E-2003-4D91-B5AC-B452EC7E0FA7}" dt="2026-09-16T13:00:33.618" v="343" actId="113"/>
        <pc:sldMkLst>
          <pc:docMk/>
          <pc:sldMk cId="574772036" sldId="284"/>
        </pc:sldMkLst>
        <pc:spChg chg="mod">
          <ac:chgData name="Croney, Aynslie (NBCC)" userId="5b4b8641-5be5-4a22-b80a-b2335657ba3c" providerId="ADAL" clId="{37570E6E-2003-4D91-B5AC-B452EC7E0FA7}" dt="2026-09-16T12:59:51.504" v="281" actId="20577"/>
          <ac:spMkLst>
            <pc:docMk/>
            <pc:sldMk cId="574772036" sldId="284"/>
            <ac:spMk id="2" creationId="{0B6C8085-4C68-7ED6-73AB-43E8A1214A48}"/>
          </ac:spMkLst>
        </pc:spChg>
        <pc:spChg chg="mod">
          <ac:chgData name="Croney, Aynslie (NBCC)" userId="5b4b8641-5be5-4a22-b80a-b2335657ba3c" providerId="ADAL" clId="{37570E6E-2003-4D91-B5AC-B452EC7E0FA7}" dt="2026-09-16T13:00:33.618" v="343" actId="113"/>
          <ac:spMkLst>
            <pc:docMk/>
            <pc:sldMk cId="574772036" sldId="284"/>
            <ac:spMk id="3" creationId="{13B44366-A1DD-E0A3-1496-23FE4276D3AB}"/>
          </ac:spMkLst>
        </pc:spChg>
      </pc:sldChg>
      <pc:sldChg chg="add del">
        <pc:chgData name="Croney, Aynslie (NBCC)" userId="5b4b8641-5be5-4a22-b80a-b2335657ba3c" providerId="ADAL" clId="{37570E6E-2003-4D91-B5AC-B452EC7E0FA7}" dt="2026-09-16T12:33:47.316" v="62" actId="47"/>
        <pc:sldMkLst>
          <pc:docMk/>
          <pc:sldMk cId="1924348060" sldId="284"/>
        </pc:sldMkLst>
      </pc:sldChg>
      <pc:sldChg chg="del">
        <pc:chgData name="Croney, Aynslie (NBCC)" userId="5b4b8641-5be5-4a22-b80a-b2335657ba3c" providerId="ADAL" clId="{37570E6E-2003-4D91-B5AC-B452EC7E0FA7}" dt="2026-09-16T12:28:48.945" v="7" actId="47"/>
        <pc:sldMkLst>
          <pc:docMk/>
          <pc:sldMk cId="2178300166" sldId="284"/>
        </pc:sldMkLst>
      </pc:sldChg>
      <pc:sldChg chg="del">
        <pc:chgData name="Croney, Aynslie (NBCC)" userId="5b4b8641-5be5-4a22-b80a-b2335657ba3c" providerId="ADAL" clId="{37570E6E-2003-4D91-B5AC-B452EC7E0FA7}" dt="2026-09-16T12:28:48.945" v="7" actId="47"/>
        <pc:sldMkLst>
          <pc:docMk/>
          <pc:sldMk cId="3164654673" sldId="285"/>
        </pc:sldMkLst>
      </pc:sldChg>
      <pc:sldChg chg="del">
        <pc:chgData name="Croney, Aynslie (NBCC)" userId="5b4b8641-5be5-4a22-b80a-b2335657ba3c" providerId="ADAL" clId="{37570E6E-2003-4D91-B5AC-B452EC7E0FA7}" dt="2026-09-16T12:28:48.945" v="7" actId="47"/>
        <pc:sldMkLst>
          <pc:docMk/>
          <pc:sldMk cId="848942186" sldId="286"/>
        </pc:sldMkLst>
      </pc:sldChg>
      <pc:sldChg chg="del">
        <pc:chgData name="Croney, Aynslie (NBCC)" userId="5b4b8641-5be5-4a22-b80a-b2335657ba3c" providerId="ADAL" clId="{37570E6E-2003-4D91-B5AC-B452EC7E0FA7}" dt="2026-09-16T12:28:48.945" v="7" actId="47"/>
        <pc:sldMkLst>
          <pc:docMk/>
          <pc:sldMk cId="2146938279" sldId="287"/>
        </pc:sldMkLst>
      </pc:sldChg>
      <pc:sldChg chg="del">
        <pc:chgData name="Croney, Aynslie (NBCC)" userId="5b4b8641-5be5-4a22-b80a-b2335657ba3c" providerId="ADAL" clId="{37570E6E-2003-4D91-B5AC-B452EC7E0FA7}" dt="2026-09-16T12:28:48.945" v="7" actId="47"/>
        <pc:sldMkLst>
          <pc:docMk/>
          <pc:sldMk cId="3760131069" sldId="288"/>
        </pc:sldMkLst>
      </pc:sldChg>
      <pc:sldChg chg="del">
        <pc:chgData name="Croney, Aynslie (NBCC)" userId="5b4b8641-5be5-4a22-b80a-b2335657ba3c" providerId="ADAL" clId="{37570E6E-2003-4D91-B5AC-B452EC7E0FA7}" dt="2026-09-16T12:28:48.945" v="7" actId="47"/>
        <pc:sldMkLst>
          <pc:docMk/>
          <pc:sldMk cId="545389691" sldId="289"/>
        </pc:sldMkLst>
      </pc:sldChg>
      <pc:sldChg chg="del">
        <pc:chgData name="Croney, Aynslie (NBCC)" userId="5b4b8641-5be5-4a22-b80a-b2335657ba3c" providerId="ADAL" clId="{37570E6E-2003-4D91-B5AC-B452EC7E0FA7}" dt="2026-09-16T12:28:48.945" v="7" actId="47"/>
        <pc:sldMkLst>
          <pc:docMk/>
          <pc:sldMk cId="1492784685" sldId="290"/>
        </pc:sldMkLst>
      </pc:sldChg>
      <pc:sldChg chg="del">
        <pc:chgData name="Croney, Aynslie (NBCC)" userId="5b4b8641-5be5-4a22-b80a-b2335657ba3c" providerId="ADAL" clId="{37570E6E-2003-4D91-B5AC-B452EC7E0FA7}" dt="2026-09-16T12:28:48.945" v="7" actId="47"/>
        <pc:sldMkLst>
          <pc:docMk/>
          <pc:sldMk cId="3044958930"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17713" y="182563"/>
            <a:ext cx="3163887" cy="2373312"/>
          </a:xfrm>
          <a:prstGeom prst="rect">
            <a:avLst/>
          </a:prstGeom>
          <a:noFill/>
          <a:ln w="12700">
            <a:solidFill>
              <a:prstClr val="black"/>
            </a:solidFill>
          </a:ln>
        </p:spPr>
        <p:txBody>
          <a:bodyPr vert="horz" lIns="93177" tIns="46589" rIns="93177" bIns="46589" rtlCol="0" anchor="ctr"/>
          <a:lstStyle/>
          <a:p>
            <a:endParaRPr lang="en-CA"/>
          </a:p>
        </p:txBody>
      </p:sp>
      <p:sp>
        <p:nvSpPr>
          <p:cNvPr id="5" name="Notes Placeholder 4"/>
          <p:cNvSpPr>
            <a:spLocks noGrp="1"/>
          </p:cNvSpPr>
          <p:nvPr>
            <p:ph type="body" sz="quarter" idx="3"/>
          </p:nvPr>
        </p:nvSpPr>
        <p:spPr>
          <a:xfrm>
            <a:off x="701040" y="2663292"/>
            <a:ext cx="5608320" cy="618085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Slide Number Placeholder 1">
            <a:extLst>
              <a:ext uri="{FF2B5EF4-FFF2-40B4-BE49-F238E27FC236}">
                <a16:creationId xmlns:a16="http://schemas.microsoft.com/office/drawing/2014/main" id="{3847F8DD-9533-6D2A-2DCD-AB7B9513EFF2}"/>
              </a:ext>
            </a:extLst>
          </p:cNvPr>
          <p:cNvSpPr>
            <a:spLocks noGrp="1"/>
          </p:cNvSpPr>
          <p:nvPr>
            <p:ph type="sldNum" sz="quarter" idx="5"/>
          </p:nvPr>
        </p:nvSpPr>
        <p:spPr>
          <a:xfrm>
            <a:off x="3850022" y="182563"/>
            <a:ext cx="3038475" cy="466725"/>
          </a:xfrm>
          <a:prstGeom prst="rect">
            <a:avLst/>
          </a:prstGeom>
        </p:spPr>
        <p:txBody>
          <a:bodyPr vert="horz" lIns="91440" tIns="45720" rIns="91440" bIns="45720" rtlCol="0" anchor="b"/>
          <a:lstStyle>
            <a:lvl1pPr algn="r">
              <a:defRPr sz="1200"/>
            </a:lvl1pPr>
          </a:lstStyle>
          <a:p>
            <a:fld id="{95AD4D42-ADB4-41A1-8DC2-0A86D5CD780A}" type="slidenum">
              <a:rPr lang="en-CA" smtClean="0"/>
              <a:t>‹#›</a:t>
            </a:fld>
            <a:endParaRPr lang="en-CA"/>
          </a:p>
        </p:txBody>
      </p:sp>
    </p:spTree>
    <p:extLst>
      <p:ext uri="{BB962C8B-B14F-4D97-AF65-F5344CB8AC3E}">
        <p14:creationId xmlns:p14="http://schemas.microsoft.com/office/powerpoint/2010/main" val="2824658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reallygooddesigns.com/bad-graphic-desig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interaction-design.org/literature/topics/color"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interaction-design.org/literature/article/bad-design-vs-good-design"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instagram.com/abrate_emanuele/"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reallygooddesigns.com/bad-graphic-design/"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admarketing.com/2016/05/27/you-may-look-like-a-dad-but-were-going-to-call-you-a-mo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bout.nike.com/en/newsroom/collections/nike-inc-logos/NIKE-Inc"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kapundahigh.weebly.com/shape.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kapundahigh.weebly.com/shape.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dochipo.com/psychology-of-shapes/#:~:text=Different%20shapes%20convey%20different%20meanings,narrative%20of%20significance%20and%20purpose."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en.wikipedia.org/wiki/American_Express" TargetMode="External"/><Relationship Id="rId5" Type="http://schemas.openxmlformats.org/officeDocument/2006/relationships/hyperlink" Target="https://stock.adobe.com/ca/templates/business-flyer-layout-with-colorful-squares/202503654" TargetMode="External"/><Relationship Id="rId4" Type="http://schemas.openxmlformats.org/officeDocument/2006/relationships/hyperlink" Target="https://www.logo.wine/logo/Adobe_Illustrator"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dochipo.com/psychology-of-shapes/#:~:text=Different%20shapes%20convey%20different%20meanings,narrative%20of%20significance%20and%20purpose."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dochipo.com/psychology-of-shapes/#:~:text=Different%20shapes%20convey%20different%20meanings,narrative%20of%20significance%20and%20purpose." TargetMode="External"/><Relationship Id="rId7" Type="http://schemas.openxmlformats.org/officeDocument/2006/relationships/hyperlink" Target="https://www.freepik.com/free-vector/business-flyer-triangle-design_1155077.htm"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1000logos.net/adidas-logo/" TargetMode="External"/><Relationship Id="rId5" Type="http://schemas.openxmlformats.org/officeDocument/2006/relationships/hyperlink" Target="https://www.zilliondesigns.com/blog/triangle-logos-science-shapes-branding/" TargetMode="External"/><Relationship Id="rId4" Type="http://schemas.openxmlformats.org/officeDocument/2006/relationships/hyperlink" Target="https://www.behance.net/gallery/11080707/ANTHEM-Church-Rebrand"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youtube.com/watch?v=8PWXjh0dzZ8&amp;list=PLdJFWTlhZvaOkoiPO3DDLAsRV2004tDZG&amp;t=1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inkhive.com/2018/03/25/direction-important-part-web-design-infographic/"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news-journalonline.com/story/news/2022/02/10/daytona-beach-vacations-ad-ideas-turn-off-tourism-leaders/6707421001/"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marketech-apac.com/heinz-spotlights-ancient-origins-of-soup-and-how-its-able-to-make-the-classic-meal-great-now-in-new-ad/"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reddit.com/r/mazda/comments/l7018p/mazda_rx8_ad_2003_japan/#lightbox"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ayearwithmycamera.com/blog/implied-lines-and-their-role-in-photographic-composition"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adsoftheworld.com/campaigns/diaper-447d0060-2982-45dd-9882-d8e1b8620bba"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Elements of Design – Building Blocks of Visual Communication</a:t>
            </a:r>
            <a:br>
              <a:rPr lang="en-US" dirty="0"/>
            </a:br>
            <a:endParaRPr lang="en-US" dirty="0"/>
          </a:p>
          <a:p>
            <a:r>
              <a:rPr lang="en-US" i="1" dirty="0"/>
              <a:t>Welcome students warmly.</a:t>
            </a:r>
            <a:r>
              <a:rPr lang="en-US" dirty="0"/>
              <a:t> “Good morning everyone, and welcome back. Today we’re starting with the foundations of design—what we call the </a:t>
            </a:r>
            <a:r>
              <a:rPr lang="en-US" i="1" dirty="0"/>
              <a:t>Elements of Design.</a:t>
            </a:r>
            <a:r>
              <a:rPr lang="en-US" dirty="0"/>
              <a:t>”</a:t>
            </a:r>
          </a:p>
          <a:p>
            <a:r>
              <a:rPr lang="en-US" i="1" dirty="0"/>
              <a:t>Frame the session.</a:t>
            </a:r>
            <a:r>
              <a:rPr lang="en-US" dirty="0"/>
              <a:t> “Think of today as learning the </a:t>
            </a:r>
            <a:r>
              <a:rPr lang="en-US" b="1" dirty="0"/>
              <a:t>ingredients of all design</a:t>
            </a:r>
            <a:r>
              <a:rPr lang="en-US" dirty="0"/>
              <a:t>. Just like you can’t cook without ingredients, you can’t create effective visual communication without these elements.”</a:t>
            </a:r>
          </a:p>
          <a:p>
            <a:endParaRPr lang="en-US" i="1" dirty="0"/>
          </a:p>
          <a:p>
            <a:r>
              <a:rPr lang="en-US" i="1" dirty="0"/>
              <a:t>Motivate them.</a:t>
            </a:r>
            <a:r>
              <a:rPr lang="en-US" dirty="0"/>
              <a:t> “By the end of today, you’ll start to see these elements everywhere—on posters, in apps, in packaging, even in social media graphics. You’ll notice design differently, and that awareness will make you stronger designers.”</a:t>
            </a:r>
            <a:br>
              <a:rPr lang="en-US" dirty="0"/>
            </a:br>
            <a:endParaRPr lang="en-CA"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a:t>
            </a:fld>
            <a:endParaRPr lang="en-CA"/>
          </a:p>
        </p:txBody>
      </p:sp>
    </p:spTree>
    <p:extLst>
      <p:ext uri="{BB962C8B-B14F-4D97-AF65-F5344CB8AC3E}">
        <p14:creationId xmlns:p14="http://schemas.microsoft.com/office/powerpoint/2010/main" val="216204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isn’t just about making something look pretty—it’s about solving problems.</a:t>
            </a:r>
          </a:p>
          <a:p>
            <a:pPr marL="171450" indent="-171450">
              <a:buFont typeface="Arial" panose="020B0604020202020204" pitchFamily="34" charset="0"/>
              <a:buChar char="•"/>
            </a:pPr>
            <a:r>
              <a:rPr lang="en-US" dirty="0"/>
              <a:t>We design to </a:t>
            </a:r>
            <a:r>
              <a:rPr lang="en-US" b="1" dirty="0"/>
              <a:t>communicate</a:t>
            </a:r>
            <a:r>
              <a:rPr lang="en-US" dirty="0"/>
              <a:t>—to deliver information clearly and effectively.</a:t>
            </a:r>
          </a:p>
          <a:p>
            <a:pPr marL="171450" indent="-171450">
              <a:buFont typeface="Arial" panose="020B0604020202020204" pitchFamily="34" charset="0"/>
              <a:buChar char="•"/>
            </a:pPr>
            <a:r>
              <a:rPr lang="en-US" dirty="0"/>
              <a:t>We design for </a:t>
            </a:r>
            <a:r>
              <a:rPr lang="en-US" b="1" dirty="0"/>
              <a:t>clarity</a:t>
            </a:r>
            <a:r>
              <a:rPr lang="en-US" dirty="0"/>
              <a:t>—think about a menu that’s easy to read versus one that’s cluttered and overwhelming.</a:t>
            </a:r>
          </a:p>
          <a:p>
            <a:pPr marL="171450" indent="-171450">
              <a:buFont typeface="Arial" panose="020B0604020202020204" pitchFamily="34" charset="0"/>
              <a:buChar char="•"/>
            </a:pPr>
            <a:r>
              <a:rPr lang="en-US" dirty="0"/>
              <a:t>We design to </a:t>
            </a:r>
            <a:r>
              <a:rPr lang="en-US" b="1" dirty="0"/>
              <a:t>persuade</a:t>
            </a:r>
            <a:r>
              <a:rPr lang="en-US" dirty="0"/>
              <a:t>—ads don’t just show a product, they make you want it.</a:t>
            </a:r>
          </a:p>
          <a:p>
            <a:pPr marL="171450" indent="-171450">
              <a:buFont typeface="Arial" panose="020B0604020202020204" pitchFamily="34" charset="0"/>
              <a:buChar char="•"/>
            </a:pPr>
            <a:r>
              <a:rPr lang="en-US" dirty="0"/>
              <a:t>And we design to create </a:t>
            </a:r>
            <a:r>
              <a:rPr lang="en-US" b="1" dirty="0"/>
              <a:t>emotion</a:t>
            </a:r>
            <a:r>
              <a:rPr lang="en-US" dirty="0"/>
              <a:t>—a movie poster should make you excited, a charity campaign should move you to care.</a:t>
            </a:r>
          </a:p>
          <a:p>
            <a:endParaRPr lang="en-US" dirty="0"/>
          </a:p>
          <a:p>
            <a:r>
              <a:rPr lang="en-US" dirty="0"/>
              <a:t>Tie-in example: </a:t>
            </a:r>
            <a:r>
              <a:rPr lang="en-US" i="1" dirty="0"/>
              <a:t>Show a bad sign/menu that’s confusing, then show a clean, effective one. Ask students: Which would you rather use? Why?</a:t>
            </a:r>
            <a:br>
              <a:rPr lang="en-US" dirty="0"/>
            </a:br>
            <a:endParaRPr lang="en-US"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a:t>
            </a:fld>
            <a:endParaRPr lang="en-CA"/>
          </a:p>
        </p:txBody>
      </p:sp>
    </p:spTree>
    <p:extLst>
      <p:ext uri="{BB962C8B-B14F-4D97-AF65-F5344CB8AC3E}">
        <p14:creationId xmlns:p14="http://schemas.microsoft.com/office/powerpoint/2010/main" val="2882681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Communication</a:t>
            </a:r>
          </a:p>
          <a:p>
            <a:endParaRPr lang="en-CA" dirty="0"/>
          </a:p>
          <a:p>
            <a:r>
              <a:rPr lang="en-US" dirty="0"/>
              <a:t>Combining an image, a headline, and a paragraph can look quite easy, but in this example, we see two versions of the same idea with different approaches. </a:t>
            </a:r>
          </a:p>
          <a:p>
            <a:endParaRPr lang="en-US" dirty="0"/>
          </a:p>
          <a:p>
            <a:r>
              <a:rPr lang="en-US" dirty="0"/>
              <a:t>On the left side, we see a stylized caption, a well-crafted paragraph, and an image with shoes on transparent background. </a:t>
            </a:r>
          </a:p>
          <a:p>
            <a:r>
              <a:rPr lang="en-US" dirty="0"/>
              <a:t>On the right, we see the same text, with a different visualized headline that is fighting with the image title, different font for the paragraph that is harder to read, and a different image of shoes. </a:t>
            </a:r>
          </a:p>
          <a:p>
            <a:r>
              <a:rPr lang="en-US" dirty="0"/>
              <a:t>Which version do you like more?</a:t>
            </a:r>
          </a:p>
          <a:p>
            <a:endParaRPr lang="en-US" dirty="0"/>
          </a:p>
          <a:p>
            <a:r>
              <a:rPr lang="en-US" dirty="0"/>
              <a:t>Image and copy from </a:t>
            </a:r>
            <a:r>
              <a:rPr lang="en-US" dirty="0">
                <a:hlinkClick r:id="rId3"/>
              </a:rPr>
              <a:t>14 Really Bad Graphic Design Examples [&amp; How To Fix Them] – RGD</a:t>
            </a:r>
            <a:endParaRPr lang="en-US" dirty="0"/>
          </a:p>
          <a:p>
            <a:r>
              <a:rPr lang="en-CA" dirty="0"/>
              <a:t>https://reallygooddesigns.com/bad-graphic-design/</a:t>
            </a:r>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3</a:t>
            </a:fld>
            <a:endParaRPr lang="en-CA"/>
          </a:p>
        </p:txBody>
      </p:sp>
    </p:spTree>
    <p:extLst>
      <p:ext uri="{BB962C8B-B14F-4D97-AF65-F5344CB8AC3E}">
        <p14:creationId xmlns:p14="http://schemas.microsoft.com/office/powerpoint/2010/main" val="3204119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CLARITY</a:t>
            </a:r>
            <a:br>
              <a:rPr lang="en-US" dirty="0"/>
            </a:br>
            <a:br>
              <a:rPr lang="en-US" dirty="0"/>
            </a:br>
            <a:r>
              <a:rPr lang="en-US" dirty="0"/>
              <a:t>Imagine you are a driver along this road on a Tuesday morning at 9 a.m. Can you park at this spot? What sounds like a simple question takes a lot of mental processing to answer.</a:t>
            </a:r>
          </a:p>
          <a:p>
            <a:endParaRPr lang="en-US" dirty="0"/>
          </a:p>
          <a:p>
            <a:r>
              <a:rPr lang="en-US" dirty="0"/>
              <a:t>As designers, we’re often faced with situations where we have to design for a lot of information to be displayed in a small space. The parking signs in LA might be an extreme case, but many times designing for mobile apps means facing the same problems. Is there a way out for both the parking signs and designers in general?</a:t>
            </a:r>
          </a:p>
          <a:p>
            <a:endParaRPr lang="en-US" dirty="0"/>
          </a:p>
          <a:p>
            <a:r>
              <a:rPr lang="en-US" dirty="0"/>
              <a:t>This is GOOD DESIGN</a:t>
            </a:r>
          </a:p>
          <a:p>
            <a:r>
              <a:rPr lang="en-US" dirty="0"/>
              <a:t>It works well because it’s user-centered. The designer realized that drivers simply want to know whether they can park at a spot. Yes or no—that’s all drivers needed, and that’s all the parking sign shows.</a:t>
            </a:r>
          </a:p>
          <a:p>
            <a:endParaRPr lang="en-US" dirty="0"/>
          </a:p>
          <a:p>
            <a:r>
              <a:rPr lang="en-US" dirty="0"/>
              <a:t>The design uses visuals, rather than text, to convey information. The result is incredibly intuitive—green for OK, red for No Parking. It’s even designed for the </a:t>
            </a:r>
            <a:r>
              <a:rPr lang="en-US" u="sng" dirty="0" err="1">
                <a:hlinkClick r:id="rId3" tooltip="What is Color?"/>
              </a:rPr>
              <a:t>colour</a:t>
            </a:r>
            <a:r>
              <a:rPr lang="en-US" dirty="0"/>
              <a:t> blind, with stripes for No Parking.</a:t>
            </a:r>
          </a:p>
          <a:p>
            <a:endParaRPr lang="en-US" dirty="0"/>
          </a:p>
          <a:p>
            <a:r>
              <a:rPr lang="en-US" dirty="0"/>
              <a:t>Now when you look at the sign, you’ll know that on Tuesday at 9 a.m., parking is not allowed. The bars show what’s what at a glance—simple.</a:t>
            </a:r>
          </a:p>
          <a:p>
            <a:endParaRPr lang="en-US" dirty="0"/>
          </a:p>
          <a:p>
            <a:endParaRPr lang="en-CA" dirty="0"/>
          </a:p>
          <a:p>
            <a:r>
              <a:rPr lang="en-CA" dirty="0"/>
              <a:t>Images and copy from </a:t>
            </a:r>
            <a:r>
              <a:rPr lang="en-US" dirty="0">
                <a:hlinkClick r:id="rId4"/>
              </a:rPr>
              <a:t>Bad Design vs. Good Design: 5 Examples We Can Learn From | </a:t>
            </a:r>
            <a:r>
              <a:rPr lang="en-US" dirty="0" err="1">
                <a:hlinkClick r:id="rId4"/>
              </a:rPr>
              <a:t>IxDF</a:t>
            </a:r>
            <a:endParaRPr lang="en-US" dirty="0"/>
          </a:p>
          <a:p>
            <a:r>
              <a:rPr lang="en-CA" dirty="0"/>
              <a:t>https://www.interaction-design.org/literature/article/bad-design-vs-good-design</a:t>
            </a:r>
          </a:p>
          <a:p>
            <a:endParaRPr lang="en-CA" dirty="0"/>
          </a:p>
          <a:p>
            <a:r>
              <a:rPr lang="en-US" dirty="0"/>
              <a:t>Teo, Y. S. (2025, July 21). Bad Design vs. Good Design: 5 Examples We Can Learn From. Interaction Design Foundation - </a:t>
            </a:r>
            <a:r>
              <a:rPr lang="en-US" dirty="0" err="1"/>
              <a:t>IxDF</a:t>
            </a:r>
            <a:r>
              <a:rPr lang="en-US" dirty="0"/>
              <a:t>. https://www.interaction-design.org/literature/article/bad-design-vs-good-design</a:t>
            </a:r>
            <a:endParaRPr lang="en-CA"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4</a:t>
            </a:fld>
            <a:endParaRPr lang="en-CA"/>
          </a:p>
        </p:txBody>
      </p:sp>
    </p:spTree>
    <p:extLst>
      <p:ext uri="{BB962C8B-B14F-4D97-AF65-F5344CB8AC3E}">
        <p14:creationId xmlns:p14="http://schemas.microsoft.com/office/powerpoint/2010/main" val="2865898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EMOTION</a:t>
            </a:r>
          </a:p>
          <a:p>
            <a:endParaRPr lang="en-CA" dirty="0"/>
          </a:p>
          <a:p>
            <a:r>
              <a:rPr lang="en-US" dirty="0"/>
              <a:t>Design is all about emotion and feeling – what emotion do you want your audience to feel when looking at your design? </a:t>
            </a:r>
          </a:p>
          <a:p>
            <a:endParaRPr lang="en-US" dirty="0"/>
          </a:p>
          <a:p>
            <a:r>
              <a:rPr lang="en-US" dirty="0"/>
              <a:t>The original logo example(left side) gets you in a completely different mood compared to the alternative version of the logo made by </a:t>
            </a:r>
            <a:r>
              <a:rPr lang="en-US" u="sng" dirty="0">
                <a:hlinkClick r:id="rId3"/>
              </a:rPr>
              <a:t>Emanuele </a:t>
            </a:r>
            <a:r>
              <a:rPr lang="en-US" u="sng" dirty="0" err="1">
                <a:hlinkClick r:id="rId3"/>
              </a:rPr>
              <a:t>Abrate</a:t>
            </a:r>
            <a:r>
              <a:rPr lang="en-US" dirty="0"/>
              <a:t>. </a:t>
            </a:r>
          </a:p>
          <a:p>
            <a:endParaRPr lang="en-US" dirty="0"/>
          </a:p>
          <a:p>
            <a:r>
              <a:rPr lang="en-US" dirty="0"/>
              <a:t>Note, that we are talking about the same company. It is amazing how a logo can affect our opinion about a company, right?</a:t>
            </a:r>
          </a:p>
          <a:p>
            <a:endParaRPr lang="en-US" dirty="0"/>
          </a:p>
          <a:p>
            <a:endParaRPr lang="en-US" dirty="0"/>
          </a:p>
          <a:p>
            <a:r>
              <a:rPr lang="en-US" dirty="0"/>
              <a:t>Image and copy from </a:t>
            </a:r>
            <a:r>
              <a:rPr lang="en-US" dirty="0">
                <a:hlinkClick r:id="rId4"/>
              </a:rPr>
              <a:t>14 Really Bad Graphic Design Examples [&amp; How To Fix Them] – RGD</a:t>
            </a:r>
            <a:endParaRPr lang="en-US" dirty="0"/>
          </a:p>
          <a:p>
            <a:r>
              <a:rPr lang="en-US" dirty="0"/>
              <a:t>https://reallygooddesigns.com/bad-graphic-design/ </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5</a:t>
            </a:fld>
            <a:endParaRPr lang="en-CA"/>
          </a:p>
        </p:txBody>
      </p:sp>
    </p:spTree>
    <p:extLst>
      <p:ext uri="{BB962C8B-B14F-4D97-AF65-F5344CB8AC3E}">
        <p14:creationId xmlns:p14="http://schemas.microsoft.com/office/powerpoint/2010/main" val="3310576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t>
            </a:r>
            <a:r>
              <a:rPr lang="en-US" b="1" dirty="0"/>
              <a:t>six essential building blocks</a:t>
            </a:r>
            <a:r>
              <a:rPr lang="en-US" dirty="0"/>
              <a:t> of visual design.”</a:t>
            </a:r>
          </a:p>
          <a:p>
            <a:endParaRPr lang="en-US" dirty="0"/>
          </a:p>
          <a:p>
            <a:r>
              <a:rPr lang="en-US" dirty="0"/>
              <a:t>Each one might seem simple, but designers use them deliberately to guide attention, create impact, and send messages.”</a:t>
            </a:r>
          </a:p>
          <a:p>
            <a:endParaRPr lang="en-US" dirty="0"/>
          </a:p>
          <a:p>
            <a:r>
              <a:rPr lang="en-US" dirty="0"/>
              <a:t>Think of them like a recipe: today we’ll look at each ingredient, and later in the course, we’ll learn how to combine them with the </a:t>
            </a:r>
            <a:r>
              <a:rPr lang="en-US" i="1" dirty="0"/>
              <a:t>principles of design</a:t>
            </a:r>
            <a:r>
              <a:rPr lang="en-US" dirty="0"/>
              <a:t>—like balance, alignment, and contrast.”</a:t>
            </a:r>
          </a:p>
          <a:p>
            <a:endParaRPr lang="en-US" dirty="0"/>
          </a:p>
          <a:p>
            <a:r>
              <a:rPr lang="en-US" dirty="0"/>
              <a:t>On the next few slides, we’ll dive into each element, one at a time.”</a:t>
            </a:r>
            <a:br>
              <a:rPr lang="en-US" dirty="0"/>
            </a:br>
            <a:endParaRPr lang="en-US"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6</a:t>
            </a:fld>
            <a:endParaRPr lang="en-CA"/>
          </a:p>
        </p:txBody>
      </p:sp>
    </p:spTree>
    <p:extLst>
      <p:ext uri="{BB962C8B-B14F-4D97-AF65-F5344CB8AC3E}">
        <p14:creationId xmlns:p14="http://schemas.microsoft.com/office/powerpoint/2010/main" val="2117245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a:t>
            </a:r>
            <a:r>
              <a:rPr lang="en-US" dirty="0"/>
              <a:t>A path between two points; lines can be straight, curved, thick, thin, implied, or literal.</a:t>
            </a:r>
            <a:br>
              <a:rPr lang="en-US" dirty="0"/>
            </a:br>
            <a:r>
              <a:rPr lang="en-US" b="1" dirty="0"/>
              <a:t>Why it matters</a:t>
            </a:r>
          </a:p>
          <a:p>
            <a:r>
              <a:rPr lang="en-US" dirty="0"/>
              <a:t>Defines edges</a:t>
            </a:r>
          </a:p>
          <a:p>
            <a:r>
              <a:rPr lang="en-US" dirty="0"/>
              <a:t>Guides the eye</a:t>
            </a:r>
          </a:p>
          <a:p>
            <a:r>
              <a:rPr lang="en-US" dirty="0"/>
              <a:t>Creates mood or movement</a:t>
            </a:r>
          </a:p>
          <a:p>
            <a:endParaRPr lang="en-US" b="1" dirty="0"/>
          </a:p>
          <a:p>
            <a:r>
              <a:rPr lang="en-US" dirty="0"/>
              <a:t>Lines guide the viewer’s eye. In advertising, a diagonal line may draw attention toward a product, while a horizontal line might create stability.</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7</a:t>
            </a:fld>
            <a:endParaRPr lang="en-CA"/>
          </a:p>
        </p:txBody>
      </p:sp>
    </p:spTree>
    <p:extLst>
      <p:ext uri="{BB962C8B-B14F-4D97-AF65-F5344CB8AC3E}">
        <p14:creationId xmlns:p14="http://schemas.microsoft.com/office/powerpoint/2010/main" val="3180038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line qualities change emotional tone:</a:t>
            </a:r>
          </a:p>
          <a:p>
            <a:pPr lvl="1"/>
            <a:r>
              <a:rPr lang="en-US" dirty="0"/>
              <a:t>Thin, delicate lines = elegance, fragility.</a:t>
            </a:r>
          </a:p>
          <a:p>
            <a:pPr lvl="1"/>
            <a:r>
              <a:rPr lang="en-US" dirty="0"/>
              <a:t>Thick, bold lines = strength, confidence.</a:t>
            </a:r>
          </a:p>
          <a:p>
            <a:pPr lvl="1"/>
            <a:r>
              <a:rPr lang="en-US" dirty="0"/>
              <a:t>Curved lines = movement, playfulness, warmth.</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8</a:t>
            </a:fld>
            <a:endParaRPr lang="en-CA"/>
          </a:p>
        </p:txBody>
      </p:sp>
    </p:spTree>
    <p:extLst>
      <p:ext uri="{BB962C8B-B14F-4D97-AF65-F5344CB8AC3E}">
        <p14:creationId xmlns:p14="http://schemas.microsoft.com/office/powerpoint/2010/main" val="2530433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implied lines are also powerful:</a:t>
            </a:r>
          </a:p>
          <a:p>
            <a:r>
              <a:rPr lang="en-US" dirty="0"/>
              <a:t>A line of taxis</a:t>
            </a:r>
          </a:p>
          <a:p>
            <a:r>
              <a:rPr lang="en-US" dirty="0"/>
              <a:t>The border between water and sand</a:t>
            </a:r>
          </a:p>
          <a:p>
            <a:endParaRPr lang="en-US"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9</a:t>
            </a:fld>
            <a:endParaRPr lang="en-CA"/>
          </a:p>
        </p:txBody>
      </p:sp>
    </p:spTree>
    <p:extLst>
      <p:ext uri="{BB962C8B-B14F-4D97-AF65-F5344CB8AC3E}">
        <p14:creationId xmlns:p14="http://schemas.microsoft.com/office/powerpoint/2010/main" val="960313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 example, a model’s gaze in a fashion ad creates an invisible line that leads your eyes to the product.</a:t>
            </a:r>
          </a:p>
          <a:p>
            <a:endParaRPr lang="en-US" dirty="0"/>
          </a:p>
          <a:p>
            <a:r>
              <a:rPr lang="en-CA" dirty="0"/>
              <a:t>Image from </a:t>
            </a:r>
            <a:r>
              <a:rPr lang="en-US" dirty="0">
                <a:hlinkClick r:id="rId3"/>
              </a:rPr>
              <a:t>You may look like a dad, but we’re going to call you a mom | </a:t>
            </a:r>
            <a:r>
              <a:rPr lang="en-US" dirty="0" err="1">
                <a:hlinkClick r:id="rId3"/>
              </a:rPr>
              <a:t>dadmarketing</a:t>
            </a:r>
            <a:endParaRPr lang="en-US" dirty="0"/>
          </a:p>
          <a:p>
            <a:r>
              <a:rPr lang="en-CA" dirty="0"/>
              <a:t>https://dadmarketing.com/2016/05/27/you-may-look-like-a-dad-but-were-going-to-call-you-a-mom/</a:t>
            </a:r>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10</a:t>
            </a:fld>
            <a:endParaRPr lang="en-CA"/>
          </a:p>
        </p:txBody>
      </p:sp>
    </p:spTree>
    <p:extLst>
      <p:ext uri="{BB962C8B-B14F-4D97-AF65-F5344CB8AC3E}">
        <p14:creationId xmlns:p14="http://schemas.microsoft.com/office/powerpoint/2010/main" val="3933576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to show: </a:t>
            </a:r>
            <a:r>
              <a:rPr lang="en-US" b="1" dirty="0"/>
              <a:t>Nike ads</a:t>
            </a:r>
            <a:r>
              <a:rPr lang="en-US" dirty="0"/>
              <a:t> → bold diagonal lines emphasize motion and energy, reinforcing their “Just Do It” brand.</a:t>
            </a:r>
          </a:p>
          <a:p>
            <a:endParaRPr lang="en-US" dirty="0"/>
          </a:p>
          <a:p>
            <a:r>
              <a:rPr lang="en-US" dirty="0"/>
              <a:t>The line defines the shape</a:t>
            </a:r>
          </a:p>
          <a:p>
            <a:endParaRPr lang="en-US" dirty="0"/>
          </a:p>
          <a:p>
            <a:r>
              <a:rPr lang="en-US" dirty="0"/>
              <a:t>This is also a shape</a:t>
            </a:r>
            <a:endParaRPr lang="en-CA" dirty="0"/>
          </a:p>
          <a:p>
            <a:endParaRPr lang="en-CA" dirty="0"/>
          </a:p>
          <a:p>
            <a:r>
              <a:rPr lang="en-CA" dirty="0"/>
              <a:t>Image from </a:t>
            </a:r>
            <a:r>
              <a:rPr lang="en-CA" dirty="0">
                <a:hlinkClick r:id="rId3"/>
              </a:rPr>
              <a:t>NIKE, Inc. Logos —</a:t>
            </a:r>
            <a:endParaRPr lang="en-CA" dirty="0"/>
          </a:p>
          <a:p>
            <a:r>
              <a:rPr lang="en-CA" dirty="0"/>
              <a:t>https://about.nike.com/en/newsroom/collections/nike-inc-logos/NIKE-Inc</a:t>
            </a:r>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11</a:t>
            </a:fld>
            <a:endParaRPr lang="en-CA"/>
          </a:p>
        </p:txBody>
      </p:sp>
    </p:spTree>
    <p:extLst>
      <p:ext uri="{BB962C8B-B14F-4D97-AF65-F5344CB8AC3E}">
        <p14:creationId xmlns:p14="http://schemas.microsoft.com/office/powerpoint/2010/main" val="650004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two-dimensional enclosed space created by lines, </a:t>
            </a:r>
            <a:r>
              <a:rPr lang="en-US" dirty="0" err="1"/>
              <a:t>colour</a:t>
            </a:r>
            <a:r>
              <a:rPr lang="en-US" dirty="0"/>
              <a:t>, or texture. Shapes can be geometric (squares, circles, triangles) or organic (free-form, natural).</a:t>
            </a:r>
            <a:br>
              <a:rPr lang="en-US" dirty="0"/>
            </a:br>
            <a:endParaRPr lang="en-US" dirty="0"/>
          </a:p>
          <a:p>
            <a:r>
              <a:rPr lang="en-US" b="1" dirty="0"/>
              <a:t>Why it matters: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In graphic design, </a:t>
            </a:r>
            <a:r>
              <a:rPr lang="en-CA" sz="1200" b="1" i="0" kern="1200" dirty="0">
                <a:solidFill>
                  <a:schemeClr val="tx1"/>
                </a:solidFill>
                <a:effectLst/>
                <a:latin typeface="+mn-lt"/>
                <a:ea typeface="+mn-ea"/>
                <a:cs typeface="+mn-cs"/>
              </a:rPr>
              <a:t>shape matters because shapes communicate meaning, create visual interest, and guide the viewer's attention</a:t>
            </a:r>
            <a:r>
              <a:rPr lang="en-CA" sz="1200" b="0" i="0" kern="1200" dirty="0">
                <a:solidFill>
                  <a:schemeClr val="tx1"/>
                </a:solidFill>
                <a:effectLst/>
                <a:latin typeface="+mn-lt"/>
                <a:ea typeface="+mn-ea"/>
                <a:cs typeface="+mn-cs"/>
              </a:rPr>
              <a:t>. Even before someone reads any text, the shapes in a design influence how they interpret the message.</a:t>
            </a:r>
          </a:p>
          <a:p>
            <a:endParaRPr lang="en-US" dirty="0"/>
          </a:p>
          <a:p>
            <a:endParaRPr lang="en-US" dirty="0"/>
          </a:p>
          <a:p>
            <a:r>
              <a:rPr lang="en-US" dirty="0"/>
              <a:t>Image from </a:t>
            </a:r>
            <a:r>
              <a:rPr lang="en-US" dirty="0">
                <a:hlinkClick r:id="rId3"/>
              </a:rPr>
              <a:t>Shape - </a:t>
            </a:r>
            <a:r>
              <a:rPr lang="en-US" dirty="0" err="1">
                <a:hlinkClick r:id="rId3"/>
              </a:rPr>
              <a:t>Kapunda</a:t>
            </a:r>
            <a:r>
              <a:rPr lang="en-US" dirty="0">
                <a:hlinkClick r:id="rId3"/>
              </a:rPr>
              <a:t> High Art and Design</a:t>
            </a:r>
            <a:endParaRPr lang="en-US" dirty="0"/>
          </a:p>
          <a:p>
            <a:r>
              <a:rPr lang="en-US" dirty="0"/>
              <a:t>https://kapundahigh.weebly.com/shape.html</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12</a:t>
            </a:fld>
            <a:endParaRPr lang="en-CA"/>
          </a:p>
        </p:txBody>
      </p:sp>
    </p:spTree>
    <p:extLst>
      <p:ext uri="{BB962C8B-B14F-4D97-AF65-F5344CB8AC3E}">
        <p14:creationId xmlns:p14="http://schemas.microsoft.com/office/powerpoint/2010/main" val="48744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 shapes feel modern, structured, and orderly. </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13</a:t>
            </a:fld>
            <a:endParaRPr lang="en-CA"/>
          </a:p>
        </p:txBody>
      </p:sp>
    </p:spTree>
    <p:extLst>
      <p:ext uri="{BB962C8B-B14F-4D97-AF65-F5344CB8AC3E}">
        <p14:creationId xmlns:p14="http://schemas.microsoft.com/office/powerpoint/2010/main" val="1445077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Organic shapes feel more natural, playful, and approachable.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Organic shapes</a:t>
            </a:r>
            <a:r>
              <a:rPr lang="en-CA" sz="1200" b="0" i="0" kern="1200" dirty="0">
                <a:solidFill>
                  <a:schemeClr val="tx1"/>
                </a:solidFill>
                <a:effectLst/>
                <a:latin typeface="+mn-lt"/>
                <a:ea typeface="+mn-ea"/>
                <a:cs typeface="+mn-cs"/>
              </a:rPr>
              <a:t> (free-form, natural shapes) suggest nature, creativity, comfort, and uniqueness.</a:t>
            </a:r>
          </a:p>
          <a:p>
            <a:endParaRPr lang="en-US" dirty="0"/>
          </a:p>
          <a:p>
            <a:endParaRPr lang="en-CA" dirty="0"/>
          </a:p>
          <a:p>
            <a:r>
              <a:rPr lang="en-US" dirty="0"/>
              <a:t>Image from </a:t>
            </a:r>
            <a:r>
              <a:rPr lang="en-US" dirty="0">
                <a:hlinkClick r:id="rId3"/>
              </a:rPr>
              <a:t>Shape - </a:t>
            </a:r>
            <a:r>
              <a:rPr lang="en-US" dirty="0" err="1">
                <a:hlinkClick r:id="rId3"/>
              </a:rPr>
              <a:t>Kapunda</a:t>
            </a:r>
            <a:r>
              <a:rPr lang="en-US" dirty="0">
                <a:hlinkClick r:id="rId3"/>
              </a:rPr>
              <a:t> High Art and Design</a:t>
            </a:r>
            <a:endParaRPr lang="en-US" dirty="0"/>
          </a:p>
          <a:p>
            <a:r>
              <a:rPr lang="en-US" dirty="0"/>
              <a:t>https://kapundahigh.weebly.com/shape.html</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14</a:t>
            </a:fld>
            <a:endParaRPr lang="en-CA"/>
          </a:p>
        </p:txBody>
      </p:sp>
    </p:spTree>
    <p:extLst>
      <p:ext uri="{BB962C8B-B14F-4D97-AF65-F5344CB8AC3E}">
        <p14:creationId xmlns:p14="http://schemas.microsoft.com/office/powerpoint/2010/main" val="3823657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shapes creates rhythm and visual unity in layouts.</a:t>
            </a:r>
          </a:p>
          <a:p>
            <a:endParaRPr lang="en-US" dirty="0"/>
          </a:p>
          <a:p>
            <a:pPr fontAlgn="t"/>
            <a:r>
              <a:rPr lang="en-CA" sz="1200" b="1" i="0" kern="1200" dirty="0">
                <a:solidFill>
                  <a:schemeClr val="tx1"/>
                </a:solidFill>
                <a:effectLst/>
                <a:latin typeface="+mn-lt"/>
                <a:ea typeface="+mn-ea"/>
                <a:cs typeface="+mn-cs"/>
              </a:rPr>
              <a:t>Shapes Organize Information</a:t>
            </a:r>
          </a:p>
          <a:p>
            <a:pPr fontAlgn="t"/>
            <a:r>
              <a:rPr lang="en-CA" sz="1200" b="0" i="0" kern="1200" dirty="0">
                <a:solidFill>
                  <a:schemeClr val="tx1"/>
                </a:solidFill>
                <a:effectLst/>
                <a:latin typeface="+mn-lt"/>
                <a:ea typeface="+mn-ea"/>
                <a:cs typeface="+mn-cs"/>
              </a:rPr>
              <a:t>Shapes can group related content together and separate different pieces of information.</a:t>
            </a:r>
          </a:p>
          <a:p>
            <a:pPr fontAlgn="t"/>
            <a:r>
              <a:rPr lang="en-CA" sz="1200" b="0" i="0" kern="1200" dirty="0">
                <a:solidFill>
                  <a:schemeClr val="tx1"/>
                </a:solidFill>
                <a:effectLst/>
                <a:latin typeface="+mn-lt"/>
                <a:ea typeface="+mn-ea"/>
                <a:cs typeface="+mn-cs"/>
              </a:rPr>
              <a:t>For example: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Boxes can contain related text.</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Circles can highlight key statistics.</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Background shapes can visually connect images and captions.</a:t>
            </a:r>
          </a:p>
          <a:p>
            <a:pPr marL="171450" indent="-171450" fontAlgn="t">
              <a:buFont typeface="Arial" panose="020B0604020202020204" pitchFamily="34" charset="0"/>
              <a:buChar char="•"/>
            </a:pPr>
            <a:r>
              <a:rPr lang="en-CA" sz="1200" b="0" i="0" kern="1200" dirty="0">
                <a:solidFill>
                  <a:schemeClr val="tx1"/>
                </a:solidFill>
                <a:effectLst/>
                <a:latin typeface="+mn-lt"/>
                <a:ea typeface="+mn-ea"/>
                <a:cs typeface="+mn-cs"/>
              </a:rPr>
              <a:t>This makes designs easier to understand and navigate.</a:t>
            </a:r>
          </a:p>
          <a:p>
            <a:endParaRPr lang="en-US" dirty="0"/>
          </a:p>
          <a:p>
            <a:endParaRPr lang="en-US"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15</a:t>
            </a:fld>
            <a:endParaRPr lang="en-CA"/>
          </a:p>
        </p:txBody>
      </p:sp>
    </p:spTree>
    <p:extLst>
      <p:ext uri="{BB962C8B-B14F-4D97-AF65-F5344CB8AC3E}">
        <p14:creationId xmlns:p14="http://schemas.microsoft.com/office/powerpoint/2010/main" val="2554940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Shapes also create symbolism: squares suggest stability.</a:t>
            </a:r>
          </a:p>
          <a:p>
            <a:endParaRPr lang="en-US" dirty="0"/>
          </a:p>
          <a:p>
            <a:r>
              <a:rPr lang="en-US" b="1" dirty="0"/>
              <a:t>Squares:</a:t>
            </a:r>
            <a:r>
              <a:rPr lang="en-US" dirty="0"/>
              <a:t> Stability, framing, and importance.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Squares and rectangles</a:t>
            </a:r>
            <a:r>
              <a:rPr lang="en-CA" sz="1200" b="0" i="0" kern="1200" dirty="0">
                <a:solidFill>
                  <a:schemeClr val="tx1"/>
                </a:solidFill>
                <a:effectLst/>
                <a:latin typeface="+mn-lt"/>
                <a:ea typeface="+mn-ea"/>
                <a:cs typeface="+mn-cs"/>
              </a:rPr>
              <a:t> suggest stability, reliability, order, and professionalism.</a:t>
            </a:r>
          </a:p>
          <a:p>
            <a:endParaRPr lang="en-US" dirty="0"/>
          </a:p>
          <a:p>
            <a:endParaRPr lang="en-US" dirty="0"/>
          </a:p>
          <a:p>
            <a:r>
              <a:rPr lang="en-US" dirty="0"/>
              <a:t>Information from </a:t>
            </a:r>
            <a:r>
              <a:rPr lang="en-US" dirty="0">
                <a:hlinkClick r:id="rId3"/>
              </a:rPr>
              <a:t>Psychology of Shapes in Design: A Guide for Visual Storytelling</a:t>
            </a:r>
            <a:endParaRPr lang="en-US" dirty="0"/>
          </a:p>
          <a:p>
            <a:r>
              <a:rPr lang="en-US" dirty="0"/>
              <a:t>https://www.dochipo.com/psychology-of-shapes/#:~:text=Different%20shapes%20convey%20different%20meanings,narrative%20of%20significance%20and%20purpose.</a:t>
            </a:r>
          </a:p>
          <a:p>
            <a:endParaRPr lang="en-US" dirty="0"/>
          </a:p>
          <a:p>
            <a:r>
              <a:rPr lang="en-US" dirty="0"/>
              <a:t>Square Images from </a:t>
            </a:r>
          </a:p>
          <a:p>
            <a:r>
              <a:rPr lang="en-CA" dirty="0">
                <a:hlinkClick r:id="rId4"/>
              </a:rPr>
              <a:t>Download Adobe Illustrator Logo in SVG Vector or PNG File Format - </a:t>
            </a:r>
            <a:r>
              <a:rPr lang="en-CA" dirty="0" err="1">
                <a:hlinkClick r:id="rId4"/>
              </a:rPr>
              <a:t>Logo.wine</a:t>
            </a:r>
            <a:endParaRPr lang="en-CA" dirty="0"/>
          </a:p>
          <a:p>
            <a:r>
              <a:rPr lang="en-CA" dirty="0"/>
              <a:t>https://www.logo.wine/logo/Adobe_Illustrator</a:t>
            </a:r>
          </a:p>
          <a:p>
            <a:r>
              <a:rPr lang="en-US" dirty="0">
                <a:hlinkClick r:id="rId5"/>
              </a:rPr>
              <a:t>Business Flyer Layout with Colorful Squares Stock Template | Adobe Stock</a:t>
            </a:r>
            <a:endParaRPr lang="en-US" dirty="0"/>
          </a:p>
          <a:p>
            <a:r>
              <a:rPr lang="en-CA" dirty="0"/>
              <a:t>https://stock.adobe.com/ca/templates/business-flyer-layout-with-colorful-squares/202503654</a:t>
            </a:r>
          </a:p>
          <a:p>
            <a:r>
              <a:rPr lang="en-CA" dirty="0">
                <a:hlinkClick r:id="rId6"/>
              </a:rPr>
              <a:t>American Express – Wikipedia</a:t>
            </a:r>
            <a:endParaRPr lang="en-CA" dirty="0"/>
          </a:p>
          <a:p>
            <a:r>
              <a:rPr lang="en-CA" dirty="0"/>
              <a:t>https://en.wikipedia.org/wiki/American_Express</a:t>
            </a:r>
          </a:p>
          <a:p>
            <a:endParaRPr lang="en-CA"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16</a:t>
            </a:fld>
            <a:endParaRPr lang="en-CA"/>
          </a:p>
        </p:txBody>
      </p:sp>
    </p:spTree>
    <p:extLst>
      <p:ext uri="{BB962C8B-B14F-4D97-AF65-F5344CB8AC3E}">
        <p14:creationId xmlns:p14="http://schemas.microsoft.com/office/powerpoint/2010/main" val="2047224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4C1A9-94F6-AAEA-D208-D2DBAB8B0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94A53-D12A-8C09-B38D-95A94BB06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43C22-6E0B-5DD8-7462-17F69B9AF4EC}"/>
              </a:ext>
            </a:extLst>
          </p:cNvPr>
          <p:cNvSpPr>
            <a:spLocks noGrp="1"/>
          </p:cNvSpPr>
          <p:nvPr>
            <p:ph type="body" idx="1"/>
          </p:nvPr>
        </p:nvSpPr>
        <p:spPr/>
        <p:txBody>
          <a:bodyPr/>
          <a:lstStyle/>
          <a:p>
            <a:r>
              <a:rPr lang="en-US" dirty="0"/>
              <a:t>Shapes also create symbolism: circles suggest unity.</a:t>
            </a:r>
          </a:p>
          <a:p>
            <a:endParaRPr lang="en-US" dirty="0"/>
          </a:p>
          <a:p>
            <a:r>
              <a:rPr lang="en-US" b="1" dirty="0"/>
              <a:t>Circles: </a:t>
            </a:r>
            <a:r>
              <a:rPr lang="en-US" dirty="0"/>
              <a:t>Gentleness, unity, and balance.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Circles and ovals</a:t>
            </a:r>
            <a:r>
              <a:rPr lang="en-CA" sz="1200" b="0" i="0" kern="1200" dirty="0">
                <a:solidFill>
                  <a:schemeClr val="tx1"/>
                </a:solidFill>
                <a:effectLst/>
                <a:latin typeface="+mn-lt"/>
                <a:ea typeface="+mn-ea"/>
                <a:cs typeface="+mn-cs"/>
              </a:rPr>
              <a:t> suggest unity, community, harmony, movement, and friendliness.</a:t>
            </a:r>
          </a:p>
          <a:p>
            <a:endParaRPr lang="en-US" dirty="0"/>
          </a:p>
          <a:p>
            <a:endParaRPr lang="en-US" dirty="0"/>
          </a:p>
          <a:p>
            <a:endParaRPr lang="en-US" dirty="0"/>
          </a:p>
          <a:p>
            <a:r>
              <a:rPr lang="en-US" dirty="0"/>
              <a:t>Information from </a:t>
            </a:r>
            <a:r>
              <a:rPr lang="en-US" dirty="0">
                <a:hlinkClick r:id="rId3"/>
              </a:rPr>
              <a:t>Psychology of Shapes in Design: A Guide for Visual Storytelling</a:t>
            </a:r>
            <a:endParaRPr lang="en-US" dirty="0"/>
          </a:p>
          <a:p>
            <a:r>
              <a:rPr lang="en-US" dirty="0"/>
              <a:t>https://www.dochipo.com/psychology-of-shapes/#:~:text=Different%20shapes%20convey%20different%20meanings,narrative%20of%20significance%20and%20purpose.</a:t>
            </a:r>
          </a:p>
          <a:p>
            <a:endParaRPr lang="en-US" dirty="0"/>
          </a:p>
          <a:p>
            <a:r>
              <a:rPr lang="en-US" dirty="0"/>
              <a:t>Circle Images from </a:t>
            </a:r>
          </a:p>
          <a:p>
            <a:r>
              <a:rPr lang="en-US" dirty="0"/>
              <a:t>Photo by &lt;a </a:t>
            </a:r>
            <a:r>
              <a:rPr lang="en-US" dirty="0" err="1"/>
              <a:t>href</a:t>
            </a:r>
            <a:r>
              <a:rPr lang="en-US" dirty="0"/>
              <a:t>="https://stockcake.com/i/unity-through-diversity_1629381_1198910"&gt;</a:t>
            </a:r>
            <a:r>
              <a:rPr lang="en-US" dirty="0" err="1"/>
              <a:t>Stockcake</a:t>
            </a:r>
            <a:r>
              <a:rPr lang="en-US" dirty="0"/>
              <a:t>&lt;/a&gt;</a:t>
            </a:r>
          </a:p>
          <a:p>
            <a:r>
              <a:rPr lang="en-US" dirty="0"/>
              <a:t>Photo by &lt;a </a:t>
            </a:r>
            <a:r>
              <a:rPr lang="en-US" dirty="0" err="1"/>
              <a:t>href</a:t>
            </a:r>
            <a:r>
              <a:rPr lang="en-US" dirty="0"/>
              <a:t>="https://stockcake.com/i/circle-of-togetherness_3059498_1654920"&gt;</a:t>
            </a:r>
            <a:r>
              <a:rPr lang="en-US" dirty="0" err="1"/>
              <a:t>Stockcake</a:t>
            </a:r>
            <a:r>
              <a:rPr lang="en-US" dirty="0"/>
              <a:t>&lt;/a&gt;</a:t>
            </a:r>
          </a:p>
          <a:p>
            <a:r>
              <a:rPr lang="en-US" dirty="0"/>
              <a:t>https://www.youtube.com/olympics</a:t>
            </a:r>
          </a:p>
          <a:p>
            <a:endParaRPr lang="en-CA" dirty="0"/>
          </a:p>
        </p:txBody>
      </p:sp>
      <p:sp>
        <p:nvSpPr>
          <p:cNvPr id="4" name="Slide Number Placeholder 3">
            <a:extLst>
              <a:ext uri="{FF2B5EF4-FFF2-40B4-BE49-F238E27FC236}">
                <a16:creationId xmlns:a16="http://schemas.microsoft.com/office/drawing/2014/main" id="{5A7F6FFE-EB73-B9F6-3EA4-9EB1FD06CE4B}"/>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17</a:t>
            </a:fld>
            <a:endParaRPr lang="en-CA"/>
          </a:p>
        </p:txBody>
      </p:sp>
    </p:spTree>
    <p:extLst>
      <p:ext uri="{BB962C8B-B14F-4D97-AF65-F5344CB8AC3E}">
        <p14:creationId xmlns:p14="http://schemas.microsoft.com/office/powerpoint/2010/main" val="3484595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DE63-C8AB-0D0D-EAEC-BBEA3E735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79D65-EE61-AEF1-569E-7EDF0FCF4993}"/>
              </a:ext>
            </a:extLst>
          </p:cNvPr>
          <p:cNvSpPr>
            <a:spLocks noGrp="1" noRot="1" noChangeAspect="1"/>
          </p:cNvSpPr>
          <p:nvPr>
            <p:ph type="sldImg"/>
          </p:nvPr>
        </p:nvSpPr>
        <p:spPr>
          <a:xfrm>
            <a:off x="2017713" y="182563"/>
            <a:ext cx="3165475" cy="2373312"/>
          </a:xfrm>
        </p:spPr>
      </p:sp>
      <p:sp>
        <p:nvSpPr>
          <p:cNvPr id="3" name="Notes Placeholder 2">
            <a:extLst>
              <a:ext uri="{FF2B5EF4-FFF2-40B4-BE49-F238E27FC236}">
                <a16:creationId xmlns:a16="http://schemas.microsoft.com/office/drawing/2014/main" id="{2477127A-42E6-33D7-0D05-28B58EE9D45D}"/>
              </a:ext>
            </a:extLst>
          </p:cNvPr>
          <p:cNvSpPr>
            <a:spLocks noGrp="1"/>
          </p:cNvSpPr>
          <p:nvPr>
            <p:ph type="body" idx="1"/>
          </p:nvPr>
        </p:nvSpPr>
        <p:spPr/>
        <p:txBody>
          <a:bodyPr/>
          <a:lstStyle/>
          <a:p>
            <a:r>
              <a:rPr lang="en-US" b="1" dirty="0"/>
              <a:t>Triangles: </a:t>
            </a:r>
            <a:r>
              <a:rPr lang="en-US" dirty="0"/>
              <a:t>Stability, power, and energy.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Triangles</a:t>
            </a:r>
            <a:r>
              <a:rPr lang="en-CA" sz="1200" b="0" i="0" kern="1200" dirty="0">
                <a:solidFill>
                  <a:schemeClr val="tx1"/>
                </a:solidFill>
                <a:effectLst/>
                <a:latin typeface="+mn-lt"/>
                <a:ea typeface="+mn-ea"/>
                <a:cs typeface="+mn-cs"/>
              </a:rPr>
              <a:t> suggest direction, energy, action, growth, or tension.</a:t>
            </a:r>
          </a:p>
          <a:p>
            <a:endParaRPr lang="en-US" dirty="0"/>
          </a:p>
          <a:p>
            <a:endParaRPr lang="en-US" dirty="0"/>
          </a:p>
          <a:p>
            <a:endParaRPr lang="en-US" dirty="0"/>
          </a:p>
          <a:p>
            <a:r>
              <a:rPr lang="en-US" dirty="0"/>
              <a:t>PLUS MANY MORE – see link on BRIGHTSPACE</a:t>
            </a:r>
          </a:p>
          <a:p>
            <a:r>
              <a:rPr lang="en-US" b="1" dirty="0"/>
              <a:t>Parallelograms: </a:t>
            </a:r>
            <a:r>
              <a:rPr lang="en-US" dirty="0"/>
              <a:t>Dynamic, harmonious, and balanced.</a:t>
            </a:r>
          </a:p>
          <a:p>
            <a:r>
              <a:rPr lang="en-US" b="1" dirty="0"/>
              <a:t>Trapeziums: </a:t>
            </a:r>
            <a:r>
              <a:rPr lang="en-US" dirty="0"/>
              <a:t>Stability, movement, and modernity.</a:t>
            </a:r>
          </a:p>
          <a:p>
            <a:r>
              <a:rPr lang="en-US" b="1" dirty="0"/>
              <a:t>Rhombus:</a:t>
            </a:r>
            <a:r>
              <a:rPr lang="en-US" dirty="0"/>
              <a:t> Luxury, sophistication, and abstract style.</a:t>
            </a:r>
          </a:p>
          <a:p>
            <a:r>
              <a:rPr lang="en-US" b="1" dirty="0"/>
              <a:t>Pentagons:</a:t>
            </a:r>
            <a:r>
              <a:rPr lang="en-US" dirty="0"/>
              <a:t> Protection, unity, and five elements.</a:t>
            </a:r>
          </a:p>
          <a:p>
            <a:r>
              <a:rPr lang="en-US" b="1" dirty="0"/>
              <a:t>Hexagons:</a:t>
            </a:r>
            <a:r>
              <a:rPr lang="en-US" dirty="0"/>
              <a:t> Communication, balance, and trust.</a:t>
            </a:r>
          </a:p>
          <a:p>
            <a:r>
              <a:rPr lang="en-US" b="1" dirty="0"/>
              <a:t>Geometric Lines:</a:t>
            </a:r>
            <a:r>
              <a:rPr lang="en-US" dirty="0"/>
              <a:t> Structure, order, and visual hierarchy.</a:t>
            </a:r>
          </a:p>
          <a:p>
            <a:r>
              <a:rPr lang="en-US" b="1" dirty="0"/>
              <a:t>Fluid Lines: </a:t>
            </a:r>
            <a:r>
              <a:rPr lang="en-US" dirty="0"/>
              <a:t>Movement and energy.</a:t>
            </a:r>
          </a:p>
          <a:p>
            <a:r>
              <a:rPr lang="en-US" b="1" dirty="0"/>
              <a:t>Flowing Curves:</a:t>
            </a:r>
            <a:r>
              <a:rPr lang="en-US" dirty="0"/>
              <a:t> Continuity, grace, and elegance.</a:t>
            </a:r>
          </a:p>
          <a:p>
            <a:r>
              <a:rPr lang="en-US" b="1" dirty="0"/>
              <a:t>Creative Splotches:</a:t>
            </a:r>
            <a:r>
              <a:rPr lang="en-US" dirty="0"/>
              <a:t> Spontaneity and unpredictability.</a:t>
            </a:r>
          </a:p>
          <a:p>
            <a:r>
              <a:rPr lang="en-US" b="1" dirty="0"/>
              <a:t>Organic Icons: </a:t>
            </a:r>
            <a:r>
              <a:rPr lang="en-US" dirty="0"/>
              <a:t>Connection with nature and growth.</a:t>
            </a:r>
          </a:p>
          <a:p>
            <a:r>
              <a:rPr lang="en-US" b="1" dirty="0"/>
              <a:t>Abstract Shapes:</a:t>
            </a:r>
            <a:r>
              <a:rPr lang="en-US" dirty="0"/>
              <a:t> Curiosity, emotions, and storytelling.</a:t>
            </a:r>
          </a:p>
          <a:p>
            <a:endParaRPr lang="en-US" dirty="0"/>
          </a:p>
          <a:p>
            <a:r>
              <a:rPr lang="en-US" dirty="0"/>
              <a:t>Information from </a:t>
            </a:r>
            <a:r>
              <a:rPr lang="en-US" dirty="0">
                <a:hlinkClick r:id="rId3"/>
              </a:rPr>
              <a:t>Psychology of Shapes in Design: A Guide for Visual Storytelling</a:t>
            </a:r>
            <a:endParaRPr lang="en-US" dirty="0"/>
          </a:p>
          <a:p>
            <a:r>
              <a:rPr lang="en-US" dirty="0"/>
              <a:t>https://www.dochipo.com/psychology-of-shapes/#:~:text=Different%20shapes%20convey%20different%20meanings,narrative%20of%20significance%20and%20purpose.</a:t>
            </a:r>
          </a:p>
          <a:p>
            <a:r>
              <a:rPr lang="en-US" dirty="0"/>
              <a:t>Triangle Images from </a:t>
            </a:r>
          </a:p>
          <a:p>
            <a:r>
              <a:rPr lang="en-CA" dirty="0">
                <a:hlinkClick r:id="rId4"/>
              </a:rPr>
              <a:t>ANTHEM Church | Rebrand :: </a:t>
            </a:r>
            <a:r>
              <a:rPr lang="en-CA" dirty="0" err="1">
                <a:hlinkClick r:id="rId4"/>
              </a:rPr>
              <a:t>Behance</a:t>
            </a:r>
            <a:endParaRPr lang="en-CA" dirty="0"/>
          </a:p>
          <a:p>
            <a:r>
              <a:rPr lang="en-US" dirty="0"/>
              <a:t>https://www.behance.net/gallery/11080707/ANTHEM-Church-Rebrand</a:t>
            </a:r>
          </a:p>
          <a:p>
            <a:r>
              <a:rPr lang="en-US" dirty="0">
                <a:hlinkClick r:id="rId5"/>
              </a:rPr>
              <a:t>Triangle Logos Explore Science of Shapes in Branding – </a:t>
            </a:r>
            <a:r>
              <a:rPr lang="en-US" dirty="0" err="1">
                <a:hlinkClick r:id="rId5"/>
              </a:rPr>
              <a:t>ZillionDesigns</a:t>
            </a:r>
            <a:endParaRPr lang="en-US" dirty="0"/>
          </a:p>
          <a:p>
            <a:r>
              <a:rPr lang="en-US" dirty="0"/>
              <a:t>https://www.zilliondesigns.com/blog/triangle-logos-science-shapes-branding/</a:t>
            </a:r>
          </a:p>
          <a:p>
            <a:r>
              <a:rPr lang="en-US" dirty="0">
                <a:hlinkClick r:id="rId6"/>
              </a:rPr>
              <a:t>Adidas Logo and symbol, meaning, history, PNG, brand</a:t>
            </a:r>
            <a:endParaRPr lang="en-US" dirty="0"/>
          </a:p>
          <a:p>
            <a:r>
              <a:rPr lang="en-US" dirty="0"/>
              <a:t>https://1000logos.net/adidas-logo/</a:t>
            </a:r>
          </a:p>
          <a:p>
            <a:r>
              <a:rPr lang="en-US" dirty="0">
                <a:hlinkClick r:id="rId7"/>
              </a:rPr>
              <a:t>Business flyer triangle design | Free Vector</a:t>
            </a:r>
            <a:endParaRPr lang="en-US" dirty="0"/>
          </a:p>
          <a:p>
            <a:r>
              <a:rPr lang="en-US" dirty="0"/>
              <a:t>https://www.freepik.com/free-vector/business-flyer-triangle-design_1155077.htm</a:t>
            </a:r>
          </a:p>
        </p:txBody>
      </p:sp>
      <p:sp>
        <p:nvSpPr>
          <p:cNvPr id="4" name="Slide Number Placeholder 3">
            <a:extLst>
              <a:ext uri="{FF2B5EF4-FFF2-40B4-BE49-F238E27FC236}">
                <a16:creationId xmlns:a16="http://schemas.microsoft.com/office/drawing/2014/main" id="{0E890FA8-3D76-4F2E-0D62-F9F727EF2FAB}"/>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18</a:t>
            </a:fld>
            <a:endParaRPr lang="en-CA"/>
          </a:p>
        </p:txBody>
      </p:sp>
    </p:spTree>
    <p:extLst>
      <p:ext uri="{BB962C8B-B14F-4D97-AF65-F5344CB8AC3E}">
        <p14:creationId xmlns:p14="http://schemas.microsoft.com/office/powerpoint/2010/main" val="2151543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Shapes build recognition and identity. Think of the red circle of the </a:t>
            </a:r>
            <a:r>
              <a:rPr lang="en-US" b="1" dirty="0"/>
              <a:t>Target logo</a:t>
            </a:r>
            <a:r>
              <a:rPr lang="en-US" dirty="0"/>
              <a:t>—simple, geometric, and instantly recognizable.</a:t>
            </a:r>
          </a:p>
          <a:p>
            <a:endParaRPr lang="en-US" dirty="0"/>
          </a:p>
          <a:p>
            <a:pPr defTabSz="931774">
              <a:defRPr/>
            </a:pPr>
            <a:r>
              <a:rPr lang="en-US" dirty="0"/>
              <a:t>Example to show: </a:t>
            </a:r>
            <a:r>
              <a:rPr lang="en-US" b="1" dirty="0"/>
              <a:t>Coca-Cola bottle silhouette</a:t>
            </a:r>
            <a:r>
              <a:rPr lang="en-US" dirty="0"/>
              <a:t>—an iconic organic shape that became part of its brand identity.</a:t>
            </a:r>
          </a:p>
          <a:p>
            <a:pPr defTabSz="931774">
              <a:defRPr/>
            </a:pPr>
            <a:endParaRPr lang="en-US" dirty="0"/>
          </a:p>
          <a:p>
            <a:pPr defTabSz="931774">
              <a:defRPr/>
            </a:pPr>
            <a:endParaRPr lang="en-US" dirty="0"/>
          </a:p>
          <a:p>
            <a:endParaRPr lang="en-US" dirty="0"/>
          </a:p>
          <a:p>
            <a:r>
              <a:rPr lang="en-US" dirty="0"/>
              <a:t>Image from </a:t>
            </a:r>
            <a:r>
              <a:rPr lang="en-US" dirty="0">
                <a:hlinkClick r:id="rId3"/>
              </a:rPr>
              <a:t>Graphic Design for Beginners - Working with Shapes</a:t>
            </a:r>
            <a:endParaRPr lang="en-US" dirty="0"/>
          </a:p>
          <a:p>
            <a:r>
              <a:rPr lang="en-US" dirty="0"/>
              <a:t>https://www.youtube.com/watch?v=8PWXjh0dzZ8&amp;list=PLdJFWTlhZvaOkoiPO3DDLAsRV2004tDZG&amp;t=1s</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19</a:t>
            </a:fld>
            <a:endParaRPr lang="en-CA"/>
          </a:p>
        </p:txBody>
      </p:sp>
    </p:spTree>
    <p:extLst>
      <p:ext uri="{BB962C8B-B14F-4D97-AF65-F5344CB8AC3E}">
        <p14:creationId xmlns:p14="http://schemas.microsoft.com/office/powerpoint/2010/main" val="86305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(Slide Copy):</a:t>
            </a:r>
            <a:r>
              <a:rPr lang="en-US" dirty="0"/>
              <a:t> The orientation or movement of elements within a design (horizontal, vertical, diagonal, or implied).</a:t>
            </a:r>
            <a:br>
              <a:rPr lang="en-US" dirty="0"/>
            </a:br>
            <a:r>
              <a:rPr lang="en-US" b="1" dirty="0"/>
              <a:t>Why it matters (Speaker Notes):</a:t>
            </a:r>
            <a:endParaRPr lang="en-US" dirty="0"/>
          </a:p>
          <a:p>
            <a:endParaRPr lang="en-US" dirty="0"/>
          </a:p>
          <a:p>
            <a:r>
              <a:rPr lang="en-US" dirty="0"/>
              <a:t>Image from </a:t>
            </a:r>
          </a:p>
          <a:p>
            <a:r>
              <a:rPr lang="en-US" dirty="0">
                <a:hlinkClick r:id="rId3"/>
              </a:rPr>
              <a:t>Direction - An important part of Web Design | Infographic - InkHive.com</a:t>
            </a:r>
            <a:endParaRPr lang="en-US" dirty="0"/>
          </a:p>
          <a:p>
            <a:r>
              <a:rPr lang="en-CA" dirty="0"/>
              <a:t>https://inkhive.com/2018/03/25/direction-important-part-web-design-infographic/</a:t>
            </a:r>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20</a:t>
            </a:fld>
            <a:endParaRPr lang="en-CA"/>
          </a:p>
        </p:txBody>
      </p:sp>
    </p:spTree>
    <p:extLst>
      <p:ext uri="{BB962C8B-B14F-4D97-AF65-F5344CB8AC3E}">
        <p14:creationId xmlns:p14="http://schemas.microsoft.com/office/powerpoint/2010/main" val="2927182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8F4FE-7983-B64D-C374-222195209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69634-6C4B-0F53-6DE8-4EF7B37E7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F30FB-41DA-D434-EA0B-6EF51B3DADC8}"/>
              </a:ext>
            </a:extLst>
          </p:cNvPr>
          <p:cNvSpPr>
            <a:spLocks noGrp="1"/>
          </p:cNvSpPr>
          <p:nvPr>
            <p:ph type="body" idx="1"/>
          </p:nvPr>
        </p:nvSpPr>
        <p:spPr/>
        <p:txBody>
          <a:bodyPr/>
          <a:lstStyle/>
          <a:p>
            <a:r>
              <a:rPr lang="en-US" dirty="0"/>
              <a:t>Direction creates movement and tells the viewer how to read the page.</a:t>
            </a:r>
          </a:p>
          <a:p>
            <a:endParaRPr lang="en-US" dirty="0"/>
          </a:p>
          <a:p>
            <a:r>
              <a:rPr lang="en-US" dirty="0"/>
              <a:t>Horizontal direction = calm, stability (think of landscape photos).</a:t>
            </a:r>
          </a:p>
          <a:p>
            <a:endParaRPr lang="en-US" dirty="0"/>
          </a:p>
          <a:p>
            <a:r>
              <a:rPr lang="en-US" dirty="0"/>
              <a:t>Left to Right </a:t>
            </a:r>
          </a:p>
          <a:p>
            <a:endParaRPr lang="en-US" dirty="0"/>
          </a:p>
          <a:p>
            <a:r>
              <a:rPr lang="en-US" dirty="0"/>
              <a:t>Some cultures it is right to left</a:t>
            </a:r>
          </a:p>
          <a:p>
            <a:endParaRPr lang="en-US" dirty="0"/>
          </a:p>
          <a:p>
            <a:r>
              <a:rPr lang="en-CA" dirty="0"/>
              <a:t>Images from </a:t>
            </a:r>
          </a:p>
          <a:p>
            <a:r>
              <a:rPr lang="en-US" dirty="0">
                <a:hlinkClick r:id="rId3"/>
              </a:rPr>
              <a:t>Daytona Beach vacations ad ideas turn off tourism leaders</a:t>
            </a:r>
            <a:endParaRPr lang="en-US" dirty="0"/>
          </a:p>
          <a:p>
            <a:r>
              <a:rPr lang="en-CA" dirty="0"/>
              <a:t>https://www.news-journalonline.com/story/news/2022/02/10/daytona-beach-vacations-ad-ideas-turn-off-tourism-leaders/6707421001/</a:t>
            </a:r>
          </a:p>
          <a:p>
            <a:endParaRPr lang="en-CA" dirty="0"/>
          </a:p>
          <a:p>
            <a:r>
              <a:rPr lang="en-US" dirty="0">
                <a:hlinkClick r:id="rId4"/>
              </a:rPr>
              <a:t>Heinz spotlights ancient origins of ‘soup’ and how it’s able to make the classic meal ‘great now’ in new ad - MARKETECH APAC</a:t>
            </a:r>
            <a:endParaRPr lang="en-US" dirty="0"/>
          </a:p>
          <a:p>
            <a:r>
              <a:rPr lang="en-CA" dirty="0"/>
              <a:t>https://marketech-apac.com/heinz-spotlights-ancient-origins-of-soup-and-how-its-able-to-make-the-classic-meal-great-now-in-new-ad/</a:t>
            </a:r>
          </a:p>
        </p:txBody>
      </p:sp>
      <p:sp>
        <p:nvSpPr>
          <p:cNvPr id="4" name="Slide Number Placeholder 3">
            <a:extLst>
              <a:ext uri="{FF2B5EF4-FFF2-40B4-BE49-F238E27FC236}">
                <a16:creationId xmlns:a16="http://schemas.microsoft.com/office/drawing/2014/main" id="{6DBF7DAF-BD8B-64A3-82CD-4C3017ADF135}"/>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21</a:t>
            </a:fld>
            <a:endParaRPr lang="en-CA"/>
          </a:p>
        </p:txBody>
      </p:sp>
    </p:spTree>
    <p:extLst>
      <p:ext uri="{BB962C8B-B14F-4D97-AF65-F5344CB8AC3E}">
        <p14:creationId xmlns:p14="http://schemas.microsoft.com/office/powerpoint/2010/main" val="3180310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87E11-BA80-457D-7C8B-953DAD2C1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68BEA-9B56-8F9C-BEAB-9BFD0C16B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2BAA4-E7B5-AB2B-42A0-591876171297}"/>
              </a:ext>
            </a:extLst>
          </p:cNvPr>
          <p:cNvSpPr>
            <a:spLocks noGrp="1"/>
          </p:cNvSpPr>
          <p:nvPr>
            <p:ph type="body" idx="1"/>
          </p:nvPr>
        </p:nvSpPr>
        <p:spPr/>
        <p:txBody>
          <a:bodyPr/>
          <a:lstStyle/>
          <a:p>
            <a:r>
              <a:rPr lang="en-US" dirty="0"/>
              <a:t>Vertical direction = strength, authority (think of skyscraper ads or luxury branding).</a:t>
            </a:r>
          </a:p>
          <a:p>
            <a:endParaRPr lang="en-US" dirty="0"/>
          </a:p>
          <a:p>
            <a:r>
              <a:rPr lang="en-US" dirty="0"/>
              <a:t>Bottom up</a:t>
            </a:r>
          </a:p>
          <a:p>
            <a:endParaRPr lang="en-US" dirty="0"/>
          </a:p>
          <a:p>
            <a:r>
              <a:rPr lang="en-US" dirty="0"/>
              <a:t>Top down</a:t>
            </a:r>
          </a:p>
          <a:p>
            <a:endParaRPr lang="en-US" dirty="0"/>
          </a:p>
        </p:txBody>
      </p:sp>
      <p:sp>
        <p:nvSpPr>
          <p:cNvPr id="4" name="Slide Number Placeholder 3">
            <a:extLst>
              <a:ext uri="{FF2B5EF4-FFF2-40B4-BE49-F238E27FC236}">
                <a16:creationId xmlns:a16="http://schemas.microsoft.com/office/drawing/2014/main" id="{CD30C545-048B-FC48-45AB-539AD2A20E5A}"/>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22</a:t>
            </a:fld>
            <a:endParaRPr lang="en-CA"/>
          </a:p>
        </p:txBody>
      </p:sp>
    </p:spTree>
    <p:extLst>
      <p:ext uri="{BB962C8B-B14F-4D97-AF65-F5344CB8AC3E}">
        <p14:creationId xmlns:p14="http://schemas.microsoft.com/office/powerpoint/2010/main" val="1578039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703B-D920-12D9-6CF2-6FBF22A9B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33AFB-1097-BF04-495B-FC31142D9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19EF9-D3AB-6D88-0D8D-096E06BB9221}"/>
              </a:ext>
            </a:extLst>
          </p:cNvPr>
          <p:cNvSpPr>
            <a:spLocks noGrp="1"/>
          </p:cNvSpPr>
          <p:nvPr>
            <p:ph type="body" idx="1"/>
          </p:nvPr>
        </p:nvSpPr>
        <p:spPr/>
        <p:txBody>
          <a:bodyPr/>
          <a:lstStyle/>
          <a:p>
            <a:r>
              <a:rPr lang="en-US" dirty="0"/>
              <a:t>Diagonal direction = dynamism, motion, tension—very common in sports design.</a:t>
            </a:r>
          </a:p>
          <a:p>
            <a:endParaRPr lang="en-US" dirty="0"/>
          </a:p>
          <a:p>
            <a:r>
              <a:rPr lang="en-US" dirty="0"/>
              <a:t>Images from </a:t>
            </a:r>
          </a:p>
          <a:p>
            <a:r>
              <a:rPr lang="pt-BR" dirty="0">
                <a:hlinkClick r:id="rId3"/>
              </a:rPr>
              <a:t>Mazda RX8 Ad, 2003, Japan. : r/mazda</a:t>
            </a:r>
            <a:endParaRPr lang="pt-BR" dirty="0"/>
          </a:p>
          <a:p>
            <a:r>
              <a:rPr lang="en-US" dirty="0"/>
              <a:t>https://www.reddit.com/r/mazda/comments/l7018p/mazda_rx8_ad_2003_japan/#lightbox</a:t>
            </a:r>
          </a:p>
        </p:txBody>
      </p:sp>
      <p:sp>
        <p:nvSpPr>
          <p:cNvPr id="4" name="Slide Number Placeholder 3">
            <a:extLst>
              <a:ext uri="{FF2B5EF4-FFF2-40B4-BE49-F238E27FC236}">
                <a16:creationId xmlns:a16="http://schemas.microsoft.com/office/drawing/2014/main" id="{27A1FEFB-F4B2-B84E-853C-F35A87F3E81F}"/>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23</a:t>
            </a:fld>
            <a:endParaRPr lang="en-CA"/>
          </a:p>
        </p:txBody>
      </p:sp>
    </p:spTree>
    <p:extLst>
      <p:ext uri="{BB962C8B-B14F-4D97-AF65-F5344CB8AC3E}">
        <p14:creationId xmlns:p14="http://schemas.microsoft.com/office/powerpoint/2010/main" val="2731755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C0CA9-D8B4-AF9A-AD59-40BACA8FE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1EE5D-3FA6-84E3-772E-750B9DC37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D2C45-C44A-BEEE-188A-F4B5B3B95BEB}"/>
              </a:ext>
            </a:extLst>
          </p:cNvPr>
          <p:cNvSpPr>
            <a:spLocks noGrp="1"/>
          </p:cNvSpPr>
          <p:nvPr>
            <p:ph type="body" idx="1"/>
          </p:nvPr>
        </p:nvSpPr>
        <p:spPr/>
        <p:txBody>
          <a:bodyPr/>
          <a:lstStyle/>
          <a:p>
            <a:r>
              <a:rPr lang="en-US" dirty="0"/>
              <a:t>Implied direction: placement of objects or figures leading your eye across the page.</a:t>
            </a:r>
          </a:p>
          <a:p>
            <a:endParaRPr lang="en-US" dirty="0"/>
          </a:p>
          <a:p>
            <a:r>
              <a:rPr lang="en-US" dirty="0"/>
              <a:t>Example to show: </a:t>
            </a:r>
            <a:r>
              <a:rPr lang="en-US" b="1" dirty="0"/>
              <a:t>Car ads</a:t>
            </a:r>
            <a:r>
              <a:rPr lang="en-US" dirty="0"/>
              <a:t> often use diagonal orientation to emphasize speed and energy.</a:t>
            </a:r>
          </a:p>
          <a:p>
            <a:endParaRPr lang="en-CA" dirty="0"/>
          </a:p>
          <a:p>
            <a:endParaRPr lang="en-CA" dirty="0"/>
          </a:p>
          <a:p>
            <a:r>
              <a:rPr lang="en-CA" dirty="0"/>
              <a:t>Images from </a:t>
            </a:r>
          </a:p>
          <a:p>
            <a:r>
              <a:rPr lang="en-US" dirty="0">
                <a:hlinkClick r:id="rId3"/>
              </a:rPr>
              <a:t>Implied lines and their role in photographic composition — A Year With My Camera</a:t>
            </a:r>
            <a:endParaRPr lang="en-US" dirty="0"/>
          </a:p>
          <a:p>
            <a:r>
              <a:rPr lang="en-CA" dirty="0"/>
              <a:t>https://ayearwithmycamera.com/blog/implied-lines-and-their-role-in-photographic-composition</a:t>
            </a:r>
          </a:p>
          <a:p>
            <a:r>
              <a:rPr lang="en-US" dirty="0">
                <a:hlinkClick r:id="rId4"/>
              </a:rPr>
              <a:t>Papia: Diaper • Ads of the World™ | Part of The Clio Network</a:t>
            </a:r>
            <a:endParaRPr lang="en-US" dirty="0"/>
          </a:p>
          <a:p>
            <a:r>
              <a:rPr lang="en-CA" dirty="0"/>
              <a:t>https://www.adsoftheworld.com/campaigns/diaper-447d0060-2982-45dd-9882-d8e1b8620bba</a:t>
            </a:r>
          </a:p>
        </p:txBody>
      </p:sp>
      <p:sp>
        <p:nvSpPr>
          <p:cNvPr id="4" name="Slide Number Placeholder 3">
            <a:extLst>
              <a:ext uri="{FF2B5EF4-FFF2-40B4-BE49-F238E27FC236}">
                <a16:creationId xmlns:a16="http://schemas.microsoft.com/office/drawing/2014/main" id="{20342411-D4E8-D3C5-BCB9-E22616A4E672}"/>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24</a:t>
            </a:fld>
            <a:endParaRPr lang="en-CA"/>
          </a:p>
        </p:txBody>
      </p:sp>
    </p:spTree>
    <p:extLst>
      <p:ext uri="{BB962C8B-B14F-4D97-AF65-F5344CB8AC3E}">
        <p14:creationId xmlns:p14="http://schemas.microsoft.com/office/powerpoint/2010/main" val="2529842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21325525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8179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5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0849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2099" y="2194560"/>
            <a:ext cx="3907540" cy="4069080"/>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6740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6597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994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3760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94360" y="3124200"/>
            <a:ext cx="3086100" cy="313944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4874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3458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335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dirty="0"/>
              <a:t>Click to edit Master title style</a:t>
            </a:r>
          </a:p>
        </p:txBody>
      </p:sp>
      <p:sp>
        <p:nvSpPr>
          <p:cNvPr id="4" name="Text Placeholder 3"/>
          <p:cNvSpPr>
            <a:spLocks noGrp="1"/>
          </p:cNvSpPr>
          <p:nvPr>
            <p:ph type="body" sz="half" idx="2"/>
          </p:nvPr>
        </p:nvSpPr>
        <p:spPr>
          <a:xfrm>
            <a:off x="685800" y="3649134"/>
            <a:ext cx="7772400" cy="1330852"/>
          </a:xfrm>
        </p:spPr>
        <p:txBody>
          <a:bodyPr anchor="ct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1137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64476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8957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4913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8261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82574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914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286121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1000logos.net/adidas-logo/" TargetMode="External"/><Relationship Id="rId5" Type="http://schemas.openxmlformats.org/officeDocument/2006/relationships/image" Target="../media/image28.jpeg"/><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4.jpeg"/></Relationships>
</file>

<file path=ppt/slides/_rels/slide2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73321" y="640080"/>
            <a:ext cx="4688333" cy="3566160"/>
          </a:xfrm>
        </p:spPr>
        <p:txBody>
          <a:bodyPr anchor="b">
            <a:normAutofit/>
          </a:bodyPr>
          <a:lstStyle/>
          <a:p>
            <a:r>
              <a:rPr lang="en-US" sz="4700" dirty="0"/>
              <a:t>The DNA of Design</a:t>
            </a:r>
            <a:endParaRPr lang="en-CA" sz="4700" dirty="0"/>
          </a:p>
        </p:txBody>
      </p:sp>
      <p:sp>
        <p:nvSpPr>
          <p:cNvPr id="3" name="Subtitle 2"/>
          <p:cNvSpPr>
            <a:spLocks noGrp="1"/>
          </p:cNvSpPr>
          <p:nvPr>
            <p:ph type="subTitle" idx="1"/>
          </p:nvPr>
        </p:nvSpPr>
        <p:spPr>
          <a:xfrm>
            <a:off x="3973320" y="4636008"/>
            <a:ext cx="4688333" cy="1572768"/>
          </a:xfrm>
        </p:spPr>
        <p:txBody>
          <a:bodyPr>
            <a:normAutofit/>
          </a:bodyPr>
          <a:lstStyle/>
          <a:p>
            <a:r>
              <a:rPr lang="en-US" dirty="0"/>
              <a:t>Elements of Design – Building Blocks of Visual Communication</a:t>
            </a:r>
            <a:endParaRPr lang="en-CA" dirty="0"/>
          </a:p>
        </p:txBody>
      </p:sp>
      <p:pic>
        <p:nvPicPr>
          <p:cNvPr id="5" name="Picture 4" descr="Yellow floating 3D art">
            <a:extLst>
              <a:ext uri="{FF2B5EF4-FFF2-40B4-BE49-F238E27FC236}">
                <a16:creationId xmlns:a16="http://schemas.microsoft.com/office/drawing/2014/main" id="{228BA788-1DED-DD9C-4452-A5A47D4AA685}"/>
              </a:ext>
            </a:extLst>
          </p:cNvPr>
          <p:cNvPicPr>
            <a:picLocks noChangeAspect="1"/>
          </p:cNvPicPr>
          <p:nvPr/>
        </p:nvPicPr>
        <p:blipFill>
          <a:blip r:embed="rId3"/>
          <a:srcRect l="25286" r="39061"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Do We Design?</a:t>
            </a:r>
          </a:p>
        </p:txBody>
      </p:sp>
      <p:sp>
        <p:nvSpPr>
          <p:cNvPr id="3" name="Content Placeholder 2"/>
          <p:cNvSpPr>
            <a:spLocks noGrp="1"/>
          </p:cNvSpPr>
          <p:nvPr>
            <p:ph idx="1"/>
          </p:nvPr>
        </p:nvSpPr>
        <p:spPr/>
        <p:txBody>
          <a:bodyPr/>
          <a:lstStyle/>
          <a:p>
            <a:endParaRPr dirty="0"/>
          </a:p>
          <a:p>
            <a:r>
              <a:rPr dirty="0"/>
              <a:t>Communication</a:t>
            </a:r>
          </a:p>
          <a:p>
            <a:r>
              <a:rPr dirty="0"/>
              <a:t>Clarity</a:t>
            </a:r>
          </a:p>
          <a:p>
            <a:r>
              <a:rPr dirty="0"/>
              <a:t>Persuasion</a:t>
            </a:r>
          </a:p>
          <a:p>
            <a:r>
              <a:rPr dirty="0"/>
              <a:t>Emotion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7233F-F614-E478-3902-55A499295EE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F470644-3BA2-C5E0-658F-6191329F4060}"/>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F97BB9C8-860D-9A82-38E1-722378E4A36C}"/>
              </a:ext>
            </a:extLst>
          </p:cNvPr>
          <p:cNvPicPr>
            <a:picLocks noChangeAspect="1"/>
          </p:cNvPicPr>
          <p:nvPr/>
        </p:nvPicPr>
        <p:blipFill>
          <a:blip r:embed="rId3"/>
          <a:stretch>
            <a:fillRect/>
          </a:stretch>
        </p:blipFill>
        <p:spPr>
          <a:xfrm>
            <a:off x="305671" y="990773"/>
            <a:ext cx="8532657" cy="5829127"/>
          </a:xfrm>
          <a:prstGeom prst="rect">
            <a:avLst/>
          </a:prstGeom>
        </p:spPr>
      </p:pic>
    </p:spTree>
    <p:extLst>
      <p:ext uri="{BB962C8B-B14F-4D97-AF65-F5344CB8AC3E}">
        <p14:creationId xmlns:p14="http://schemas.microsoft.com/office/powerpoint/2010/main" val="2908724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1EDD66-DF4E-BE01-20BE-C91DF105E177}"/>
              </a:ext>
            </a:extLst>
          </p:cNvPr>
          <p:cNvSpPr>
            <a:spLocks noGrp="1"/>
          </p:cNvSpPr>
          <p:nvPr>
            <p:ph type="title"/>
          </p:nvPr>
        </p:nvSpPr>
        <p:spPr/>
        <p:txBody>
          <a:bodyPr/>
          <a:lstStyle/>
          <a:p>
            <a:endParaRPr lang="en-CA"/>
          </a:p>
        </p:txBody>
      </p:sp>
      <p:pic>
        <p:nvPicPr>
          <p:cNvPr id="1026" name="Picture 2" descr="An image of a confusing Los Angeles parking sign">
            <a:extLst>
              <a:ext uri="{FF2B5EF4-FFF2-40B4-BE49-F238E27FC236}">
                <a16:creationId xmlns:a16="http://schemas.microsoft.com/office/drawing/2014/main" id="{8D132D7D-1732-D6C2-5C03-B7C0F17E5C02}"/>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197053" y="1091820"/>
            <a:ext cx="9030268" cy="54181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 image of Los Angeles parking sign design by designer Nikki Sylianteng">
            <a:extLst>
              <a:ext uri="{FF2B5EF4-FFF2-40B4-BE49-F238E27FC236}">
                <a16:creationId xmlns:a16="http://schemas.microsoft.com/office/drawing/2014/main" id="{EAD6F0A6-23E2-8BE7-4997-3C919773EECC}"/>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2171700" y="873457"/>
            <a:ext cx="9248228" cy="5745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2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C96E3-CA43-B2FA-8BAC-4031A560F3AB}"/>
              </a:ext>
            </a:extLst>
          </p:cNvPr>
          <p:cNvSpPr>
            <a:spLocks noGrp="1"/>
          </p:cNvSpPr>
          <p:nvPr>
            <p:ph type="title"/>
          </p:nvPr>
        </p:nvSpPr>
        <p:spPr/>
        <p:txBody>
          <a:bodyPr/>
          <a:lstStyle/>
          <a:p>
            <a:endParaRPr lang="en-CA"/>
          </a:p>
        </p:txBody>
      </p:sp>
      <p:sp>
        <p:nvSpPr>
          <p:cNvPr id="4" name="Content Placeholder 3">
            <a:extLst>
              <a:ext uri="{FF2B5EF4-FFF2-40B4-BE49-F238E27FC236}">
                <a16:creationId xmlns:a16="http://schemas.microsoft.com/office/drawing/2014/main" id="{F318BDBD-546A-B2D0-010D-DBCEA3FD3E8E}"/>
              </a:ext>
            </a:extLst>
          </p:cNvPr>
          <p:cNvSpPr>
            <a:spLocks noGrp="1"/>
          </p:cNvSpPr>
          <p:nvPr>
            <p:ph sz="half" idx="2"/>
          </p:nvPr>
        </p:nvSpPr>
        <p:spPr/>
        <p:txBody>
          <a:bodyPr/>
          <a:lstStyle/>
          <a:p>
            <a:endParaRPr lang="en-CA"/>
          </a:p>
        </p:txBody>
      </p:sp>
      <p:pic>
        <p:nvPicPr>
          <p:cNvPr id="2050" name="Picture 2" descr="Good vs bad graphic design example">
            <a:extLst>
              <a:ext uri="{FF2B5EF4-FFF2-40B4-BE49-F238E27FC236}">
                <a16:creationId xmlns:a16="http://schemas.microsoft.com/office/drawing/2014/main" id="{78A5C8F9-FE84-7B37-657A-688C38FDB1D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487830" y="2122824"/>
            <a:ext cx="10164935" cy="356829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AD83035-C3AB-D157-84FE-DB2F3FA26F95}"/>
              </a:ext>
            </a:extLst>
          </p:cNvPr>
          <p:cNvSpPr/>
          <p:nvPr/>
        </p:nvSpPr>
        <p:spPr>
          <a:xfrm>
            <a:off x="4642099" y="1774209"/>
            <a:ext cx="5989507" cy="44894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56001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Elements of Design</a:t>
            </a:r>
          </a:p>
        </p:txBody>
      </p:sp>
      <p:sp>
        <p:nvSpPr>
          <p:cNvPr id="3" name="Content Placeholder 2"/>
          <p:cNvSpPr>
            <a:spLocks noGrp="1"/>
          </p:cNvSpPr>
          <p:nvPr>
            <p:ph idx="1"/>
          </p:nvPr>
        </p:nvSpPr>
        <p:spPr>
          <a:xfrm>
            <a:off x="524024" y="2194560"/>
            <a:ext cx="2319662" cy="4069080"/>
          </a:xfrm>
        </p:spPr>
        <p:txBody>
          <a:bodyPr>
            <a:normAutofit/>
          </a:bodyPr>
          <a:lstStyle/>
          <a:p>
            <a:endParaRPr sz="2400" dirty="0"/>
          </a:p>
          <a:p>
            <a:r>
              <a:rPr sz="2400" b="1" dirty="0"/>
              <a:t>Line</a:t>
            </a:r>
            <a:r>
              <a:rPr lang="en-CA" sz="2400" b="1" dirty="0"/>
              <a:t>:</a:t>
            </a:r>
            <a:endParaRPr sz="2400" b="1" dirty="0"/>
          </a:p>
          <a:p>
            <a:r>
              <a:rPr sz="2400" b="1" dirty="0"/>
              <a:t>Shape</a:t>
            </a:r>
            <a:r>
              <a:rPr lang="en-CA" sz="2400" b="1" dirty="0"/>
              <a:t>:</a:t>
            </a:r>
            <a:endParaRPr sz="2400" b="1" dirty="0"/>
          </a:p>
          <a:p>
            <a:r>
              <a:rPr sz="2400" b="1" dirty="0"/>
              <a:t>Direction</a:t>
            </a:r>
            <a:r>
              <a:rPr lang="en-CA" sz="2400" b="1" dirty="0"/>
              <a:t>:</a:t>
            </a:r>
            <a:endParaRPr sz="2400" b="1" dirty="0"/>
          </a:p>
          <a:p>
            <a:r>
              <a:rPr sz="2400" dirty="0"/>
              <a:t>Size</a:t>
            </a:r>
            <a:r>
              <a:rPr lang="en-CA" sz="2400" dirty="0"/>
              <a:t>:</a:t>
            </a:r>
            <a:endParaRPr sz="2400" dirty="0"/>
          </a:p>
          <a:p>
            <a:r>
              <a:rPr sz="2400" dirty="0"/>
              <a:t>Texture</a:t>
            </a:r>
            <a:r>
              <a:rPr lang="en-CA" sz="2400" dirty="0"/>
              <a:t>:</a:t>
            </a:r>
            <a:endParaRPr sz="2400" dirty="0"/>
          </a:p>
          <a:p>
            <a:r>
              <a:rPr sz="2400" dirty="0"/>
              <a:t>Colour</a:t>
            </a:r>
            <a:r>
              <a:rPr lang="en-CA" sz="2400" dirty="0"/>
              <a:t>:</a:t>
            </a:r>
            <a:endParaRPr sz="2400" dirty="0"/>
          </a:p>
        </p:txBody>
      </p:sp>
      <p:sp>
        <p:nvSpPr>
          <p:cNvPr id="4" name="Content Placeholder 2">
            <a:extLst>
              <a:ext uri="{FF2B5EF4-FFF2-40B4-BE49-F238E27FC236}">
                <a16:creationId xmlns:a16="http://schemas.microsoft.com/office/drawing/2014/main" id="{CD3816AA-1C42-2C3A-9D4C-9B63D1994129}"/>
              </a:ext>
            </a:extLst>
          </p:cNvPr>
          <p:cNvSpPr txBox="1">
            <a:spLocks/>
          </p:cNvSpPr>
          <p:nvPr/>
        </p:nvSpPr>
        <p:spPr>
          <a:xfrm>
            <a:off x="2706189" y="2194560"/>
            <a:ext cx="2018211" cy="406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US" dirty="0"/>
          </a:p>
        </p:txBody>
      </p:sp>
      <p:sp>
        <p:nvSpPr>
          <p:cNvPr id="5" name="Content Placeholder 2">
            <a:extLst>
              <a:ext uri="{FF2B5EF4-FFF2-40B4-BE49-F238E27FC236}">
                <a16:creationId xmlns:a16="http://schemas.microsoft.com/office/drawing/2014/main" id="{896DB92D-55DC-AC6B-6F60-775F7E92BF72}"/>
              </a:ext>
            </a:extLst>
          </p:cNvPr>
          <p:cNvSpPr txBox="1">
            <a:spLocks/>
          </p:cNvSpPr>
          <p:nvPr/>
        </p:nvSpPr>
        <p:spPr>
          <a:xfrm>
            <a:off x="2312628" y="2194560"/>
            <a:ext cx="6871558" cy="406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US" sz="2400" dirty="0"/>
          </a:p>
          <a:p>
            <a:pPr marL="0" indent="0">
              <a:buNone/>
            </a:pPr>
            <a:r>
              <a:rPr lang="en-US" sz="2400" dirty="0"/>
              <a:t>A path between two points</a:t>
            </a:r>
          </a:p>
          <a:p>
            <a:pPr marL="0" indent="0">
              <a:buNone/>
            </a:pPr>
            <a:r>
              <a:rPr lang="en-US" sz="2400" dirty="0"/>
              <a:t>A two-dimensional enclosed space</a:t>
            </a:r>
          </a:p>
          <a:p>
            <a:pPr marL="0" indent="0">
              <a:buNone/>
            </a:pPr>
            <a:r>
              <a:rPr lang="en-US" sz="2400" dirty="0"/>
              <a:t>The orientation or movement of elements</a:t>
            </a:r>
          </a:p>
          <a:p>
            <a:pPr marL="0" indent="0">
              <a:buNone/>
            </a:pPr>
            <a:r>
              <a:rPr lang="en-US" sz="2400" dirty="0"/>
              <a:t>The relative scale of elements</a:t>
            </a:r>
          </a:p>
          <a:p>
            <a:pPr marL="0" indent="0">
              <a:buNone/>
            </a:pPr>
            <a:r>
              <a:rPr lang="en-US" sz="2400" dirty="0"/>
              <a:t>The surface quality of an object</a:t>
            </a:r>
          </a:p>
          <a:p>
            <a:pPr marL="0" indent="0">
              <a:buNone/>
            </a:pPr>
            <a:r>
              <a:rPr lang="en-US" sz="2400" dirty="0"/>
              <a:t>The perception of light reflected from surfaces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Line</a:t>
            </a:r>
          </a:p>
        </p:txBody>
      </p:sp>
      <p:pic>
        <p:nvPicPr>
          <p:cNvPr id="4" name="Picture 2" descr="See the source image">
            <a:extLst>
              <a:ext uri="{FF2B5EF4-FFF2-40B4-BE49-F238E27FC236}">
                <a16:creationId xmlns:a16="http://schemas.microsoft.com/office/drawing/2014/main" id="{B639EBA5-3237-82E9-D3C0-13D33FD15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2579688"/>
            <a:ext cx="4761089" cy="267811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064760" y="1996607"/>
            <a:ext cx="3863340" cy="4069080"/>
          </a:xfrm>
          <a:solidFill>
            <a:srgbClr val="FFFFFF">
              <a:alpha val="69804"/>
            </a:srgbClr>
          </a:solidFill>
          <a:ln>
            <a:solidFill>
              <a:schemeClr val="bg1"/>
            </a:solidFill>
          </a:ln>
        </p:spPr>
        <p:txBody>
          <a:bodyPr>
            <a:normAutofit lnSpcReduction="10000"/>
          </a:bodyPr>
          <a:lstStyle/>
          <a:p>
            <a:pPr marL="0" indent="0">
              <a:buNone/>
            </a:pPr>
            <a:r>
              <a:rPr lang="en-US" dirty="0"/>
              <a:t>A path between two points; lines can be straight, curved, thick, thin, implied, or literal.</a:t>
            </a:r>
          </a:p>
          <a:p>
            <a:pPr marL="0" indent="0">
              <a:buNone/>
            </a:pPr>
            <a:endParaRPr lang="en-US" dirty="0"/>
          </a:p>
          <a:p>
            <a:r>
              <a:rPr dirty="0"/>
              <a:t>Defines edges</a:t>
            </a:r>
          </a:p>
          <a:p>
            <a:r>
              <a:rPr dirty="0"/>
              <a:t>Guides the eye</a:t>
            </a:r>
          </a:p>
          <a:p>
            <a:r>
              <a:rPr dirty="0"/>
              <a:t>Creates mood or movement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4BE91-8735-5EDA-C06B-DF032457882A}"/>
              </a:ext>
            </a:extLst>
          </p:cNvPr>
          <p:cNvSpPr>
            <a:spLocks noGrp="1"/>
          </p:cNvSpPr>
          <p:nvPr>
            <p:ph type="title"/>
          </p:nvPr>
        </p:nvSpPr>
        <p:spPr/>
        <p:txBody>
          <a:bodyPr/>
          <a:lstStyle/>
          <a:p>
            <a:endParaRPr lang="en-CA"/>
          </a:p>
        </p:txBody>
      </p:sp>
      <p:pic>
        <p:nvPicPr>
          <p:cNvPr id="4" name="Picture 2">
            <a:extLst>
              <a:ext uri="{FF2B5EF4-FFF2-40B4-BE49-F238E27FC236}">
                <a16:creationId xmlns:a16="http://schemas.microsoft.com/office/drawing/2014/main" id="{7DF7CD7F-2571-7706-C2AF-5FB8E4CCFD0F}"/>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0282" t="32030" r="10282" b="16407"/>
          <a:stretch/>
        </p:blipFill>
        <p:spPr bwMode="auto">
          <a:xfrm>
            <a:off x="757365" y="281706"/>
            <a:ext cx="7629269" cy="6294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677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08424-A314-81BB-8852-C167949B7F8E}"/>
              </a:ext>
            </a:extLst>
          </p:cNvPr>
          <p:cNvSpPr>
            <a:spLocks noGrp="1"/>
          </p:cNvSpPr>
          <p:nvPr>
            <p:ph type="title"/>
          </p:nvPr>
        </p:nvSpPr>
        <p:spPr/>
        <p:txBody>
          <a:bodyPr/>
          <a:lstStyle/>
          <a:p>
            <a:r>
              <a:rPr lang="en-CA" dirty="0"/>
              <a:t>Line - Implied</a:t>
            </a:r>
          </a:p>
        </p:txBody>
      </p:sp>
      <p:sp>
        <p:nvSpPr>
          <p:cNvPr id="3" name="Content Placeholder 2">
            <a:extLst>
              <a:ext uri="{FF2B5EF4-FFF2-40B4-BE49-F238E27FC236}">
                <a16:creationId xmlns:a16="http://schemas.microsoft.com/office/drawing/2014/main" id="{D6634A64-4110-162E-CBD6-2F62B89116B5}"/>
              </a:ext>
            </a:extLst>
          </p:cNvPr>
          <p:cNvSpPr>
            <a:spLocks noGrp="1"/>
          </p:cNvSpPr>
          <p:nvPr>
            <p:ph idx="1"/>
          </p:nvPr>
        </p:nvSpPr>
        <p:spPr/>
        <p:txBody>
          <a:bodyPr/>
          <a:lstStyle/>
          <a:p>
            <a:endParaRPr lang="en-CA" dirty="0"/>
          </a:p>
        </p:txBody>
      </p:sp>
      <p:pic>
        <p:nvPicPr>
          <p:cNvPr id="4" name="Picture 4" descr="See the source image">
            <a:extLst>
              <a:ext uri="{FF2B5EF4-FFF2-40B4-BE49-F238E27FC236}">
                <a16:creationId xmlns:a16="http://schemas.microsoft.com/office/drawing/2014/main" id="{8F358059-6D37-94C4-DFBC-D4D3D5BEF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348" y="1607451"/>
            <a:ext cx="6818177" cy="2846589"/>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4">
            <a:extLst>
              <a:ext uri="{FF2B5EF4-FFF2-40B4-BE49-F238E27FC236}">
                <a16:creationId xmlns:a16="http://schemas.microsoft.com/office/drawing/2014/main" id="{0EC33AAF-5CE8-4826-200F-B25C75C9F98D}"/>
              </a:ext>
            </a:extLst>
          </p:cNvPr>
          <p:cNvSpPr>
            <a:spLocks noChangeAspect="1"/>
          </p:cNvSpPr>
          <p:nvPr/>
        </p:nvSpPr>
        <p:spPr>
          <a:xfrm>
            <a:off x="3721100" y="3167905"/>
            <a:ext cx="4857552" cy="3095735"/>
          </a:xfrm>
          <a:prstGeom prst="rect">
            <a:avLst/>
          </a:prstGeom>
          <a:blipFill>
            <a:blip r:embed="rId4" cstate="print"/>
            <a:stretch>
              <a:fillRect/>
            </a:stretch>
          </a:blipFill>
        </p:spPr>
        <p:txBody>
          <a:bodyPr wrap="square" lIns="0" tIns="0" rIns="0" bIns="0" rtlCol="0"/>
          <a:lstStyle/>
          <a:p>
            <a:endParaRPr sz="1266"/>
          </a:p>
        </p:txBody>
      </p:sp>
    </p:spTree>
    <p:extLst>
      <p:ext uri="{BB962C8B-B14F-4D97-AF65-F5344CB8AC3E}">
        <p14:creationId xmlns:p14="http://schemas.microsoft.com/office/powerpoint/2010/main" val="18043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32899-3761-082C-4C68-55693AEE3124}"/>
              </a:ext>
            </a:extLst>
          </p:cNvPr>
          <p:cNvSpPr>
            <a:spLocks noGrp="1"/>
          </p:cNvSpPr>
          <p:nvPr>
            <p:ph type="title"/>
          </p:nvPr>
        </p:nvSpPr>
        <p:spPr/>
        <p:txBody>
          <a:bodyPr/>
          <a:lstStyle/>
          <a:p>
            <a:r>
              <a:rPr lang="en-CA" dirty="0"/>
              <a:t>LINE - Psychic</a:t>
            </a:r>
          </a:p>
        </p:txBody>
      </p:sp>
      <p:sp>
        <p:nvSpPr>
          <p:cNvPr id="3" name="Content Placeholder 2">
            <a:extLst>
              <a:ext uri="{FF2B5EF4-FFF2-40B4-BE49-F238E27FC236}">
                <a16:creationId xmlns:a16="http://schemas.microsoft.com/office/drawing/2014/main" id="{29EB9C9E-BCF4-B035-C4F5-30FEB94CE3A9}"/>
              </a:ext>
            </a:extLst>
          </p:cNvPr>
          <p:cNvSpPr>
            <a:spLocks noGrp="1"/>
          </p:cNvSpPr>
          <p:nvPr>
            <p:ph idx="1"/>
          </p:nvPr>
        </p:nvSpPr>
        <p:spPr/>
        <p:txBody>
          <a:bodyPr/>
          <a:lstStyle/>
          <a:p>
            <a:endParaRPr lang="en-CA"/>
          </a:p>
        </p:txBody>
      </p:sp>
      <p:grpSp>
        <p:nvGrpSpPr>
          <p:cNvPr id="4" name="Group 3">
            <a:extLst>
              <a:ext uri="{FF2B5EF4-FFF2-40B4-BE49-F238E27FC236}">
                <a16:creationId xmlns:a16="http://schemas.microsoft.com/office/drawing/2014/main" id="{4A0E5C53-7339-2E71-A75E-9DE99A93DB55}"/>
              </a:ext>
            </a:extLst>
          </p:cNvPr>
          <p:cNvGrpSpPr>
            <a:grpSpLocks noChangeAspect="1"/>
          </p:cNvGrpSpPr>
          <p:nvPr/>
        </p:nvGrpSpPr>
        <p:grpSpPr>
          <a:xfrm>
            <a:off x="1470660" y="2183062"/>
            <a:ext cx="5790260" cy="4069080"/>
            <a:chOff x="8347342" y="6279681"/>
            <a:chExt cx="4107482" cy="2886516"/>
          </a:xfrm>
        </p:grpSpPr>
        <p:sp>
          <p:nvSpPr>
            <p:cNvPr id="5" name="object 8">
              <a:extLst>
                <a:ext uri="{FF2B5EF4-FFF2-40B4-BE49-F238E27FC236}">
                  <a16:creationId xmlns:a16="http://schemas.microsoft.com/office/drawing/2014/main" id="{4E946EFC-63DD-6209-54B1-101BBDEDF1EE}"/>
                </a:ext>
              </a:extLst>
            </p:cNvPr>
            <p:cNvSpPr/>
            <p:nvPr/>
          </p:nvSpPr>
          <p:spPr>
            <a:xfrm>
              <a:off x="8347342" y="6279681"/>
              <a:ext cx="1981200" cy="2886516"/>
            </a:xfrm>
            <a:prstGeom prst="rect">
              <a:avLst/>
            </a:prstGeom>
            <a:blipFill>
              <a:blip r:embed="rId3" cstate="print"/>
              <a:stretch>
                <a:fillRect/>
              </a:stretch>
            </a:blipFill>
          </p:spPr>
          <p:txBody>
            <a:bodyPr wrap="square" lIns="0" tIns="0" rIns="0" bIns="0" rtlCol="0"/>
            <a:lstStyle/>
            <a:p>
              <a:endParaRPr sz="1266"/>
            </a:p>
          </p:txBody>
        </p:sp>
        <p:sp>
          <p:nvSpPr>
            <p:cNvPr id="6" name="object 9">
              <a:extLst>
                <a:ext uri="{FF2B5EF4-FFF2-40B4-BE49-F238E27FC236}">
                  <a16:creationId xmlns:a16="http://schemas.microsoft.com/office/drawing/2014/main" id="{52B22ECC-BAC9-3CD1-7160-2057BB26100C}"/>
                </a:ext>
              </a:extLst>
            </p:cNvPr>
            <p:cNvSpPr/>
            <p:nvPr/>
          </p:nvSpPr>
          <p:spPr>
            <a:xfrm>
              <a:off x="10531742" y="6287840"/>
              <a:ext cx="1923082" cy="2870200"/>
            </a:xfrm>
            <a:prstGeom prst="rect">
              <a:avLst/>
            </a:prstGeom>
            <a:blipFill>
              <a:blip r:embed="rId4" cstate="print"/>
              <a:stretch>
                <a:fillRect/>
              </a:stretch>
            </a:blipFill>
          </p:spPr>
          <p:txBody>
            <a:bodyPr wrap="square" lIns="0" tIns="0" rIns="0" bIns="0" rtlCol="0"/>
            <a:lstStyle/>
            <a:p>
              <a:endParaRPr sz="1266" dirty="0"/>
            </a:p>
          </p:txBody>
        </p:sp>
      </p:grpSp>
      <p:pic>
        <p:nvPicPr>
          <p:cNvPr id="4098" name="Picture 2" descr="similac13">
            <a:extLst>
              <a:ext uri="{FF2B5EF4-FFF2-40B4-BE49-F238E27FC236}">
                <a16:creationId xmlns:a16="http://schemas.microsoft.com/office/drawing/2014/main" id="{6569E3FF-C995-AB68-11CA-12A6630E8B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 y="1014932"/>
            <a:ext cx="4066540" cy="5436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83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5D09-338D-0477-878A-0548909434A5}"/>
              </a:ext>
            </a:extLst>
          </p:cNvPr>
          <p:cNvSpPr>
            <a:spLocks noGrp="1"/>
          </p:cNvSpPr>
          <p:nvPr>
            <p:ph type="title"/>
          </p:nvPr>
        </p:nvSpPr>
        <p:spPr/>
        <p:txBody>
          <a:bodyPr/>
          <a:lstStyle/>
          <a:p>
            <a:r>
              <a:rPr lang="en-CA" dirty="0"/>
              <a:t>LINE - Example</a:t>
            </a:r>
          </a:p>
        </p:txBody>
      </p:sp>
      <p:sp>
        <p:nvSpPr>
          <p:cNvPr id="3" name="Content Placeholder 2">
            <a:extLst>
              <a:ext uri="{FF2B5EF4-FFF2-40B4-BE49-F238E27FC236}">
                <a16:creationId xmlns:a16="http://schemas.microsoft.com/office/drawing/2014/main" id="{7981C925-6EF5-0BE5-870C-0757CCBAD052}"/>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9366177A-410A-C6F5-991B-983D9DDE587F}"/>
              </a:ext>
            </a:extLst>
          </p:cNvPr>
          <p:cNvPicPr>
            <a:picLocks noChangeAspect="1"/>
          </p:cNvPicPr>
          <p:nvPr/>
        </p:nvPicPr>
        <p:blipFill>
          <a:blip r:embed="rId3"/>
          <a:stretch>
            <a:fillRect/>
          </a:stretch>
        </p:blipFill>
        <p:spPr>
          <a:xfrm>
            <a:off x="647700" y="2057401"/>
            <a:ext cx="7848600" cy="4414838"/>
          </a:xfrm>
          <a:prstGeom prst="rect">
            <a:avLst/>
          </a:prstGeom>
        </p:spPr>
      </p:pic>
    </p:spTree>
    <p:extLst>
      <p:ext uri="{BB962C8B-B14F-4D97-AF65-F5344CB8AC3E}">
        <p14:creationId xmlns:p14="http://schemas.microsoft.com/office/powerpoint/2010/main" val="1842655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Shape</a:t>
            </a:r>
          </a:p>
        </p:txBody>
      </p:sp>
      <p:sp>
        <p:nvSpPr>
          <p:cNvPr id="3" name="Content Placeholder 2"/>
          <p:cNvSpPr>
            <a:spLocks noGrp="1"/>
          </p:cNvSpPr>
          <p:nvPr>
            <p:ph idx="1"/>
          </p:nvPr>
        </p:nvSpPr>
        <p:spPr>
          <a:xfrm>
            <a:off x="485277" y="1762760"/>
            <a:ext cx="7955280" cy="4069080"/>
          </a:xfrm>
        </p:spPr>
        <p:txBody>
          <a:bodyPr/>
          <a:lstStyle/>
          <a:p>
            <a:pPr marL="0" indent="0">
              <a:buNone/>
            </a:pPr>
            <a:r>
              <a:rPr lang="en-US" dirty="0"/>
              <a:t>A two-dimensional enclosed space created by lines, </a:t>
            </a:r>
            <a:r>
              <a:rPr lang="en-US" dirty="0" err="1"/>
              <a:t>colour</a:t>
            </a:r>
            <a:r>
              <a:rPr lang="en-US" dirty="0"/>
              <a:t>, or texture. </a:t>
            </a:r>
            <a:endParaRPr dirty="0"/>
          </a:p>
          <a:p>
            <a:r>
              <a:rPr dirty="0"/>
              <a:t>Geometric or organic</a:t>
            </a:r>
          </a:p>
          <a:p>
            <a:r>
              <a:rPr dirty="0"/>
              <a:t>Defines objects</a:t>
            </a:r>
          </a:p>
          <a:p>
            <a:r>
              <a:rPr dirty="0"/>
              <a:t>Creates contrast and unity</a:t>
            </a:r>
          </a:p>
        </p:txBody>
      </p:sp>
      <p:pic>
        <p:nvPicPr>
          <p:cNvPr id="6" name="Picture 2" descr="Picture">
            <a:extLst>
              <a:ext uri="{FF2B5EF4-FFF2-40B4-BE49-F238E27FC236}">
                <a16:creationId xmlns:a16="http://schemas.microsoft.com/office/drawing/2014/main" id="{BFDECC05-7A57-0F36-30E6-98E22ACE89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03" t="22634" r="4324" b="6996"/>
          <a:stretch>
            <a:fillRect/>
          </a:stretch>
        </p:blipFill>
        <p:spPr bwMode="auto">
          <a:xfrm>
            <a:off x="3683000" y="4292600"/>
            <a:ext cx="5133340" cy="2171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BDB85-0BE6-C95B-AF49-1F9B76932772}"/>
              </a:ext>
            </a:extLst>
          </p:cNvPr>
          <p:cNvSpPr>
            <a:spLocks noGrp="1"/>
          </p:cNvSpPr>
          <p:nvPr>
            <p:ph type="title"/>
          </p:nvPr>
        </p:nvSpPr>
        <p:spPr/>
        <p:txBody>
          <a:bodyPr/>
          <a:lstStyle/>
          <a:p>
            <a:r>
              <a:rPr lang="en-CA" dirty="0"/>
              <a:t>Shape - Geometric</a:t>
            </a:r>
          </a:p>
        </p:txBody>
      </p:sp>
      <p:pic>
        <p:nvPicPr>
          <p:cNvPr id="7170" name="Picture 2" descr="Picture">
            <a:extLst>
              <a:ext uri="{FF2B5EF4-FFF2-40B4-BE49-F238E27FC236}">
                <a16:creationId xmlns:a16="http://schemas.microsoft.com/office/drawing/2014/main" id="{F65FDA48-4F13-19EE-8F96-C23CCC51E06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44701" y="1758363"/>
            <a:ext cx="4500060" cy="4861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132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4228E-B0ED-2F81-4BA5-488AD89DB00D}"/>
              </a:ext>
            </a:extLst>
          </p:cNvPr>
          <p:cNvSpPr>
            <a:spLocks noGrp="1"/>
          </p:cNvSpPr>
          <p:nvPr>
            <p:ph type="title"/>
          </p:nvPr>
        </p:nvSpPr>
        <p:spPr/>
        <p:txBody>
          <a:bodyPr/>
          <a:lstStyle/>
          <a:p>
            <a:r>
              <a:rPr lang="en-CA" dirty="0"/>
              <a:t>Shape - Organic</a:t>
            </a:r>
          </a:p>
        </p:txBody>
      </p:sp>
      <p:pic>
        <p:nvPicPr>
          <p:cNvPr id="6146" name="Picture 2" descr="Picture">
            <a:extLst>
              <a:ext uri="{FF2B5EF4-FFF2-40B4-BE49-F238E27FC236}">
                <a16:creationId xmlns:a16="http://schemas.microsoft.com/office/drawing/2014/main" id="{BC6AFD1F-E712-ED63-1147-A99D300451E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1374" y="1586864"/>
            <a:ext cx="7481252" cy="4987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216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A34EC-7041-8237-DFF9-93A2BD3DB247}"/>
              </a:ext>
            </a:extLst>
          </p:cNvPr>
          <p:cNvSpPr>
            <a:spLocks noGrp="1"/>
          </p:cNvSpPr>
          <p:nvPr>
            <p:ph type="title"/>
          </p:nvPr>
        </p:nvSpPr>
        <p:spPr/>
        <p:txBody>
          <a:bodyPr/>
          <a:lstStyle/>
          <a:p>
            <a:r>
              <a:rPr lang="en-CA" dirty="0"/>
              <a:t>Shape - layouts</a:t>
            </a:r>
          </a:p>
        </p:txBody>
      </p:sp>
      <p:sp>
        <p:nvSpPr>
          <p:cNvPr id="3" name="Content Placeholder 2">
            <a:extLst>
              <a:ext uri="{FF2B5EF4-FFF2-40B4-BE49-F238E27FC236}">
                <a16:creationId xmlns:a16="http://schemas.microsoft.com/office/drawing/2014/main" id="{A3760F8B-9399-6853-3A7C-A058E638FEEE}"/>
              </a:ext>
            </a:extLst>
          </p:cNvPr>
          <p:cNvSpPr>
            <a:spLocks noGrp="1"/>
          </p:cNvSpPr>
          <p:nvPr>
            <p:ph idx="1"/>
          </p:nvPr>
        </p:nvSpPr>
        <p:spPr/>
        <p:txBody>
          <a:bodyPr/>
          <a:lstStyle/>
          <a:p>
            <a:endParaRPr lang="en-CA"/>
          </a:p>
        </p:txBody>
      </p:sp>
      <p:pic>
        <p:nvPicPr>
          <p:cNvPr id="4" name="Grid System" descr="See the source image">
            <a:extLst>
              <a:ext uri="{FF2B5EF4-FFF2-40B4-BE49-F238E27FC236}">
                <a16:creationId xmlns:a16="http://schemas.microsoft.com/office/drawing/2014/main" id="{1F9D7B9B-AD95-558C-F0C4-991F0D99C5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070" t="42174" r="7251"/>
          <a:stretch/>
        </p:blipFill>
        <p:spPr bwMode="auto">
          <a:xfrm>
            <a:off x="453194" y="1672633"/>
            <a:ext cx="7827205" cy="5185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582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2BD0-5540-CB71-2610-7545DFE963A3}"/>
              </a:ext>
            </a:extLst>
          </p:cNvPr>
          <p:cNvSpPr>
            <a:spLocks noGrp="1"/>
          </p:cNvSpPr>
          <p:nvPr>
            <p:ph type="title"/>
          </p:nvPr>
        </p:nvSpPr>
        <p:spPr/>
        <p:txBody>
          <a:bodyPr/>
          <a:lstStyle/>
          <a:p>
            <a:r>
              <a:rPr lang="en-CA" dirty="0"/>
              <a:t>Shape - symbolism</a:t>
            </a:r>
          </a:p>
        </p:txBody>
      </p:sp>
      <p:sp>
        <p:nvSpPr>
          <p:cNvPr id="3" name="Content Placeholder 2">
            <a:extLst>
              <a:ext uri="{FF2B5EF4-FFF2-40B4-BE49-F238E27FC236}">
                <a16:creationId xmlns:a16="http://schemas.microsoft.com/office/drawing/2014/main" id="{54EA0EC0-9718-2E82-E119-63C6F204E42C}"/>
              </a:ext>
            </a:extLst>
          </p:cNvPr>
          <p:cNvSpPr>
            <a:spLocks noGrp="1"/>
          </p:cNvSpPr>
          <p:nvPr>
            <p:ph idx="1"/>
          </p:nvPr>
        </p:nvSpPr>
        <p:spPr>
          <a:xfrm>
            <a:off x="5777511" y="2070267"/>
            <a:ext cx="4133848" cy="4069080"/>
          </a:xfrm>
        </p:spPr>
        <p:txBody>
          <a:bodyPr/>
          <a:lstStyle/>
          <a:p>
            <a:pPr marL="0" indent="0">
              <a:buNone/>
            </a:pPr>
            <a:r>
              <a:rPr lang="en-US" dirty="0"/>
              <a:t>Squares &amp; </a:t>
            </a:r>
          </a:p>
          <a:p>
            <a:pPr marL="0" indent="0">
              <a:buNone/>
            </a:pPr>
            <a:r>
              <a:rPr lang="en-US" dirty="0"/>
              <a:t>Rectangles</a:t>
            </a:r>
          </a:p>
          <a:p>
            <a:r>
              <a:rPr lang="en-US" dirty="0"/>
              <a:t>Stability</a:t>
            </a:r>
          </a:p>
          <a:p>
            <a:r>
              <a:rPr lang="en-US" dirty="0"/>
              <a:t>Framing</a:t>
            </a:r>
          </a:p>
          <a:p>
            <a:r>
              <a:rPr lang="en-US" dirty="0"/>
              <a:t>Importance</a:t>
            </a:r>
          </a:p>
        </p:txBody>
      </p:sp>
      <p:sp>
        <p:nvSpPr>
          <p:cNvPr id="13" name="Rectangle 12">
            <a:extLst>
              <a:ext uri="{FF2B5EF4-FFF2-40B4-BE49-F238E27FC236}">
                <a16:creationId xmlns:a16="http://schemas.microsoft.com/office/drawing/2014/main" id="{846B4F53-DF53-0109-F39A-1816C51A15C9}"/>
              </a:ext>
            </a:extLst>
          </p:cNvPr>
          <p:cNvSpPr/>
          <p:nvPr/>
        </p:nvSpPr>
        <p:spPr>
          <a:xfrm>
            <a:off x="698500" y="2514600"/>
            <a:ext cx="3517900" cy="3467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204" name="Picture 12" descr="Download Adobe Illustrator Logo in SVG Vector or PNG File Format - Logo.wine">
            <a:extLst>
              <a:ext uri="{FF2B5EF4-FFF2-40B4-BE49-F238E27FC236}">
                <a16:creationId xmlns:a16="http://schemas.microsoft.com/office/drawing/2014/main" id="{119E45E4-1C31-F28B-2A5B-AB3B3379E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600" y="1619250"/>
            <a:ext cx="7886700" cy="52578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94D44014-DA74-B09D-5807-A651C34A4B9E}"/>
              </a:ext>
            </a:extLst>
          </p:cNvPr>
          <p:cNvPicPr>
            <a:picLocks noChangeAspect="1"/>
          </p:cNvPicPr>
          <p:nvPr/>
        </p:nvPicPr>
        <p:blipFill>
          <a:blip r:embed="rId4"/>
          <a:stretch>
            <a:fillRect/>
          </a:stretch>
        </p:blipFill>
        <p:spPr>
          <a:xfrm>
            <a:off x="177520" y="2427238"/>
            <a:ext cx="5183150" cy="3579862"/>
          </a:xfrm>
          <a:prstGeom prst="rect">
            <a:avLst/>
          </a:prstGeom>
        </p:spPr>
      </p:pic>
      <p:pic>
        <p:nvPicPr>
          <p:cNvPr id="8202" name="Picture 10">
            <a:extLst>
              <a:ext uri="{FF2B5EF4-FFF2-40B4-BE49-F238E27FC236}">
                <a16:creationId xmlns:a16="http://schemas.microsoft.com/office/drawing/2014/main" id="{4D23471B-A35D-3FE9-87F1-E775AF4C08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1" y="2410461"/>
            <a:ext cx="3683165" cy="3683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17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2"/>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5817E-53EE-1DC0-738E-C7565F9CE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BA6E7-8116-821A-E950-E4F6A6B612F7}"/>
              </a:ext>
            </a:extLst>
          </p:cNvPr>
          <p:cNvSpPr>
            <a:spLocks noGrp="1"/>
          </p:cNvSpPr>
          <p:nvPr>
            <p:ph type="title"/>
          </p:nvPr>
        </p:nvSpPr>
        <p:spPr/>
        <p:txBody>
          <a:bodyPr/>
          <a:lstStyle/>
          <a:p>
            <a:r>
              <a:rPr lang="en-CA" dirty="0"/>
              <a:t>Shape - symbolism</a:t>
            </a:r>
          </a:p>
        </p:txBody>
      </p:sp>
      <p:sp>
        <p:nvSpPr>
          <p:cNvPr id="3" name="Content Placeholder 2">
            <a:extLst>
              <a:ext uri="{FF2B5EF4-FFF2-40B4-BE49-F238E27FC236}">
                <a16:creationId xmlns:a16="http://schemas.microsoft.com/office/drawing/2014/main" id="{FD1A96F5-3D3D-2877-7965-FFE6E603B6F7}"/>
              </a:ext>
            </a:extLst>
          </p:cNvPr>
          <p:cNvSpPr>
            <a:spLocks noGrp="1"/>
          </p:cNvSpPr>
          <p:nvPr>
            <p:ph idx="1"/>
          </p:nvPr>
        </p:nvSpPr>
        <p:spPr>
          <a:xfrm>
            <a:off x="4927602" y="2194560"/>
            <a:ext cx="3622038" cy="4069080"/>
          </a:xfrm>
        </p:spPr>
        <p:txBody>
          <a:bodyPr/>
          <a:lstStyle/>
          <a:p>
            <a:pPr marL="0" indent="0">
              <a:buNone/>
            </a:pPr>
            <a:r>
              <a:rPr lang="en-CA" dirty="0"/>
              <a:t>Circle and Ovals</a:t>
            </a:r>
          </a:p>
          <a:p>
            <a:r>
              <a:rPr lang="en-US" dirty="0"/>
              <a:t>Gentleness</a:t>
            </a:r>
          </a:p>
          <a:p>
            <a:r>
              <a:rPr lang="en-US" dirty="0"/>
              <a:t>Unity</a:t>
            </a:r>
          </a:p>
          <a:p>
            <a:r>
              <a:rPr lang="en-US" dirty="0"/>
              <a:t>Balance</a:t>
            </a:r>
            <a:endParaRPr lang="en-CA" dirty="0"/>
          </a:p>
          <a:p>
            <a:endParaRPr lang="en-CA" dirty="0"/>
          </a:p>
        </p:txBody>
      </p:sp>
      <p:sp>
        <p:nvSpPr>
          <p:cNvPr id="4" name="Oval 3">
            <a:extLst>
              <a:ext uri="{FF2B5EF4-FFF2-40B4-BE49-F238E27FC236}">
                <a16:creationId xmlns:a16="http://schemas.microsoft.com/office/drawing/2014/main" id="{2A906228-9D0B-B3C4-1BC3-4581C832EA8A}"/>
              </a:ext>
            </a:extLst>
          </p:cNvPr>
          <p:cNvSpPr/>
          <p:nvPr/>
        </p:nvSpPr>
        <p:spPr>
          <a:xfrm>
            <a:off x="838200" y="2667000"/>
            <a:ext cx="3378200" cy="3314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7" name="Group 6">
            <a:extLst>
              <a:ext uri="{FF2B5EF4-FFF2-40B4-BE49-F238E27FC236}">
                <a16:creationId xmlns:a16="http://schemas.microsoft.com/office/drawing/2014/main" id="{898C3D9A-DB61-6A39-3CDC-C44832173593}"/>
              </a:ext>
            </a:extLst>
          </p:cNvPr>
          <p:cNvGrpSpPr/>
          <p:nvPr/>
        </p:nvGrpSpPr>
        <p:grpSpPr>
          <a:xfrm>
            <a:off x="594360" y="2156460"/>
            <a:ext cx="4130040" cy="4475478"/>
            <a:chOff x="594360" y="2156460"/>
            <a:chExt cx="4130040" cy="4475478"/>
          </a:xfrm>
        </p:grpSpPr>
        <p:pic>
          <p:nvPicPr>
            <p:cNvPr id="8194" name="Picture 2" descr="A harmonious circular design brings together flowing human forms in a celebration of community and connection. Soft indigo, coral, and sage green tones blend seamlessly as figures overlap and intertwine, creating a dynamic mandala pattern. The composition radiates outward from its center, with geometric shapes transitioning into organic forms, while decorative elements and flowing lines emphasize the natural movement and unity of the collective whole.">
              <a:extLst>
                <a:ext uri="{FF2B5EF4-FFF2-40B4-BE49-F238E27FC236}">
                  <a16:creationId xmlns:a16="http://schemas.microsoft.com/office/drawing/2014/main" id="{8CDD3A97-B940-BD65-C44C-23193DC5E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 y="2156460"/>
              <a:ext cx="3964938" cy="39649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0C27DC3-19BC-D0B2-D9B0-A58B9657EB4D}"/>
                </a:ext>
              </a:extLst>
            </p:cNvPr>
            <p:cNvSpPr txBox="1"/>
            <p:nvPr/>
          </p:nvSpPr>
          <p:spPr>
            <a:xfrm>
              <a:off x="594360" y="6201051"/>
              <a:ext cx="4130040" cy="430887"/>
            </a:xfrm>
            <a:prstGeom prst="rect">
              <a:avLst/>
            </a:prstGeom>
            <a:noFill/>
          </p:spPr>
          <p:txBody>
            <a:bodyPr wrap="square">
              <a:spAutoFit/>
            </a:bodyPr>
            <a:lstStyle/>
            <a:p>
              <a:r>
                <a:rPr lang="en-US" sz="1100" b="0" i="0" kern="1200" dirty="0">
                  <a:solidFill>
                    <a:schemeClr val="tx1"/>
                  </a:solidFill>
                  <a:effectLst/>
                  <a:latin typeface="+mn-lt"/>
                  <a:ea typeface="+mn-ea"/>
                  <a:cs typeface="+mn-cs"/>
                </a:rPr>
                <a:t>Photo by &lt;a </a:t>
              </a:r>
              <a:r>
                <a:rPr lang="en-US" sz="1100" b="0" i="0" kern="1200" dirty="0" err="1">
                  <a:solidFill>
                    <a:schemeClr val="tx1"/>
                  </a:solidFill>
                  <a:effectLst/>
                  <a:latin typeface="+mn-lt"/>
                  <a:ea typeface="+mn-ea"/>
                  <a:cs typeface="+mn-cs"/>
                </a:rPr>
                <a:t>href</a:t>
              </a:r>
              <a:r>
                <a:rPr lang="en-US" sz="1100" b="0" i="0" kern="1200" dirty="0">
                  <a:solidFill>
                    <a:schemeClr val="tx1"/>
                  </a:solidFill>
                  <a:effectLst/>
                  <a:latin typeface="+mn-lt"/>
                  <a:ea typeface="+mn-ea"/>
                  <a:cs typeface="+mn-cs"/>
                </a:rPr>
                <a:t>="https://stockcake.com/i/unity-through-diversity_1629381_1198910"&gt;</a:t>
              </a:r>
              <a:r>
                <a:rPr lang="en-US" sz="1100" b="0" i="0" kern="1200" dirty="0" err="1">
                  <a:solidFill>
                    <a:schemeClr val="tx1"/>
                  </a:solidFill>
                  <a:effectLst/>
                  <a:latin typeface="+mn-lt"/>
                  <a:ea typeface="+mn-ea"/>
                  <a:cs typeface="+mn-cs"/>
                </a:rPr>
                <a:t>Stockcake</a:t>
              </a:r>
              <a:r>
                <a:rPr lang="en-US" sz="1100" b="0" i="0" kern="1200" dirty="0">
                  <a:solidFill>
                    <a:schemeClr val="tx1"/>
                  </a:solidFill>
                  <a:effectLst/>
                  <a:latin typeface="+mn-lt"/>
                  <a:ea typeface="+mn-ea"/>
                  <a:cs typeface="+mn-cs"/>
                </a:rPr>
                <a:t>&lt;/a&gt;</a:t>
              </a:r>
              <a:endParaRPr lang="en-CA" sz="1100" dirty="0"/>
            </a:p>
          </p:txBody>
        </p:sp>
      </p:grpSp>
      <p:grpSp>
        <p:nvGrpSpPr>
          <p:cNvPr id="12" name="Group 11">
            <a:extLst>
              <a:ext uri="{FF2B5EF4-FFF2-40B4-BE49-F238E27FC236}">
                <a16:creationId xmlns:a16="http://schemas.microsoft.com/office/drawing/2014/main" id="{703C97F2-A5DE-9CEB-B7F0-C8E64E98EAC4}"/>
              </a:ext>
            </a:extLst>
          </p:cNvPr>
          <p:cNvGrpSpPr/>
          <p:nvPr/>
        </p:nvGrpSpPr>
        <p:grpSpPr>
          <a:xfrm>
            <a:off x="594359" y="2137053"/>
            <a:ext cx="4063997" cy="4491620"/>
            <a:chOff x="594359" y="2137053"/>
            <a:chExt cx="4063997" cy="4491620"/>
          </a:xfrm>
        </p:grpSpPr>
        <p:pic>
          <p:nvPicPr>
            <p:cNvPr id="8196" name="Picture 4" descr="Vibrant silhouettes join hands in a perfect circle, creating a powerful symbol of unity and connection. Each figure, rendered in distinct colors from teal and orange to purple and blue, represents diversity within community. Where their hands meet, colors blend beautifully, suggesting how human connections transform us. At the center, negative space forms a delicate heart, emphasizing that love sits at the core of true togetherness. The clean, minimalist design gives this illustration a timeless quality, evoking both the simplicity and profound depth of human bonds across different backgrounds.">
              <a:extLst>
                <a:ext uri="{FF2B5EF4-FFF2-40B4-BE49-F238E27FC236}">
                  <a16:creationId xmlns:a16="http://schemas.microsoft.com/office/drawing/2014/main" id="{8C402271-949F-4620-720D-3EAC4948CC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59" y="2137053"/>
              <a:ext cx="4063997" cy="406399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C76E6BC-443D-9AB2-62BD-613FE8493894}"/>
                </a:ext>
              </a:extLst>
            </p:cNvPr>
            <p:cNvSpPr txBox="1"/>
            <p:nvPr/>
          </p:nvSpPr>
          <p:spPr>
            <a:xfrm>
              <a:off x="838200" y="6197786"/>
              <a:ext cx="3378200" cy="430887"/>
            </a:xfrm>
            <a:prstGeom prst="rect">
              <a:avLst/>
            </a:prstGeom>
            <a:noFill/>
          </p:spPr>
          <p:txBody>
            <a:bodyPr wrap="square">
              <a:spAutoFit/>
            </a:bodyPr>
            <a:lstStyle/>
            <a:p>
              <a:r>
                <a:rPr lang="en-US" sz="1100" b="0" i="0" dirty="0">
                  <a:solidFill>
                    <a:srgbClr val="000000"/>
                  </a:solidFill>
                  <a:effectLst/>
                  <a:latin typeface="__Roboto_4db51b"/>
                </a:rPr>
                <a:t>Photo by &lt;a </a:t>
              </a:r>
              <a:r>
                <a:rPr lang="en-US" sz="1100" b="0" i="0" dirty="0" err="1">
                  <a:solidFill>
                    <a:srgbClr val="000000"/>
                  </a:solidFill>
                  <a:effectLst/>
                  <a:latin typeface="__Roboto_4db51b"/>
                </a:rPr>
                <a:t>href</a:t>
              </a:r>
              <a:r>
                <a:rPr lang="en-US" sz="1100" b="0" i="0" dirty="0">
                  <a:solidFill>
                    <a:srgbClr val="000000"/>
                  </a:solidFill>
                  <a:effectLst/>
                  <a:latin typeface="__Roboto_4db51b"/>
                </a:rPr>
                <a:t>="https://stockcake.com/i/circle-of-togetherness_3059498_1654920"&gt;</a:t>
              </a:r>
              <a:r>
                <a:rPr lang="en-US" sz="1100" b="0" i="0" dirty="0" err="1">
                  <a:solidFill>
                    <a:srgbClr val="000000"/>
                  </a:solidFill>
                  <a:effectLst/>
                  <a:latin typeface="__Roboto_4db51b"/>
                </a:rPr>
                <a:t>Stockcake</a:t>
              </a:r>
              <a:r>
                <a:rPr lang="en-US" sz="1100" b="0" i="0" dirty="0">
                  <a:solidFill>
                    <a:srgbClr val="000000"/>
                  </a:solidFill>
                  <a:effectLst/>
                  <a:latin typeface="__Roboto_4db51b"/>
                </a:rPr>
                <a:t>&lt;/a&gt;</a:t>
              </a:r>
              <a:endParaRPr lang="en-CA" sz="1100" dirty="0"/>
            </a:p>
          </p:txBody>
        </p:sp>
      </p:grpSp>
      <p:pic>
        <p:nvPicPr>
          <p:cNvPr id="8200" name="Picture 8" descr="Olympics - YouTube">
            <a:extLst>
              <a:ext uri="{FF2B5EF4-FFF2-40B4-BE49-F238E27FC236}">
                <a16:creationId xmlns:a16="http://schemas.microsoft.com/office/drawing/2014/main" id="{9C7E2D59-32BC-ABB6-59EE-C797AFB737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00" y="2133789"/>
            <a:ext cx="3784600" cy="378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80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9AC6-0890-E875-E2E3-FBEDB3202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59B6F-AEBC-840A-DA51-B06988C95ABC}"/>
              </a:ext>
            </a:extLst>
          </p:cNvPr>
          <p:cNvSpPr>
            <a:spLocks noGrp="1"/>
          </p:cNvSpPr>
          <p:nvPr>
            <p:ph type="title"/>
          </p:nvPr>
        </p:nvSpPr>
        <p:spPr/>
        <p:txBody>
          <a:bodyPr/>
          <a:lstStyle/>
          <a:p>
            <a:r>
              <a:rPr lang="en-CA" dirty="0"/>
              <a:t>Shape - symbolism</a:t>
            </a:r>
          </a:p>
        </p:txBody>
      </p:sp>
      <p:sp>
        <p:nvSpPr>
          <p:cNvPr id="3" name="Content Placeholder 2">
            <a:extLst>
              <a:ext uri="{FF2B5EF4-FFF2-40B4-BE49-F238E27FC236}">
                <a16:creationId xmlns:a16="http://schemas.microsoft.com/office/drawing/2014/main" id="{77F5EDD4-6064-06EC-B84E-576F614F03F5}"/>
              </a:ext>
            </a:extLst>
          </p:cNvPr>
          <p:cNvSpPr>
            <a:spLocks noGrp="1"/>
          </p:cNvSpPr>
          <p:nvPr>
            <p:ph idx="1"/>
          </p:nvPr>
        </p:nvSpPr>
        <p:spPr>
          <a:xfrm>
            <a:off x="5535930" y="2255520"/>
            <a:ext cx="3622038" cy="4069080"/>
          </a:xfrm>
        </p:spPr>
        <p:txBody>
          <a:bodyPr/>
          <a:lstStyle/>
          <a:p>
            <a:pPr marL="0" indent="0">
              <a:buNone/>
            </a:pPr>
            <a:r>
              <a:rPr lang="en-US" dirty="0"/>
              <a:t>Triangles </a:t>
            </a:r>
          </a:p>
          <a:p>
            <a:r>
              <a:rPr lang="en-US" dirty="0"/>
              <a:t>Stability</a:t>
            </a:r>
          </a:p>
          <a:p>
            <a:r>
              <a:rPr lang="en-US" dirty="0"/>
              <a:t>Power</a:t>
            </a:r>
          </a:p>
          <a:p>
            <a:r>
              <a:rPr lang="en-US" dirty="0"/>
              <a:t>Energy</a:t>
            </a:r>
            <a:endParaRPr lang="en-CA" dirty="0"/>
          </a:p>
          <a:p>
            <a:endParaRPr lang="en-CA" dirty="0"/>
          </a:p>
        </p:txBody>
      </p:sp>
      <p:sp>
        <p:nvSpPr>
          <p:cNvPr id="5" name="Isosceles Triangle 4">
            <a:extLst>
              <a:ext uri="{FF2B5EF4-FFF2-40B4-BE49-F238E27FC236}">
                <a16:creationId xmlns:a16="http://schemas.microsoft.com/office/drawing/2014/main" id="{A1310DCE-E7E3-F7CD-2147-E964C68EDD4E}"/>
              </a:ext>
            </a:extLst>
          </p:cNvPr>
          <p:cNvSpPr/>
          <p:nvPr/>
        </p:nvSpPr>
        <p:spPr>
          <a:xfrm>
            <a:off x="825500" y="2529841"/>
            <a:ext cx="3289300" cy="311657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a:extLst>
              <a:ext uri="{FF2B5EF4-FFF2-40B4-BE49-F238E27FC236}">
                <a16:creationId xmlns:a16="http://schemas.microsoft.com/office/drawing/2014/main" id="{341A5505-D8F7-0753-ADF5-2A387B42C402}"/>
              </a:ext>
            </a:extLst>
          </p:cNvPr>
          <p:cNvPicPr>
            <a:picLocks noChangeAspect="1"/>
          </p:cNvPicPr>
          <p:nvPr/>
        </p:nvPicPr>
        <p:blipFill>
          <a:blip r:embed="rId3"/>
          <a:srcRect l="18472" t="11000" r="17222"/>
          <a:stretch>
            <a:fillRect/>
          </a:stretch>
        </p:blipFill>
        <p:spPr>
          <a:xfrm>
            <a:off x="312420" y="2469731"/>
            <a:ext cx="4710430" cy="3259658"/>
          </a:xfrm>
          <a:prstGeom prst="rect">
            <a:avLst/>
          </a:prstGeom>
        </p:spPr>
      </p:pic>
      <p:pic>
        <p:nvPicPr>
          <p:cNvPr id="9222" name="Picture 6" descr="Triangle Logo 12">
            <a:extLst>
              <a:ext uri="{FF2B5EF4-FFF2-40B4-BE49-F238E27FC236}">
                <a16:creationId xmlns:a16="http://schemas.microsoft.com/office/drawing/2014/main" id="{ACB2014C-1476-72A6-6069-296178825D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059"/>
          <a:stretch>
            <a:fillRect/>
          </a:stretch>
        </p:blipFill>
        <p:spPr bwMode="auto">
          <a:xfrm>
            <a:off x="312420" y="2255520"/>
            <a:ext cx="4951095" cy="410646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B794C9F0-662F-4976-DA1B-6F04900D5958}"/>
              </a:ext>
            </a:extLst>
          </p:cNvPr>
          <p:cNvGrpSpPr/>
          <p:nvPr/>
        </p:nvGrpSpPr>
        <p:grpSpPr>
          <a:xfrm>
            <a:off x="691515" y="1668534"/>
            <a:ext cx="4572000" cy="4060855"/>
            <a:chOff x="2667000" y="1524000"/>
            <a:chExt cx="4572000" cy="4060855"/>
          </a:xfrm>
        </p:grpSpPr>
        <p:pic>
          <p:nvPicPr>
            <p:cNvPr id="9218" name="Picture 2" descr="Triangle Logo 1">
              <a:extLst>
                <a:ext uri="{FF2B5EF4-FFF2-40B4-BE49-F238E27FC236}">
                  <a16:creationId xmlns:a16="http://schemas.microsoft.com/office/drawing/2014/main" id="{E749425B-B686-E2C0-E89B-4858B0870A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1524000"/>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5D7331A-727A-3560-A684-73C6944DDC0F}"/>
                </a:ext>
              </a:extLst>
            </p:cNvPr>
            <p:cNvSpPr txBox="1"/>
            <p:nvPr/>
          </p:nvSpPr>
          <p:spPr>
            <a:xfrm>
              <a:off x="2667000" y="5323245"/>
              <a:ext cx="4572000" cy="261610"/>
            </a:xfrm>
            <a:prstGeom prst="rect">
              <a:avLst/>
            </a:prstGeom>
            <a:noFill/>
          </p:spPr>
          <p:txBody>
            <a:bodyPr wrap="square">
              <a:spAutoFit/>
            </a:bodyPr>
            <a:lstStyle/>
            <a:p>
              <a:r>
                <a:rPr lang="en-US" sz="1100" dirty="0">
                  <a:hlinkClick r:id="rId6">
                    <a:extLst>
                      <a:ext uri="{A12FA001-AC4F-418D-AE19-62706E023703}">
                        <ahyp:hlinkClr xmlns:ahyp="http://schemas.microsoft.com/office/drawing/2018/hyperlinkcolor" val="tx"/>
                      </a:ext>
                    </a:extLst>
                  </a:hlinkClick>
                </a:rPr>
                <a:t>Adidas Logo and symbol, meaning, history, PNG, brand</a:t>
              </a:r>
              <a:endParaRPr lang="en-CA" sz="1100" dirty="0"/>
            </a:p>
          </p:txBody>
        </p:sp>
      </p:grpSp>
      <p:pic>
        <p:nvPicPr>
          <p:cNvPr id="16" name="Picture 15">
            <a:extLst>
              <a:ext uri="{FF2B5EF4-FFF2-40B4-BE49-F238E27FC236}">
                <a16:creationId xmlns:a16="http://schemas.microsoft.com/office/drawing/2014/main" id="{59AD7308-92C4-7693-C2A8-0906E374729B}"/>
              </a:ext>
            </a:extLst>
          </p:cNvPr>
          <p:cNvPicPr>
            <a:picLocks noChangeAspect="1"/>
          </p:cNvPicPr>
          <p:nvPr/>
        </p:nvPicPr>
        <p:blipFill>
          <a:blip r:embed="rId7"/>
          <a:stretch>
            <a:fillRect/>
          </a:stretch>
        </p:blipFill>
        <p:spPr>
          <a:xfrm>
            <a:off x="942330" y="1749637"/>
            <a:ext cx="3433138" cy="4699846"/>
          </a:xfrm>
          <a:prstGeom prst="rect">
            <a:avLst/>
          </a:prstGeom>
        </p:spPr>
      </p:pic>
    </p:spTree>
    <p:extLst>
      <p:ext uri="{BB962C8B-B14F-4D97-AF65-F5344CB8AC3E}">
        <p14:creationId xmlns:p14="http://schemas.microsoft.com/office/powerpoint/2010/main" val="188787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1E26C-8510-265B-9845-4B48EC798A2B}"/>
              </a:ext>
            </a:extLst>
          </p:cNvPr>
          <p:cNvSpPr>
            <a:spLocks noGrp="1"/>
          </p:cNvSpPr>
          <p:nvPr>
            <p:ph type="title"/>
          </p:nvPr>
        </p:nvSpPr>
        <p:spPr/>
        <p:txBody>
          <a:bodyPr/>
          <a:lstStyle/>
          <a:p>
            <a:r>
              <a:rPr lang="en-CA" dirty="0"/>
              <a:t>Shape - Recognition</a:t>
            </a:r>
          </a:p>
        </p:txBody>
      </p:sp>
      <p:pic>
        <p:nvPicPr>
          <p:cNvPr id="5" name="Content Placeholder 4">
            <a:extLst>
              <a:ext uri="{FF2B5EF4-FFF2-40B4-BE49-F238E27FC236}">
                <a16:creationId xmlns:a16="http://schemas.microsoft.com/office/drawing/2014/main" id="{926D1602-AF40-EDBC-6FE3-CE3AA8D78292}"/>
              </a:ext>
            </a:extLst>
          </p:cNvPr>
          <p:cNvPicPr>
            <a:picLocks noGrp="1" noChangeAspect="1"/>
          </p:cNvPicPr>
          <p:nvPr>
            <p:ph idx="1"/>
          </p:nvPr>
        </p:nvPicPr>
        <p:blipFill>
          <a:blip r:embed="rId3"/>
          <a:stretch>
            <a:fillRect/>
          </a:stretch>
        </p:blipFill>
        <p:spPr>
          <a:xfrm>
            <a:off x="1460500" y="2057401"/>
            <a:ext cx="5930900" cy="4422409"/>
          </a:xfrm>
        </p:spPr>
      </p:pic>
      <p:pic>
        <p:nvPicPr>
          <p:cNvPr id="10242" name="Picture 2" descr="Coca-Cola | COLLINS">
            <a:extLst>
              <a:ext uri="{FF2B5EF4-FFF2-40B4-BE49-F238E27FC236}">
                <a16:creationId xmlns:a16="http://schemas.microsoft.com/office/drawing/2014/main" id="{8DA02E2A-DE06-6EFE-4104-0AE48E0FCF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928791"/>
            <a:ext cx="7023100" cy="4679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78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199296"/>
            <a:ext cx="6377940" cy="1293028"/>
          </a:xfrm>
        </p:spPr>
        <p:txBody>
          <a:bodyPr/>
          <a:lstStyle/>
          <a:p>
            <a:r>
              <a:rPr dirty="0"/>
              <a:t>Direction</a:t>
            </a:r>
          </a:p>
        </p:txBody>
      </p:sp>
      <p:sp>
        <p:nvSpPr>
          <p:cNvPr id="3" name="Content Placeholder 2"/>
          <p:cNvSpPr>
            <a:spLocks noGrp="1"/>
          </p:cNvSpPr>
          <p:nvPr>
            <p:ph idx="1"/>
          </p:nvPr>
        </p:nvSpPr>
        <p:spPr>
          <a:xfrm>
            <a:off x="594360" y="1259614"/>
            <a:ext cx="7955280" cy="4069080"/>
          </a:xfrm>
        </p:spPr>
        <p:txBody>
          <a:bodyPr/>
          <a:lstStyle/>
          <a:p>
            <a:pPr marL="0" indent="0">
              <a:buNone/>
            </a:pPr>
            <a:r>
              <a:rPr lang="en-US" dirty="0"/>
              <a:t>The orientation or movement of elements within a design (horizontal, vertical, diagonal, or implied).</a:t>
            </a:r>
          </a:p>
          <a:p>
            <a:r>
              <a:rPr dirty="0"/>
              <a:t>Creates movement</a:t>
            </a:r>
          </a:p>
          <a:p>
            <a:r>
              <a:rPr dirty="0"/>
              <a:t>Leads the eye</a:t>
            </a:r>
          </a:p>
          <a:p>
            <a:r>
              <a:rPr dirty="0"/>
              <a:t>Suggests emotion or action</a:t>
            </a:r>
          </a:p>
        </p:txBody>
      </p:sp>
      <p:pic>
        <p:nvPicPr>
          <p:cNvPr id="12290" name="Picture 2">
            <a:extLst>
              <a:ext uri="{FF2B5EF4-FFF2-40B4-BE49-F238E27FC236}">
                <a16:creationId xmlns:a16="http://schemas.microsoft.com/office/drawing/2014/main" id="{A58D941D-86C8-D2E2-9CB0-9F0EB50457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843" b="17004"/>
          <a:stretch>
            <a:fillRect/>
          </a:stretch>
        </p:blipFill>
        <p:spPr bwMode="auto">
          <a:xfrm>
            <a:off x="1143000" y="4109663"/>
            <a:ext cx="6858000" cy="25479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6DBF-BF8E-EDC0-0840-847B5C5EB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5549B-4763-E4FD-934E-8907A8D49018}"/>
              </a:ext>
            </a:extLst>
          </p:cNvPr>
          <p:cNvSpPr>
            <a:spLocks noGrp="1"/>
          </p:cNvSpPr>
          <p:nvPr>
            <p:ph type="title"/>
          </p:nvPr>
        </p:nvSpPr>
        <p:spPr/>
        <p:txBody>
          <a:bodyPr/>
          <a:lstStyle/>
          <a:p>
            <a:r>
              <a:rPr dirty="0"/>
              <a:t>Direction</a:t>
            </a:r>
            <a:r>
              <a:rPr lang="en-CA" dirty="0"/>
              <a:t> - Horizontal</a:t>
            </a:r>
            <a:endParaRPr dirty="0"/>
          </a:p>
        </p:txBody>
      </p:sp>
      <p:sp>
        <p:nvSpPr>
          <p:cNvPr id="4" name="Content Placeholder 3">
            <a:extLst>
              <a:ext uri="{FF2B5EF4-FFF2-40B4-BE49-F238E27FC236}">
                <a16:creationId xmlns:a16="http://schemas.microsoft.com/office/drawing/2014/main" id="{8DB7E7C7-6177-02EA-A04E-997AEADEA16D}"/>
              </a:ext>
            </a:extLst>
          </p:cNvPr>
          <p:cNvSpPr>
            <a:spLocks noGrp="1"/>
          </p:cNvSpPr>
          <p:nvPr>
            <p:ph sz="half" idx="1"/>
          </p:nvPr>
        </p:nvSpPr>
        <p:spPr/>
        <p:txBody>
          <a:bodyPr/>
          <a:lstStyle/>
          <a:p>
            <a:endParaRPr lang="en-CA" dirty="0"/>
          </a:p>
        </p:txBody>
      </p:sp>
      <p:sp>
        <p:nvSpPr>
          <p:cNvPr id="5" name="Content Placeholder 4">
            <a:extLst>
              <a:ext uri="{FF2B5EF4-FFF2-40B4-BE49-F238E27FC236}">
                <a16:creationId xmlns:a16="http://schemas.microsoft.com/office/drawing/2014/main" id="{5CB6B122-29EB-D49A-7EC9-E8CD6AE8AA22}"/>
              </a:ext>
            </a:extLst>
          </p:cNvPr>
          <p:cNvSpPr>
            <a:spLocks noGrp="1"/>
          </p:cNvSpPr>
          <p:nvPr>
            <p:ph sz="half" idx="2"/>
          </p:nvPr>
        </p:nvSpPr>
        <p:spPr/>
        <p:txBody>
          <a:bodyPr/>
          <a:lstStyle/>
          <a:p>
            <a:endParaRPr lang="en-CA" dirty="0"/>
          </a:p>
        </p:txBody>
      </p:sp>
      <p:pic>
        <p:nvPicPr>
          <p:cNvPr id="13314" name="Picture 2" descr="A draft version of a proposed &quot;Famous For More Than You Think&quot; tourism ad for Daytona Beach. Members of the Halifax Area Advertising Authority board of directors offered mixed reviews of new concepts presented at a workshop meeting this week to replace the current &quot;Start Your Engines&quot; tourism campaign.">
            <a:extLst>
              <a:ext uri="{FF2B5EF4-FFF2-40B4-BE49-F238E27FC236}">
                <a16:creationId xmlns:a16="http://schemas.microsoft.com/office/drawing/2014/main" id="{F05BF9D6-552E-12F6-543E-BD1908646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59" y="1903929"/>
            <a:ext cx="7955279" cy="4483885"/>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Heinz spotlights ancient origins of ‘soup’ and how it’s able to make the classic meal ‘great now’ in new ad">
            <a:extLst>
              <a:ext uri="{FF2B5EF4-FFF2-40B4-BE49-F238E27FC236}">
                <a16:creationId xmlns:a16="http://schemas.microsoft.com/office/drawing/2014/main" id="{986EBA68-0727-D1C8-4B02-8BD7CE2E53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56" y="1903929"/>
            <a:ext cx="7955283" cy="454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05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1C069-58C5-8D6B-6BBD-6705DE342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A52CA-CBC3-E5AF-7E0C-3299DC4F5316}"/>
              </a:ext>
            </a:extLst>
          </p:cNvPr>
          <p:cNvSpPr>
            <a:spLocks noGrp="1"/>
          </p:cNvSpPr>
          <p:nvPr>
            <p:ph type="title"/>
          </p:nvPr>
        </p:nvSpPr>
        <p:spPr/>
        <p:txBody>
          <a:bodyPr/>
          <a:lstStyle/>
          <a:p>
            <a:r>
              <a:rPr dirty="0"/>
              <a:t>Direction</a:t>
            </a:r>
            <a:r>
              <a:rPr lang="en-CA" dirty="0"/>
              <a:t> - Vertical</a:t>
            </a:r>
            <a:endParaRPr dirty="0"/>
          </a:p>
        </p:txBody>
      </p:sp>
      <p:sp>
        <p:nvSpPr>
          <p:cNvPr id="5" name="object 2">
            <a:extLst>
              <a:ext uri="{FF2B5EF4-FFF2-40B4-BE49-F238E27FC236}">
                <a16:creationId xmlns:a16="http://schemas.microsoft.com/office/drawing/2014/main" id="{99B4859E-3AF4-02F1-E11A-2D9BB465C829}"/>
              </a:ext>
            </a:extLst>
          </p:cNvPr>
          <p:cNvSpPr/>
          <p:nvPr/>
        </p:nvSpPr>
        <p:spPr>
          <a:xfrm>
            <a:off x="594360" y="1752696"/>
            <a:ext cx="3907540" cy="4952807"/>
          </a:xfrm>
          <a:prstGeom prst="rect">
            <a:avLst/>
          </a:prstGeom>
          <a:blipFill>
            <a:blip r:embed="rId3" cstate="print"/>
            <a:stretch>
              <a:fillRect/>
            </a:stretch>
          </a:blipFill>
        </p:spPr>
        <p:txBody>
          <a:bodyPr wrap="square" lIns="0" tIns="0" rIns="0" bIns="0" rtlCol="0"/>
          <a:lstStyle/>
          <a:p>
            <a:endParaRPr dirty="0"/>
          </a:p>
        </p:txBody>
      </p:sp>
      <p:sp>
        <p:nvSpPr>
          <p:cNvPr id="6" name="object 4">
            <a:extLst>
              <a:ext uri="{FF2B5EF4-FFF2-40B4-BE49-F238E27FC236}">
                <a16:creationId xmlns:a16="http://schemas.microsoft.com/office/drawing/2014/main" id="{32675853-9806-BC66-2406-15492CB5F9E7}"/>
              </a:ext>
            </a:extLst>
          </p:cNvPr>
          <p:cNvSpPr/>
          <p:nvPr/>
        </p:nvSpPr>
        <p:spPr>
          <a:xfrm>
            <a:off x="5185855" y="1752695"/>
            <a:ext cx="3500944" cy="4952807"/>
          </a:xfrm>
          <a:prstGeom prst="rect">
            <a:avLst/>
          </a:prstGeom>
          <a:blipFill>
            <a:blip r:embed="rId4"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920369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FF55-BF73-E760-9610-8C21BC745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519C1-AE4C-3596-7874-7262EE99B58F}"/>
              </a:ext>
            </a:extLst>
          </p:cNvPr>
          <p:cNvSpPr>
            <a:spLocks noGrp="1"/>
          </p:cNvSpPr>
          <p:nvPr>
            <p:ph type="title"/>
          </p:nvPr>
        </p:nvSpPr>
        <p:spPr/>
        <p:txBody>
          <a:bodyPr/>
          <a:lstStyle/>
          <a:p>
            <a:r>
              <a:rPr dirty="0"/>
              <a:t>Direction</a:t>
            </a:r>
            <a:r>
              <a:rPr lang="en-CA" dirty="0"/>
              <a:t> - Diagonal</a:t>
            </a:r>
            <a:endParaRPr dirty="0"/>
          </a:p>
        </p:txBody>
      </p:sp>
      <p:sp>
        <p:nvSpPr>
          <p:cNvPr id="3" name="Content Placeholder 2">
            <a:extLst>
              <a:ext uri="{FF2B5EF4-FFF2-40B4-BE49-F238E27FC236}">
                <a16:creationId xmlns:a16="http://schemas.microsoft.com/office/drawing/2014/main" id="{1F173E9A-1506-A304-B718-2EE7FC59CF14}"/>
              </a:ext>
            </a:extLst>
          </p:cNvPr>
          <p:cNvSpPr>
            <a:spLocks noGrp="1"/>
          </p:cNvSpPr>
          <p:nvPr>
            <p:ph idx="1"/>
          </p:nvPr>
        </p:nvSpPr>
        <p:spPr/>
        <p:txBody>
          <a:bodyPr/>
          <a:lstStyle/>
          <a:p>
            <a:pPr marL="0" indent="0">
              <a:buNone/>
            </a:pPr>
            <a:endParaRPr dirty="0"/>
          </a:p>
        </p:txBody>
      </p:sp>
      <p:pic>
        <p:nvPicPr>
          <p:cNvPr id="15362" name="Picture 2" descr="r/mazda - Mazda RX8 Ad, 2003, Japan.">
            <a:extLst>
              <a:ext uri="{FF2B5EF4-FFF2-40B4-BE49-F238E27FC236}">
                <a16:creationId xmlns:a16="http://schemas.microsoft.com/office/drawing/2014/main" id="{A8B3AF82-2E33-31EF-66F1-2F926ED65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59" y="1693951"/>
            <a:ext cx="4206469" cy="5070297"/>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a:extLst>
              <a:ext uri="{FF2B5EF4-FFF2-40B4-BE49-F238E27FC236}">
                <a16:creationId xmlns:a16="http://schemas.microsoft.com/office/drawing/2014/main" id="{2F298E70-4D02-CE75-A77C-D66A7D091707}"/>
              </a:ext>
            </a:extLst>
          </p:cNvPr>
          <p:cNvSpPr/>
          <p:nvPr/>
        </p:nvSpPr>
        <p:spPr>
          <a:xfrm>
            <a:off x="4572000" y="2194560"/>
            <a:ext cx="4458985" cy="3307428"/>
          </a:xfrm>
          <a:prstGeom prst="rect">
            <a:avLst/>
          </a:prstGeom>
          <a:blipFill>
            <a:blip r:embed="rId4" cstate="print"/>
            <a:stretch>
              <a:fillRect r="-50410"/>
            </a:stretch>
          </a:blipFill>
        </p:spPr>
        <p:txBody>
          <a:bodyPr wrap="square" lIns="0" tIns="0" rIns="0" bIns="0" rtlCol="0"/>
          <a:lstStyle/>
          <a:p>
            <a:endParaRPr dirty="0"/>
          </a:p>
        </p:txBody>
      </p:sp>
    </p:spTree>
    <p:extLst>
      <p:ext uri="{BB962C8B-B14F-4D97-AF65-F5344CB8AC3E}">
        <p14:creationId xmlns:p14="http://schemas.microsoft.com/office/powerpoint/2010/main" val="4285917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50B66-BFD3-6F23-DA4B-1E9485AA9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9D4AF-4400-532B-2604-D895B70D1031}"/>
              </a:ext>
            </a:extLst>
          </p:cNvPr>
          <p:cNvSpPr>
            <a:spLocks noGrp="1"/>
          </p:cNvSpPr>
          <p:nvPr>
            <p:ph type="title"/>
          </p:nvPr>
        </p:nvSpPr>
        <p:spPr/>
        <p:txBody>
          <a:bodyPr/>
          <a:lstStyle/>
          <a:p>
            <a:r>
              <a:rPr dirty="0"/>
              <a:t>Direction</a:t>
            </a:r>
            <a:r>
              <a:rPr lang="en-CA" dirty="0"/>
              <a:t> - implied</a:t>
            </a:r>
            <a:endParaRPr dirty="0"/>
          </a:p>
        </p:txBody>
      </p:sp>
      <p:sp>
        <p:nvSpPr>
          <p:cNvPr id="3" name="Content Placeholder 2">
            <a:extLst>
              <a:ext uri="{FF2B5EF4-FFF2-40B4-BE49-F238E27FC236}">
                <a16:creationId xmlns:a16="http://schemas.microsoft.com/office/drawing/2014/main" id="{05B53C5F-08FB-582A-2EC0-73F25CA503D5}"/>
              </a:ext>
            </a:extLst>
          </p:cNvPr>
          <p:cNvSpPr>
            <a:spLocks noGrp="1"/>
          </p:cNvSpPr>
          <p:nvPr>
            <p:ph idx="1"/>
          </p:nvPr>
        </p:nvSpPr>
        <p:spPr/>
        <p:txBody>
          <a:bodyPr/>
          <a:lstStyle/>
          <a:p>
            <a:pPr marL="0" indent="0">
              <a:buNone/>
            </a:pPr>
            <a:endParaRPr dirty="0"/>
          </a:p>
        </p:txBody>
      </p:sp>
      <p:pic>
        <p:nvPicPr>
          <p:cNvPr id="4" name="Picture 2">
            <a:extLst>
              <a:ext uri="{FF2B5EF4-FFF2-40B4-BE49-F238E27FC236}">
                <a16:creationId xmlns:a16="http://schemas.microsoft.com/office/drawing/2014/main" id="{1EE127AE-0655-9DA1-4173-F6F207C79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1057" y="1794927"/>
            <a:ext cx="6122391" cy="4561181"/>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a:extLst>
              <a:ext uri="{FF2B5EF4-FFF2-40B4-BE49-F238E27FC236}">
                <a16:creationId xmlns:a16="http://schemas.microsoft.com/office/drawing/2014/main" id="{4E318909-D299-B810-091F-B92607FDF5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072" y="1794927"/>
            <a:ext cx="6833856" cy="4552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34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8085-4C68-7ED6-73AB-43E8A1214A48}"/>
              </a:ext>
            </a:extLst>
          </p:cNvPr>
          <p:cNvSpPr>
            <a:spLocks noGrp="1"/>
          </p:cNvSpPr>
          <p:nvPr>
            <p:ph type="ctrTitle"/>
          </p:nvPr>
        </p:nvSpPr>
        <p:spPr/>
        <p:txBody>
          <a:bodyPr>
            <a:normAutofit/>
          </a:bodyPr>
          <a:lstStyle/>
          <a:p>
            <a:r>
              <a:rPr lang="en-US" dirty="0"/>
              <a:t>Finding Elements of </a:t>
            </a:r>
            <a:r>
              <a:rPr lang="en-US" dirty="0" err="1"/>
              <a:t>DesigN</a:t>
            </a:r>
            <a:endParaRPr lang="en-CA" dirty="0"/>
          </a:p>
        </p:txBody>
      </p:sp>
      <p:sp>
        <p:nvSpPr>
          <p:cNvPr id="3" name="Subtitle 2">
            <a:extLst>
              <a:ext uri="{FF2B5EF4-FFF2-40B4-BE49-F238E27FC236}">
                <a16:creationId xmlns:a16="http://schemas.microsoft.com/office/drawing/2014/main" id="{13B44366-A1DD-E0A3-1496-23FE4276D3AB}"/>
              </a:ext>
            </a:extLst>
          </p:cNvPr>
          <p:cNvSpPr>
            <a:spLocks noGrp="1"/>
          </p:cNvSpPr>
          <p:nvPr>
            <p:ph type="subTitle" idx="1"/>
          </p:nvPr>
        </p:nvSpPr>
        <p:spPr>
          <a:xfrm>
            <a:off x="914400" y="3975101"/>
            <a:ext cx="7315200" cy="685800"/>
          </a:xfrm>
        </p:spPr>
        <p:txBody>
          <a:bodyPr>
            <a:noAutofit/>
          </a:bodyPr>
          <a:lstStyle/>
          <a:p>
            <a:r>
              <a:rPr lang="en-CA" dirty="0"/>
              <a:t>In-Class Assignment:  </a:t>
            </a:r>
            <a:r>
              <a:rPr lang="en-CA" b="1" dirty="0"/>
              <a:t>DUE by the end of class</a:t>
            </a:r>
          </a:p>
        </p:txBody>
      </p:sp>
    </p:spTree>
    <p:extLst>
      <p:ext uri="{BB962C8B-B14F-4D97-AF65-F5344CB8AC3E}">
        <p14:creationId xmlns:p14="http://schemas.microsoft.com/office/powerpoint/2010/main" val="57477203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1863</TotalTime>
  <Words>2554</Words>
  <Application>Microsoft Office PowerPoint</Application>
  <PresentationFormat>On-screen Show (4:3)</PresentationFormat>
  <Paragraphs>307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__Roboto_4db51b</vt:lpstr>
      <vt:lpstr>Aptos</vt:lpstr>
      <vt:lpstr>Arial</vt:lpstr>
      <vt:lpstr>Century Gothic</vt:lpstr>
      <vt:lpstr>Vapor Trail</vt:lpstr>
      <vt:lpstr>The DNA of Design</vt:lpstr>
      <vt:lpstr>Why Do We Design?</vt:lpstr>
      <vt:lpstr>PowerPoint Presentation</vt:lpstr>
      <vt:lpstr>PowerPoint Presentation</vt:lpstr>
      <vt:lpstr>PowerPoint Presentation</vt:lpstr>
      <vt:lpstr>Elements of Design</vt:lpstr>
      <vt:lpstr>Line</vt:lpstr>
      <vt:lpstr>PowerPoint Presentation</vt:lpstr>
      <vt:lpstr>Line - Implied</vt:lpstr>
      <vt:lpstr>LINE - Psychic</vt:lpstr>
      <vt:lpstr>LINE - Example</vt:lpstr>
      <vt:lpstr>Shape</vt:lpstr>
      <vt:lpstr>Shape - Geometric</vt:lpstr>
      <vt:lpstr>Shape - Organic</vt:lpstr>
      <vt:lpstr>Shape - layouts</vt:lpstr>
      <vt:lpstr>Shape - symbolism</vt:lpstr>
      <vt:lpstr>Shape - symbolism</vt:lpstr>
      <vt:lpstr>Shape - symbolism</vt:lpstr>
      <vt:lpstr>Shape - Recognition</vt:lpstr>
      <vt:lpstr>Direction</vt:lpstr>
      <vt:lpstr>Direction - Horizontal</vt:lpstr>
      <vt:lpstr>Direction - Vertical</vt:lpstr>
      <vt:lpstr>Direction - Diagonal</vt:lpstr>
      <vt:lpstr>Direction - implied</vt:lpstr>
      <vt:lpstr>Finding Elements of DesigN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Croney, Aynslie (NBCC)</cp:lastModifiedBy>
  <cp:revision>2</cp:revision>
  <cp:lastPrinted>2025-09-08T15:59:49Z</cp:lastPrinted>
  <dcterms:created xsi:type="dcterms:W3CDTF">2013-01-27T09:14:16Z</dcterms:created>
  <dcterms:modified xsi:type="dcterms:W3CDTF">2026-09-16T13:02:05Z</dcterms:modified>
  <cp:category/>
</cp:coreProperties>
</file>