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media/image25.jpg" ContentType="image/jpeg"/>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46"/>
  </p:notesMasterIdLst>
  <p:sldIdLst>
    <p:sldId id="616" r:id="rId2"/>
    <p:sldId id="256" r:id="rId3"/>
    <p:sldId id="617" r:id="rId4"/>
    <p:sldId id="620" r:id="rId5"/>
    <p:sldId id="656" r:id="rId6"/>
    <p:sldId id="654" r:id="rId7"/>
    <p:sldId id="655" r:id="rId8"/>
    <p:sldId id="677" r:id="rId9"/>
    <p:sldId id="266" r:id="rId10"/>
    <p:sldId id="657" r:id="rId11"/>
    <p:sldId id="658" r:id="rId12"/>
    <p:sldId id="681" r:id="rId13"/>
    <p:sldId id="682" r:id="rId14"/>
    <p:sldId id="683" r:id="rId15"/>
    <p:sldId id="684" r:id="rId16"/>
    <p:sldId id="685" r:id="rId17"/>
    <p:sldId id="686" r:id="rId18"/>
    <p:sldId id="660" r:id="rId19"/>
    <p:sldId id="679" r:id="rId20"/>
    <p:sldId id="662" r:id="rId21"/>
    <p:sldId id="267" r:id="rId22"/>
    <p:sldId id="687" r:id="rId23"/>
    <p:sldId id="694" r:id="rId24"/>
    <p:sldId id="695" r:id="rId25"/>
    <p:sldId id="698" r:id="rId26"/>
    <p:sldId id="699" r:id="rId27"/>
    <p:sldId id="663" r:id="rId28"/>
    <p:sldId id="664" r:id="rId29"/>
    <p:sldId id="678" r:id="rId30"/>
    <p:sldId id="665" r:id="rId31"/>
    <p:sldId id="705" r:id="rId32"/>
    <p:sldId id="669" r:id="rId33"/>
    <p:sldId id="706" r:id="rId34"/>
    <p:sldId id="666" r:id="rId35"/>
    <p:sldId id="667" r:id="rId36"/>
    <p:sldId id="671" r:id="rId37"/>
    <p:sldId id="264" r:id="rId38"/>
    <p:sldId id="672" r:id="rId39"/>
    <p:sldId id="673" r:id="rId40"/>
    <p:sldId id="674" r:id="rId41"/>
    <p:sldId id="680" r:id="rId42"/>
    <p:sldId id="675" r:id="rId43"/>
    <p:sldId id="707" r:id="rId44"/>
    <p:sldId id="708" r:id="rId45"/>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4"/>
    <a:srgbClr val="DBA63C"/>
    <a:srgbClr val="FFBB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003AC1-9533-4244-B924-2D2A95D1C45C}" v="19" dt="2026-10-20T13:28:51.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712" autoAdjust="0"/>
  </p:normalViewPr>
  <p:slideViewPr>
    <p:cSldViewPr snapToGrid="0" snapToObjects="1">
      <p:cViewPr varScale="1">
        <p:scale>
          <a:sx n="65" d="100"/>
          <a:sy n="65" d="100"/>
        </p:scale>
        <p:origin x="2298" y="48"/>
      </p:cViewPr>
      <p:guideLst>
        <p:guide orient="horz" pos="2160"/>
        <p:guide pos="2880"/>
      </p:guideLst>
    </p:cSldViewPr>
  </p:slideViewPr>
  <p:notesTextViewPr>
    <p:cViewPr>
      <p:scale>
        <a:sx n="3" d="2"/>
        <a:sy n="3" d="2"/>
      </p:scale>
      <p:origin x="0" y="-5"/>
    </p:cViewPr>
  </p:notesTextViewPr>
  <p:sorterViewPr>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delSld modSld modNotesMaster">
      <pc:chgData name="Croney, Aynslie (NBCC)" userId="5b4b8641-5be5-4a22-b80a-b2335657ba3c" providerId="ADAL" clId="{37570E6E-2003-4D91-B5AC-B452EC7E0FA7}" dt="2026-10-20T13:28:51.475" v="33"/>
      <pc:docMkLst>
        <pc:docMk/>
      </pc:docMkLst>
      <pc:sldChg chg="del">
        <pc:chgData name="Croney, Aynslie (NBCC)" userId="5b4b8641-5be5-4a22-b80a-b2335657ba3c" providerId="ADAL" clId="{37570E6E-2003-4D91-B5AC-B452EC7E0FA7}" dt="2026-10-20T13:25:20.959" v="3" actId="47"/>
        <pc:sldMkLst>
          <pc:docMk/>
          <pc:sldMk cId="0" sldId="265"/>
        </pc:sldMkLst>
      </pc:sldChg>
      <pc:sldChg chg="modNotes">
        <pc:chgData name="Croney, Aynslie (NBCC)" userId="5b4b8641-5be5-4a22-b80a-b2335657ba3c" providerId="ADAL" clId="{37570E6E-2003-4D91-B5AC-B452EC7E0FA7}" dt="2026-10-20T13:25:57.453" v="4"/>
        <pc:sldMkLst>
          <pc:docMk/>
          <pc:sldMk cId="3739955741" sldId="266"/>
        </pc:sldMkLst>
      </pc:sldChg>
      <pc:sldChg chg="modNotes">
        <pc:chgData name="Croney, Aynslie (NBCC)" userId="5b4b8641-5be5-4a22-b80a-b2335657ba3c" providerId="ADAL" clId="{37570E6E-2003-4D91-B5AC-B452EC7E0FA7}" dt="2026-10-20T13:25:57.453" v="4"/>
        <pc:sldMkLst>
          <pc:docMk/>
          <pc:sldMk cId="1665598444" sldId="616"/>
        </pc:sldMkLst>
      </pc:sldChg>
      <pc:sldChg chg="modNotes">
        <pc:chgData name="Croney, Aynslie (NBCC)" userId="5b4b8641-5be5-4a22-b80a-b2335657ba3c" providerId="ADAL" clId="{37570E6E-2003-4D91-B5AC-B452EC7E0FA7}" dt="2026-10-20T13:25:57.453" v="4"/>
        <pc:sldMkLst>
          <pc:docMk/>
          <pc:sldMk cId="2065701702" sldId="617"/>
        </pc:sldMkLst>
      </pc:sldChg>
      <pc:sldChg chg="modNotes">
        <pc:chgData name="Croney, Aynslie (NBCC)" userId="5b4b8641-5be5-4a22-b80a-b2335657ba3c" providerId="ADAL" clId="{37570E6E-2003-4D91-B5AC-B452EC7E0FA7}" dt="2026-10-20T13:25:57.453" v="4"/>
        <pc:sldMkLst>
          <pc:docMk/>
          <pc:sldMk cId="1830348658" sldId="620"/>
        </pc:sldMkLst>
      </pc:sldChg>
      <pc:sldChg chg="modNotes">
        <pc:chgData name="Croney, Aynslie (NBCC)" userId="5b4b8641-5be5-4a22-b80a-b2335657ba3c" providerId="ADAL" clId="{37570E6E-2003-4D91-B5AC-B452EC7E0FA7}" dt="2026-10-20T13:25:57.453" v="4"/>
        <pc:sldMkLst>
          <pc:docMk/>
          <pc:sldMk cId="0" sldId="654"/>
        </pc:sldMkLst>
      </pc:sldChg>
      <pc:sldChg chg="modNotes">
        <pc:chgData name="Croney, Aynslie (NBCC)" userId="5b4b8641-5be5-4a22-b80a-b2335657ba3c" providerId="ADAL" clId="{37570E6E-2003-4D91-B5AC-B452EC7E0FA7}" dt="2026-10-20T13:25:57.453" v="4"/>
        <pc:sldMkLst>
          <pc:docMk/>
          <pc:sldMk cId="2306020864" sldId="655"/>
        </pc:sldMkLst>
      </pc:sldChg>
      <pc:sldChg chg="del">
        <pc:chgData name="Croney, Aynslie (NBCC)" userId="5b4b8641-5be5-4a22-b80a-b2335657ba3c" providerId="ADAL" clId="{37570E6E-2003-4D91-B5AC-B452EC7E0FA7}" dt="2026-10-20T13:25:08.907" v="0" actId="47"/>
        <pc:sldMkLst>
          <pc:docMk/>
          <pc:sldMk cId="2527942316" sldId="661"/>
        </pc:sldMkLst>
      </pc:sldChg>
      <pc:sldChg chg="addSp modSp mod modAnim">
        <pc:chgData name="Croney, Aynslie (NBCC)" userId="5b4b8641-5be5-4a22-b80a-b2335657ba3c" providerId="ADAL" clId="{37570E6E-2003-4D91-B5AC-B452EC7E0FA7}" dt="2026-10-20T13:28:51.475" v="33"/>
        <pc:sldMkLst>
          <pc:docMk/>
          <pc:sldMk cId="2360077695" sldId="663"/>
        </pc:sldMkLst>
        <pc:spChg chg="add mod">
          <ac:chgData name="Croney, Aynslie (NBCC)" userId="5b4b8641-5be5-4a22-b80a-b2335657ba3c" providerId="ADAL" clId="{37570E6E-2003-4D91-B5AC-B452EC7E0FA7}" dt="2026-10-20T13:28:23.400" v="28" actId="113"/>
          <ac:spMkLst>
            <pc:docMk/>
            <pc:sldMk cId="2360077695" sldId="663"/>
            <ac:spMk id="47" creationId="{B1678276-947E-8939-18A5-A0EBC29E2EEF}"/>
          </ac:spMkLst>
        </pc:spChg>
      </pc:sldChg>
      <pc:sldChg chg="del">
        <pc:chgData name="Croney, Aynslie (NBCC)" userId="5b4b8641-5be5-4a22-b80a-b2335657ba3c" providerId="ADAL" clId="{37570E6E-2003-4D91-B5AC-B452EC7E0FA7}" dt="2026-10-20T13:25:17.261" v="1" actId="47"/>
        <pc:sldMkLst>
          <pc:docMk/>
          <pc:sldMk cId="1382822948" sldId="668"/>
        </pc:sldMkLst>
      </pc:sldChg>
      <pc:sldChg chg="del">
        <pc:chgData name="Croney, Aynslie (NBCC)" userId="5b4b8641-5be5-4a22-b80a-b2335657ba3c" providerId="ADAL" clId="{37570E6E-2003-4D91-B5AC-B452EC7E0FA7}" dt="2026-10-20T13:25:18.797" v="2" actId="47"/>
        <pc:sldMkLst>
          <pc:docMk/>
          <pc:sldMk cId="4166090609" sldId="670"/>
        </pc:sldMkLst>
      </pc:sldChg>
      <pc:sldChg chg="modNotes">
        <pc:chgData name="Croney, Aynslie (NBCC)" userId="5b4b8641-5be5-4a22-b80a-b2335657ba3c" providerId="ADAL" clId="{37570E6E-2003-4D91-B5AC-B452EC7E0FA7}" dt="2026-10-20T13:25:57.453" v="4"/>
        <pc:sldMkLst>
          <pc:docMk/>
          <pc:sldMk cId="1303172731" sldId="707"/>
        </pc:sldMkLst>
      </pc:sldChg>
      <pc:sldChg chg="modNotes">
        <pc:chgData name="Croney, Aynslie (NBCC)" userId="5b4b8641-5be5-4a22-b80a-b2335657ba3c" providerId="ADAL" clId="{37570E6E-2003-4D91-B5AC-B452EC7E0FA7}" dt="2026-10-20T13:25:57.453" v="4"/>
        <pc:sldMkLst>
          <pc:docMk/>
          <pc:sldMk cId="3973143961" sldId="70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3">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EC0FC3-9EB2-4C74-B55E-3D9E9D58EA4F}"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CA"/>
        </a:p>
      </dgm:t>
    </dgm:pt>
    <dgm:pt modelId="{8D4DD207-F27C-4DE1-9006-EF0862301E42}">
      <dgm:prSet phldrT="[Text]" phldr="0" custT="1"/>
      <dgm:spPr/>
      <dgm:t>
        <a:bodyPr/>
        <a:lstStyle/>
        <a:p>
          <a:r>
            <a:rPr lang="en-CA" sz="1600" b="1" dirty="0"/>
            <a:t>Audience</a:t>
          </a:r>
          <a:endParaRPr lang="en-CA" sz="1400" b="1" dirty="0"/>
        </a:p>
      </dgm:t>
    </dgm:pt>
    <dgm:pt modelId="{F039708E-A44D-45B3-8EAC-ED0CE0643D74}" type="parTrans" cxnId="{CBBA2EFA-A0B0-4896-A888-72D1746BB265}">
      <dgm:prSet/>
      <dgm:spPr/>
      <dgm:t>
        <a:bodyPr/>
        <a:lstStyle/>
        <a:p>
          <a:endParaRPr lang="en-CA"/>
        </a:p>
      </dgm:t>
    </dgm:pt>
    <dgm:pt modelId="{B51EBC30-532B-4C11-9E00-2690288BDD58}" type="sibTrans" cxnId="{CBBA2EFA-A0B0-4896-A888-72D1746BB265}">
      <dgm:prSet/>
      <dgm:spPr/>
      <dgm:t>
        <a:bodyPr/>
        <a:lstStyle/>
        <a:p>
          <a:endParaRPr lang="en-CA"/>
        </a:p>
      </dgm:t>
    </dgm:pt>
    <dgm:pt modelId="{BBA6F3B1-3843-483D-8009-D5BC2B66CA31}">
      <dgm:prSet phldrT="[Text]" phldr="0" custT="1"/>
      <dgm:spPr/>
      <dgm:t>
        <a:bodyPr/>
        <a:lstStyle/>
        <a:p>
          <a:r>
            <a:rPr lang="en-CA" sz="1600" b="1" dirty="0"/>
            <a:t>Message</a:t>
          </a:r>
          <a:endParaRPr lang="en-CA" sz="1400" b="1" dirty="0"/>
        </a:p>
      </dgm:t>
    </dgm:pt>
    <dgm:pt modelId="{910756D2-FE77-4267-A780-DB61A1CA92A6}" type="parTrans" cxnId="{04DF70C5-2EB8-4E93-87A9-334F8B57B036}">
      <dgm:prSet/>
      <dgm:spPr/>
      <dgm:t>
        <a:bodyPr/>
        <a:lstStyle/>
        <a:p>
          <a:endParaRPr lang="en-CA"/>
        </a:p>
      </dgm:t>
    </dgm:pt>
    <dgm:pt modelId="{08C1D32C-9FDD-42FA-8781-7B87144E8CFA}" type="sibTrans" cxnId="{04DF70C5-2EB8-4E93-87A9-334F8B57B036}">
      <dgm:prSet/>
      <dgm:spPr/>
      <dgm:t>
        <a:bodyPr/>
        <a:lstStyle/>
        <a:p>
          <a:endParaRPr lang="en-CA"/>
        </a:p>
      </dgm:t>
    </dgm:pt>
    <dgm:pt modelId="{E6E05DE5-326B-4A65-ABDF-61CD48E93F2B}">
      <dgm:prSet phldrT="[Text]" phldr="0" custT="1"/>
      <dgm:spPr/>
      <dgm:t>
        <a:bodyPr/>
        <a:lstStyle/>
        <a:p>
          <a:r>
            <a:rPr lang="en-CA" sz="1600" b="1" dirty="0"/>
            <a:t>Design Decisions</a:t>
          </a:r>
        </a:p>
      </dgm:t>
    </dgm:pt>
    <dgm:pt modelId="{A4C55C99-2D00-41CE-9EE9-67682C956AD4}" type="parTrans" cxnId="{23BB90B0-A396-4354-9E0B-6C092CDAA8DF}">
      <dgm:prSet/>
      <dgm:spPr/>
      <dgm:t>
        <a:bodyPr/>
        <a:lstStyle/>
        <a:p>
          <a:endParaRPr lang="en-CA"/>
        </a:p>
      </dgm:t>
    </dgm:pt>
    <dgm:pt modelId="{252A3180-CC74-4AB2-A9E5-0E996B2C6261}" type="sibTrans" cxnId="{23BB90B0-A396-4354-9E0B-6C092CDAA8DF}">
      <dgm:prSet/>
      <dgm:spPr/>
      <dgm:t>
        <a:bodyPr/>
        <a:lstStyle/>
        <a:p>
          <a:endParaRPr lang="en-CA"/>
        </a:p>
      </dgm:t>
    </dgm:pt>
    <dgm:pt modelId="{437021C3-5D7F-4FB3-BC12-D2B505FEAADD}">
      <dgm:prSet phldrT="[Text]" phldr="0" custT="1"/>
      <dgm:spPr/>
      <dgm:t>
        <a:bodyPr/>
        <a:lstStyle/>
        <a:p>
          <a:r>
            <a:rPr lang="en-CA" sz="1600" b="1" dirty="0">
              <a:solidFill>
                <a:schemeClr val="bg1"/>
              </a:solidFill>
            </a:rPr>
            <a:t>Communication</a:t>
          </a:r>
          <a:endParaRPr lang="en-CA" sz="1400" b="1" dirty="0">
            <a:solidFill>
              <a:schemeClr val="bg1"/>
            </a:solidFill>
          </a:endParaRPr>
        </a:p>
      </dgm:t>
    </dgm:pt>
    <dgm:pt modelId="{53AC7E2D-7C38-47A0-965B-8DA25EC7E9D5}" type="parTrans" cxnId="{7F333441-DCDA-4330-979C-11DE2B0CB369}">
      <dgm:prSet/>
      <dgm:spPr/>
      <dgm:t>
        <a:bodyPr/>
        <a:lstStyle/>
        <a:p>
          <a:endParaRPr lang="en-CA"/>
        </a:p>
      </dgm:t>
    </dgm:pt>
    <dgm:pt modelId="{BC59FDB0-602C-4C49-A5A4-22D4B6B08731}" type="sibTrans" cxnId="{7F333441-DCDA-4330-979C-11DE2B0CB369}">
      <dgm:prSet/>
      <dgm:spPr/>
      <dgm:t>
        <a:bodyPr/>
        <a:lstStyle/>
        <a:p>
          <a:endParaRPr lang="en-CA"/>
        </a:p>
      </dgm:t>
    </dgm:pt>
    <dgm:pt modelId="{D0D98775-A9F4-4A7C-BB4B-F192960B96EC}" type="pres">
      <dgm:prSet presAssocID="{ACEC0FC3-9EB2-4C74-B55E-3D9E9D58EA4F}" presName="Name0" presStyleCnt="0">
        <dgm:presLayoutVars>
          <dgm:dir/>
          <dgm:resizeHandles val="exact"/>
        </dgm:presLayoutVars>
      </dgm:prSet>
      <dgm:spPr/>
    </dgm:pt>
    <dgm:pt modelId="{01A7BE6A-BD82-4182-8E35-5ECC2B3F03B9}" type="pres">
      <dgm:prSet presAssocID="{8D4DD207-F27C-4DE1-9006-EF0862301E42}" presName="node" presStyleLbl="node1" presStyleIdx="0" presStyleCnt="4">
        <dgm:presLayoutVars>
          <dgm:bulletEnabled val="1"/>
        </dgm:presLayoutVars>
      </dgm:prSet>
      <dgm:spPr/>
    </dgm:pt>
    <dgm:pt modelId="{BDDC1B78-9B41-4107-87FA-222FB3E5E019}" type="pres">
      <dgm:prSet presAssocID="{B51EBC30-532B-4C11-9E00-2690288BDD58}" presName="sibTrans" presStyleLbl="sibTrans2D1" presStyleIdx="0" presStyleCnt="3"/>
      <dgm:spPr/>
    </dgm:pt>
    <dgm:pt modelId="{F22EF31F-9B20-4D15-B8D3-04DF09CCF7FA}" type="pres">
      <dgm:prSet presAssocID="{B51EBC30-532B-4C11-9E00-2690288BDD58}" presName="connectorText" presStyleLbl="sibTrans2D1" presStyleIdx="0" presStyleCnt="3"/>
      <dgm:spPr/>
    </dgm:pt>
    <dgm:pt modelId="{690470AE-64FC-412A-BDFD-C74673B92880}" type="pres">
      <dgm:prSet presAssocID="{BBA6F3B1-3843-483D-8009-D5BC2B66CA31}" presName="node" presStyleLbl="node1" presStyleIdx="1" presStyleCnt="4">
        <dgm:presLayoutVars>
          <dgm:bulletEnabled val="1"/>
        </dgm:presLayoutVars>
      </dgm:prSet>
      <dgm:spPr/>
    </dgm:pt>
    <dgm:pt modelId="{F398D8A7-1759-4215-8F16-EEC2C2538C1E}" type="pres">
      <dgm:prSet presAssocID="{08C1D32C-9FDD-42FA-8781-7B87144E8CFA}" presName="sibTrans" presStyleLbl="sibTrans2D1" presStyleIdx="1" presStyleCnt="3"/>
      <dgm:spPr/>
    </dgm:pt>
    <dgm:pt modelId="{37C4CAE2-F78D-44DA-9998-D983DCC0BCC5}" type="pres">
      <dgm:prSet presAssocID="{08C1D32C-9FDD-42FA-8781-7B87144E8CFA}" presName="connectorText" presStyleLbl="sibTrans2D1" presStyleIdx="1" presStyleCnt="3"/>
      <dgm:spPr/>
    </dgm:pt>
    <dgm:pt modelId="{8BF4DD6C-DEA8-459B-B8DF-CDD8F2647F0E}" type="pres">
      <dgm:prSet presAssocID="{E6E05DE5-326B-4A65-ABDF-61CD48E93F2B}" presName="node" presStyleLbl="node1" presStyleIdx="2" presStyleCnt="4">
        <dgm:presLayoutVars>
          <dgm:bulletEnabled val="1"/>
        </dgm:presLayoutVars>
      </dgm:prSet>
      <dgm:spPr/>
    </dgm:pt>
    <dgm:pt modelId="{F27E565F-4A95-4E94-B574-0EEF2DBCE2AF}" type="pres">
      <dgm:prSet presAssocID="{252A3180-CC74-4AB2-A9E5-0E996B2C6261}" presName="sibTrans" presStyleLbl="sibTrans2D1" presStyleIdx="2" presStyleCnt="3"/>
      <dgm:spPr/>
    </dgm:pt>
    <dgm:pt modelId="{9AFBB5D5-B681-435B-AF47-A2579FC5FE85}" type="pres">
      <dgm:prSet presAssocID="{252A3180-CC74-4AB2-A9E5-0E996B2C6261}" presName="connectorText" presStyleLbl="sibTrans2D1" presStyleIdx="2" presStyleCnt="3"/>
      <dgm:spPr/>
    </dgm:pt>
    <dgm:pt modelId="{9BC26670-7CA6-4525-AC99-ABD5577C5353}" type="pres">
      <dgm:prSet presAssocID="{437021C3-5D7F-4FB3-BC12-D2B505FEAADD}" presName="node" presStyleLbl="node1" presStyleIdx="3" presStyleCnt="4">
        <dgm:presLayoutVars>
          <dgm:bulletEnabled val="1"/>
        </dgm:presLayoutVars>
      </dgm:prSet>
      <dgm:spPr/>
    </dgm:pt>
  </dgm:ptLst>
  <dgm:cxnLst>
    <dgm:cxn modelId="{26C08710-7BA5-4982-9F3B-DAA0F7C9FE95}" type="presOf" srcId="{E6E05DE5-326B-4A65-ABDF-61CD48E93F2B}" destId="{8BF4DD6C-DEA8-459B-B8DF-CDD8F2647F0E}" srcOrd="0" destOrd="0" presId="urn:microsoft.com/office/officeart/2005/8/layout/process1"/>
    <dgm:cxn modelId="{7E521527-7F55-4411-A46F-094BDF94D463}" type="presOf" srcId="{252A3180-CC74-4AB2-A9E5-0E996B2C6261}" destId="{9AFBB5D5-B681-435B-AF47-A2579FC5FE85}" srcOrd="1" destOrd="0" presId="urn:microsoft.com/office/officeart/2005/8/layout/process1"/>
    <dgm:cxn modelId="{7F333441-DCDA-4330-979C-11DE2B0CB369}" srcId="{ACEC0FC3-9EB2-4C74-B55E-3D9E9D58EA4F}" destId="{437021C3-5D7F-4FB3-BC12-D2B505FEAADD}" srcOrd="3" destOrd="0" parTransId="{53AC7E2D-7C38-47A0-965B-8DA25EC7E9D5}" sibTransId="{BC59FDB0-602C-4C49-A5A4-22D4B6B08731}"/>
    <dgm:cxn modelId="{89D3F071-40EC-4329-8ED0-85AAAE3BAA77}" type="presOf" srcId="{8D4DD207-F27C-4DE1-9006-EF0862301E42}" destId="{01A7BE6A-BD82-4182-8E35-5ECC2B3F03B9}" srcOrd="0" destOrd="0" presId="urn:microsoft.com/office/officeart/2005/8/layout/process1"/>
    <dgm:cxn modelId="{9A4E3952-7740-4208-B7AC-AE09B43A76C6}" type="presOf" srcId="{BBA6F3B1-3843-483D-8009-D5BC2B66CA31}" destId="{690470AE-64FC-412A-BDFD-C74673B92880}" srcOrd="0" destOrd="0" presId="urn:microsoft.com/office/officeart/2005/8/layout/process1"/>
    <dgm:cxn modelId="{598F5874-AD33-4D1A-89D7-BF13D3A964F1}" type="presOf" srcId="{ACEC0FC3-9EB2-4C74-B55E-3D9E9D58EA4F}" destId="{D0D98775-A9F4-4A7C-BB4B-F192960B96EC}" srcOrd="0" destOrd="0" presId="urn:microsoft.com/office/officeart/2005/8/layout/process1"/>
    <dgm:cxn modelId="{189F5E55-A384-47EB-9B03-DF888BF90CD9}" type="presOf" srcId="{B51EBC30-532B-4C11-9E00-2690288BDD58}" destId="{F22EF31F-9B20-4D15-B8D3-04DF09CCF7FA}" srcOrd="1" destOrd="0" presId="urn:microsoft.com/office/officeart/2005/8/layout/process1"/>
    <dgm:cxn modelId="{9B6C4677-ED58-427A-866A-FD98EE998FF3}" type="presOf" srcId="{252A3180-CC74-4AB2-A9E5-0E996B2C6261}" destId="{F27E565F-4A95-4E94-B574-0EEF2DBCE2AF}" srcOrd="0" destOrd="0" presId="urn:microsoft.com/office/officeart/2005/8/layout/process1"/>
    <dgm:cxn modelId="{F1FEEE9B-9D14-4ECE-ACAD-93DCD054FCAA}" type="presOf" srcId="{08C1D32C-9FDD-42FA-8781-7B87144E8CFA}" destId="{37C4CAE2-F78D-44DA-9998-D983DCC0BCC5}" srcOrd="1" destOrd="0" presId="urn:microsoft.com/office/officeart/2005/8/layout/process1"/>
    <dgm:cxn modelId="{3AE2BFAC-F479-4547-AB9F-74CC9295CFE3}" type="presOf" srcId="{437021C3-5D7F-4FB3-BC12-D2B505FEAADD}" destId="{9BC26670-7CA6-4525-AC99-ABD5577C5353}" srcOrd="0" destOrd="0" presId="urn:microsoft.com/office/officeart/2005/8/layout/process1"/>
    <dgm:cxn modelId="{23BB90B0-A396-4354-9E0B-6C092CDAA8DF}" srcId="{ACEC0FC3-9EB2-4C74-B55E-3D9E9D58EA4F}" destId="{E6E05DE5-326B-4A65-ABDF-61CD48E93F2B}" srcOrd="2" destOrd="0" parTransId="{A4C55C99-2D00-41CE-9EE9-67682C956AD4}" sibTransId="{252A3180-CC74-4AB2-A9E5-0E996B2C6261}"/>
    <dgm:cxn modelId="{04DF70C5-2EB8-4E93-87A9-334F8B57B036}" srcId="{ACEC0FC3-9EB2-4C74-B55E-3D9E9D58EA4F}" destId="{BBA6F3B1-3843-483D-8009-D5BC2B66CA31}" srcOrd="1" destOrd="0" parTransId="{910756D2-FE77-4267-A780-DB61A1CA92A6}" sibTransId="{08C1D32C-9FDD-42FA-8781-7B87144E8CFA}"/>
    <dgm:cxn modelId="{7F7F52DA-292E-4ACD-AE72-697AB1433D71}" type="presOf" srcId="{B51EBC30-532B-4C11-9E00-2690288BDD58}" destId="{BDDC1B78-9B41-4107-87FA-222FB3E5E019}" srcOrd="0" destOrd="0" presId="urn:microsoft.com/office/officeart/2005/8/layout/process1"/>
    <dgm:cxn modelId="{DA7BC9F4-98C7-4062-8B1A-A00DC9D7A78D}" type="presOf" srcId="{08C1D32C-9FDD-42FA-8781-7B87144E8CFA}" destId="{F398D8A7-1759-4215-8F16-EEC2C2538C1E}" srcOrd="0" destOrd="0" presId="urn:microsoft.com/office/officeart/2005/8/layout/process1"/>
    <dgm:cxn modelId="{CBBA2EFA-A0B0-4896-A888-72D1746BB265}" srcId="{ACEC0FC3-9EB2-4C74-B55E-3D9E9D58EA4F}" destId="{8D4DD207-F27C-4DE1-9006-EF0862301E42}" srcOrd="0" destOrd="0" parTransId="{F039708E-A44D-45B3-8EAC-ED0CE0643D74}" sibTransId="{B51EBC30-532B-4C11-9E00-2690288BDD58}"/>
    <dgm:cxn modelId="{DF215642-7DD5-481B-A3A0-0D97C5ECBBAF}" type="presParOf" srcId="{D0D98775-A9F4-4A7C-BB4B-F192960B96EC}" destId="{01A7BE6A-BD82-4182-8E35-5ECC2B3F03B9}" srcOrd="0" destOrd="0" presId="urn:microsoft.com/office/officeart/2005/8/layout/process1"/>
    <dgm:cxn modelId="{5DD3AD10-2EA0-4C19-ACFA-C2D63320353F}" type="presParOf" srcId="{D0D98775-A9F4-4A7C-BB4B-F192960B96EC}" destId="{BDDC1B78-9B41-4107-87FA-222FB3E5E019}" srcOrd="1" destOrd="0" presId="urn:microsoft.com/office/officeart/2005/8/layout/process1"/>
    <dgm:cxn modelId="{F890B876-DAF6-41E3-8638-96C667DF1A08}" type="presParOf" srcId="{BDDC1B78-9B41-4107-87FA-222FB3E5E019}" destId="{F22EF31F-9B20-4D15-B8D3-04DF09CCF7FA}" srcOrd="0" destOrd="0" presId="urn:microsoft.com/office/officeart/2005/8/layout/process1"/>
    <dgm:cxn modelId="{231238B9-8AC1-4E31-BF6B-53B1CE9C11FC}" type="presParOf" srcId="{D0D98775-A9F4-4A7C-BB4B-F192960B96EC}" destId="{690470AE-64FC-412A-BDFD-C74673B92880}" srcOrd="2" destOrd="0" presId="urn:microsoft.com/office/officeart/2005/8/layout/process1"/>
    <dgm:cxn modelId="{5EE03EDE-899A-4F21-9F80-DDAFA8EE29F9}" type="presParOf" srcId="{D0D98775-A9F4-4A7C-BB4B-F192960B96EC}" destId="{F398D8A7-1759-4215-8F16-EEC2C2538C1E}" srcOrd="3" destOrd="0" presId="urn:microsoft.com/office/officeart/2005/8/layout/process1"/>
    <dgm:cxn modelId="{773A92D1-F47E-474C-B6E0-9DF29FAF743E}" type="presParOf" srcId="{F398D8A7-1759-4215-8F16-EEC2C2538C1E}" destId="{37C4CAE2-F78D-44DA-9998-D983DCC0BCC5}" srcOrd="0" destOrd="0" presId="urn:microsoft.com/office/officeart/2005/8/layout/process1"/>
    <dgm:cxn modelId="{C64D7F2D-B27E-49BE-B207-158478C7D585}" type="presParOf" srcId="{D0D98775-A9F4-4A7C-BB4B-F192960B96EC}" destId="{8BF4DD6C-DEA8-459B-B8DF-CDD8F2647F0E}" srcOrd="4" destOrd="0" presId="urn:microsoft.com/office/officeart/2005/8/layout/process1"/>
    <dgm:cxn modelId="{43867551-4861-4913-9D4A-0A538870339A}" type="presParOf" srcId="{D0D98775-A9F4-4A7C-BB4B-F192960B96EC}" destId="{F27E565F-4A95-4E94-B574-0EEF2DBCE2AF}" srcOrd="5" destOrd="0" presId="urn:microsoft.com/office/officeart/2005/8/layout/process1"/>
    <dgm:cxn modelId="{DB0400EC-EB97-4D22-904F-B345C98B8766}" type="presParOf" srcId="{F27E565F-4A95-4E94-B574-0EEF2DBCE2AF}" destId="{9AFBB5D5-B681-435B-AF47-A2579FC5FE85}" srcOrd="0" destOrd="0" presId="urn:microsoft.com/office/officeart/2005/8/layout/process1"/>
    <dgm:cxn modelId="{06F6F051-CAA3-4160-ACEE-A52E0CA8856B}" type="presParOf" srcId="{D0D98775-A9F4-4A7C-BB4B-F192960B96EC}" destId="{9BC26670-7CA6-4525-AC99-ABD5577C5353}"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46120E-6435-4DD4-A742-67846CCD5FDF}" type="doc">
      <dgm:prSet loTypeId="urn:microsoft.com/office/officeart/2016/7/layout/RepeatingBendingProcessNew" loCatId="process" qsTypeId="urn:microsoft.com/office/officeart/2005/8/quickstyle/simple4#8" qsCatId="simple" csTypeId="urn:microsoft.com/office/officeart/2005/8/colors/colorful2#3" csCatId="colorful" phldr="1"/>
      <dgm:spPr/>
      <dgm:t>
        <a:bodyPr/>
        <a:lstStyle/>
        <a:p>
          <a:endParaRPr lang="en-CA"/>
        </a:p>
      </dgm:t>
    </dgm:pt>
    <dgm:pt modelId="{41247F61-BC0C-42E9-B539-F645F6E99BBB}">
      <dgm:prSet phldrT="[Text]"/>
      <dgm:spPr/>
      <dgm:t>
        <a:bodyPr/>
        <a:lstStyle/>
        <a:p>
          <a:pPr>
            <a:buNone/>
          </a:pPr>
          <a:r>
            <a:rPr lang="en-CA" dirty="0"/>
            <a:t>Contrast creates attention</a:t>
          </a:r>
        </a:p>
      </dgm:t>
    </dgm:pt>
    <dgm:pt modelId="{AE1A7889-52D5-4005-BE46-F46B0CDAA4DF}" type="parTrans" cxnId="{277F9079-7D0C-4CA6-AC11-7834DD469206}">
      <dgm:prSet/>
      <dgm:spPr/>
      <dgm:t>
        <a:bodyPr/>
        <a:lstStyle/>
        <a:p>
          <a:endParaRPr lang="en-CA"/>
        </a:p>
      </dgm:t>
    </dgm:pt>
    <dgm:pt modelId="{1551B09D-CD48-4BAF-AF6B-60087ACB0E38}" type="sibTrans" cxnId="{277F9079-7D0C-4CA6-AC11-7834DD469206}">
      <dgm:prSet/>
      <dgm:spPr/>
      <dgm:t>
        <a:bodyPr/>
        <a:lstStyle/>
        <a:p>
          <a:endParaRPr lang="en-CA"/>
        </a:p>
      </dgm:t>
    </dgm:pt>
    <dgm:pt modelId="{FE179C55-ED00-4665-B46B-0A6109CB02F2}">
      <dgm:prSet phldrT="[Text]"/>
      <dgm:spPr/>
      <dgm:t>
        <a:bodyPr/>
        <a:lstStyle/>
        <a:p>
          <a:pPr>
            <a:buNone/>
          </a:pPr>
          <a:r>
            <a:rPr lang="en-CA" dirty="0"/>
            <a:t>Space creates emphasis</a:t>
          </a:r>
        </a:p>
      </dgm:t>
    </dgm:pt>
    <dgm:pt modelId="{978D1046-D388-46CD-8090-2ED1EC9DCCD9}" type="parTrans" cxnId="{68FE16AD-C846-41AF-8A55-DAC90BD5F1F8}">
      <dgm:prSet/>
      <dgm:spPr/>
      <dgm:t>
        <a:bodyPr/>
        <a:lstStyle/>
        <a:p>
          <a:endParaRPr lang="en-CA"/>
        </a:p>
      </dgm:t>
    </dgm:pt>
    <dgm:pt modelId="{AEFC18DA-1736-4696-AB60-A299DD74C777}" type="sibTrans" cxnId="{68FE16AD-C846-41AF-8A55-DAC90BD5F1F8}">
      <dgm:prSet/>
      <dgm:spPr/>
      <dgm:t>
        <a:bodyPr/>
        <a:lstStyle/>
        <a:p>
          <a:endParaRPr lang="en-CA"/>
        </a:p>
      </dgm:t>
    </dgm:pt>
    <dgm:pt modelId="{1846FA9B-3651-4D51-B90C-383EA633CDAE}">
      <dgm:prSet phldrT="[Text]"/>
      <dgm:spPr/>
      <dgm:t>
        <a:bodyPr/>
        <a:lstStyle/>
        <a:p>
          <a:pPr>
            <a:buNone/>
          </a:pPr>
          <a:r>
            <a:rPr lang="en-CA" dirty="0"/>
            <a:t>Alignment creates order</a:t>
          </a:r>
        </a:p>
      </dgm:t>
    </dgm:pt>
    <dgm:pt modelId="{F7D86066-5863-42EE-8669-5B6FF6B64314}" type="parTrans" cxnId="{FA71F584-5D8F-4CC7-90CA-D411851096E3}">
      <dgm:prSet/>
      <dgm:spPr/>
      <dgm:t>
        <a:bodyPr/>
        <a:lstStyle/>
        <a:p>
          <a:endParaRPr lang="en-CA"/>
        </a:p>
      </dgm:t>
    </dgm:pt>
    <dgm:pt modelId="{B54D990D-EAA5-4970-ACD1-528C30EE48BD}" type="sibTrans" cxnId="{FA71F584-5D8F-4CC7-90CA-D411851096E3}">
      <dgm:prSet/>
      <dgm:spPr/>
      <dgm:t>
        <a:bodyPr/>
        <a:lstStyle/>
        <a:p>
          <a:endParaRPr lang="en-CA"/>
        </a:p>
      </dgm:t>
    </dgm:pt>
    <dgm:pt modelId="{8C7193D4-61B5-4325-98A8-B3AAF705F796}">
      <dgm:prSet phldrT="[Text]"/>
      <dgm:spPr/>
      <dgm:t>
        <a:bodyPr/>
        <a:lstStyle/>
        <a:p>
          <a:pPr>
            <a:buNone/>
          </a:pPr>
          <a:r>
            <a:rPr lang="en-CA" dirty="0"/>
            <a:t>Proximity creates relationships</a:t>
          </a:r>
        </a:p>
      </dgm:t>
    </dgm:pt>
    <dgm:pt modelId="{427A84A6-4AB5-43B3-8B6F-3BB4B6C755A9}" type="parTrans" cxnId="{8366378A-49A6-42BB-AE45-DF36591B50CC}">
      <dgm:prSet/>
      <dgm:spPr/>
      <dgm:t>
        <a:bodyPr/>
        <a:lstStyle/>
        <a:p>
          <a:endParaRPr lang="en-CA"/>
        </a:p>
      </dgm:t>
    </dgm:pt>
    <dgm:pt modelId="{52B2F4B2-13F6-4825-81F9-561DF7B3D76D}" type="sibTrans" cxnId="{8366378A-49A6-42BB-AE45-DF36591B50CC}">
      <dgm:prSet/>
      <dgm:spPr/>
      <dgm:t>
        <a:bodyPr/>
        <a:lstStyle/>
        <a:p>
          <a:endParaRPr lang="en-CA"/>
        </a:p>
      </dgm:t>
    </dgm:pt>
    <dgm:pt modelId="{D2D5C993-016B-4249-AFE1-EE22BC6FFF56}">
      <dgm:prSet phldrT="[Text]"/>
      <dgm:spPr/>
      <dgm:t>
        <a:bodyPr/>
        <a:lstStyle/>
        <a:p>
          <a:pPr>
            <a:buNone/>
          </a:pPr>
          <a:r>
            <a:rPr lang="en-CA" dirty="0"/>
            <a:t>Repetition creates unity</a:t>
          </a:r>
        </a:p>
      </dgm:t>
    </dgm:pt>
    <dgm:pt modelId="{FBE54830-F53A-409F-9B2D-E4886FA2985D}" type="parTrans" cxnId="{D8820129-9759-4F4F-85FF-C4208E0F6D55}">
      <dgm:prSet/>
      <dgm:spPr/>
      <dgm:t>
        <a:bodyPr/>
        <a:lstStyle/>
        <a:p>
          <a:endParaRPr lang="en-CA"/>
        </a:p>
      </dgm:t>
    </dgm:pt>
    <dgm:pt modelId="{CA051B9B-FB84-4894-BEF2-4F5963B19FB8}" type="sibTrans" cxnId="{D8820129-9759-4F4F-85FF-C4208E0F6D55}">
      <dgm:prSet/>
      <dgm:spPr/>
      <dgm:t>
        <a:bodyPr/>
        <a:lstStyle/>
        <a:p>
          <a:endParaRPr lang="en-CA"/>
        </a:p>
      </dgm:t>
    </dgm:pt>
    <dgm:pt modelId="{3C6B892D-DA0A-4A3B-A4B6-ADB710902D11}">
      <dgm:prSet phldrT="[Text]"/>
      <dgm:spPr/>
      <dgm:t>
        <a:bodyPr/>
        <a:lstStyle/>
        <a:p>
          <a:pPr>
            <a:buNone/>
          </a:pPr>
          <a:r>
            <a:rPr lang="en-CA" dirty="0"/>
            <a:t>Balance creates stability</a:t>
          </a:r>
        </a:p>
      </dgm:t>
    </dgm:pt>
    <dgm:pt modelId="{5DF3B3E2-F25E-4386-A82E-D4F4A7E8FF84}" type="parTrans" cxnId="{91AF8A48-6349-4C89-BA9E-1D85B3709947}">
      <dgm:prSet/>
      <dgm:spPr/>
      <dgm:t>
        <a:bodyPr/>
        <a:lstStyle/>
        <a:p>
          <a:endParaRPr lang="en-CA"/>
        </a:p>
      </dgm:t>
    </dgm:pt>
    <dgm:pt modelId="{9BBA26F6-F9DD-468F-A6CF-53A1828B23A3}" type="sibTrans" cxnId="{91AF8A48-6349-4C89-BA9E-1D85B3709947}">
      <dgm:prSet/>
      <dgm:spPr/>
      <dgm:t>
        <a:bodyPr/>
        <a:lstStyle/>
        <a:p>
          <a:endParaRPr lang="en-CA"/>
        </a:p>
      </dgm:t>
    </dgm:pt>
    <dgm:pt modelId="{2AB4BBC8-B315-493B-BD28-0540CAF0B979}" type="pres">
      <dgm:prSet presAssocID="{B646120E-6435-4DD4-A742-67846CCD5FDF}" presName="Name0" presStyleCnt="0">
        <dgm:presLayoutVars>
          <dgm:dir/>
          <dgm:resizeHandles val="exact"/>
        </dgm:presLayoutVars>
      </dgm:prSet>
      <dgm:spPr/>
    </dgm:pt>
    <dgm:pt modelId="{7B109977-9CD2-44F5-9089-12954FD8248B}" type="pres">
      <dgm:prSet presAssocID="{41247F61-BC0C-42E9-B539-F645F6E99BBB}" presName="node" presStyleLbl="node1" presStyleIdx="0" presStyleCnt="6">
        <dgm:presLayoutVars>
          <dgm:bulletEnabled val="1"/>
        </dgm:presLayoutVars>
      </dgm:prSet>
      <dgm:spPr/>
    </dgm:pt>
    <dgm:pt modelId="{A7E3BF7C-0868-463B-9068-D10E07F6795C}" type="pres">
      <dgm:prSet presAssocID="{1551B09D-CD48-4BAF-AF6B-60087ACB0E38}" presName="sibTrans" presStyleLbl="sibTrans1D1" presStyleIdx="0" presStyleCnt="5"/>
      <dgm:spPr/>
    </dgm:pt>
    <dgm:pt modelId="{27F7CDC7-201C-4000-A2E4-13DD422EC87E}" type="pres">
      <dgm:prSet presAssocID="{1551B09D-CD48-4BAF-AF6B-60087ACB0E38}" presName="connectorText" presStyleLbl="sibTrans1D1" presStyleIdx="0" presStyleCnt="5"/>
      <dgm:spPr/>
    </dgm:pt>
    <dgm:pt modelId="{FA6CF533-930A-4569-ADC7-4CF667FEA7B1}" type="pres">
      <dgm:prSet presAssocID="{FE179C55-ED00-4665-B46B-0A6109CB02F2}" presName="node" presStyleLbl="node1" presStyleIdx="1" presStyleCnt="6">
        <dgm:presLayoutVars>
          <dgm:bulletEnabled val="1"/>
        </dgm:presLayoutVars>
      </dgm:prSet>
      <dgm:spPr/>
    </dgm:pt>
    <dgm:pt modelId="{4C9B7005-4ED6-4E52-8682-CACC839C7594}" type="pres">
      <dgm:prSet presAssocID="{AEFC18DA-1736-4696-AB60-A299DD74C777}" presName="sibTrans" presStyleLbl="sibTrans1D1" presStyleIdx="1" presStyleCnt="5"/>
      <dgm:spPr/>
    </dgm:pt>
    <dgm:pt modelId="{EDD18308-E767-4347-8120-1D911CD524AB}" type="pres">
      <dgm:prSet presAssocID="{AEFC18DA-1736-4696-AB60-A299DD74C777}" presName="connectorText" presStyleLbl="sibTrans1D1" presStyleIdx="1" presStyleCnt="5"/>
      <dgm:spPr/>
    </dgm:pt>
    <dgm:pt modelId="{20E44464-5AED-4D5B-AC56-6DE598599B9C}" type="pres">
      <dgm:prSet presAssocID="{1846FA9B-3651-4D51-B90C-383EA633CDAE}" presName="node" presStyleLbl="node1" presStyleIdx="2" presStyleCnt="6">
        <dgm:presLayoutVars>
          <dgm:bulletEnabled val="1"/>
        </dgm:presLayoutVars>
      </dgm:prSet>
      <dgm:spPr/>
    </dgm:pt>
    <dgm:pt modelId="{D27FCC79-6DD5-44AB-B33D-C225F937E023}" type="pres">
      <dgm:prSet presAssocID="{B54D990D-EAA5-4970-ACD1-528C30EE48BD}" presName="sibTrans" presStyleLbl="sibTrans1D1" presStyleIdx="2" presStyleCnt="5"/>
      <dgm:spPr/>
    </dgm:pt>
    <dgm:pt modelId="{04475AD6-1709-41E9-8456-57485E3DDFAA}" type="pres">
      <dgm:prSet presAssocID="{B54D990D-EAA5-4970-ACD1-528C30EE48BD}" presName="connectorText" presStyleLbl="sibTrans1D1" presStyleIdx="2" presStyleCnt="5"/>
      <dgm:spPr/>
    </dgm:pt>
    <dgm:pt modelId="{5EB36543-B820-487C-80B9-239F7F601AC7}" type="pres">
      <dgm:prSet presAssocID="{8C7193D4-61B5-4325-98A8-B3AAF705F796}" presName="node" presStyleLbl="node1" presStyleIdx="3" presStyleCnt="6">
        <dgm:presLayoutVars>
          <dgm:bulletEnabled val="1"/>
        </dgm:presLayoutVars>
      </dgm:prSet>
      <dgm:spPr/>
    </dgm:pt>
    <dgm:pt modelId="{E2835BC2-7C7F-4E1E-8F07-527631E299D2}" type="pres">
      <dgm:prSet presAssocID="{52B2F4B2-13F6-4825-81F9-561DF7B3D76D}" presName="sibTrans" presStyleLbl="sibTrans1D1" presStyleIdx="3" presStyleCnt="5"/>
      <dgm:spPr/>
    </dgm:pt>
    <dgm:pt modelId="{A7177479-B9C5-4CE9-A74B-72C24820BF3F}" type="pres">
      <dgm:prSet presAssocID="{52B2F4B2-13F6-4825-81F9-561DF7B3D76D}" presName="connectorText" presStyleLbl="sibTrans1D1" presStyleIdx="3" presStyleCnt="5"/>
      <dgm:spPr/>
    </dgm:pt>
    <dgm:pt modelId="{7FD58CE5-D9A0-4563-A844-2A40C460F3F0}" type="pres">
      <dgm:prSet presAssocID="{D2D5C993-016B-4249-AFE1-EE22BC6FFF56}" presName="node" presStyleLbl="node1" presStyleIdx="4" presStyleCnt="6">
        <dgm:presLayoutVars>
          <dgm:bulletEnabled val="1"/>
        </dgm:presLayoutVars>
      </dgm:prSet>
      <dgm:spPr/>
    </dgm:pt>
    <dgm:pt modelId="{4965302C-F64C-419B-A5C2-87D090C2FF40}" type="pres">
      <dgm:prSet presAssocID="{CA051B9B-FB84-4894-BEF2-4F5963B19FB8}" presName="sibTrans" presStyleLbl="sibTrans1D1" presStyleIdx="4" presStyleCnt="5"/>
      <dgm:spPr/>
    </dgm:pt>
    <dgm:pt modelId="{8D573884-8B9F-41AF-B255-3241B83BF32A}" type="pres">
      <dgm:prSet presAssocID="{CA051B9B-FB84-4894-BEF2-4F5963B19FB8}" presName="connectorText" presStyleLbl="sibTrans1D1" presStyleIdx="4" presStyleCnt="5"/>
      <dgm:spPr/>
    </dgm:pt>
    <dgm:pt modelId="{0981F2E4-D238-4A27-B037-3E5DBAE2536F}" type="pres">
      <dgm:prSet presAssocID="{3C6B892D-DA0A-4A3B-A4B6-ADB710902D11}" presName="node" presStyleLbl="node1" presStyleIdx="5" presStyleCnt="6">
        <dgm:presLayoutVars>
          <dgm:bulletEnabled val="1"/>
        </dgm:presLayoutVars>
      </dgm:prSet>
      <dgm:spPr/>
    </dgm:pt>
  </dgm:ptLst>
  <dgm:cxnLst>
    <dgm:cxn modelId="{A74B3921-022A-480C-A28C-22F83FE28658}" type="presOf" srcId="{B54D990D-EAA5-4970-ACD1-528C30EE48BD}" destId="{04475AD6-1709-41E9-8456-57485E3DDFAA}" srcOrd="1" destOrd="0" presId="urn:microsoft.com/office/officeart/2016/7/layout/RepeatingBendingProcessNew"/>
    <dgm:cxn modelId="{C5505A24-154E-4456-8E74-F65F69E82CB6}" type="presOf" srcId="{CA051B9B-FB84-4894-BEF2-4F5963B19FB8}" destId="{8D573884-8B9F-41AF-B255-3241B83BF32A}" srcOrd="1" destOrd="0" presId="urn:microsoft.com/office/officeart/2016/7/layout/RepeatingBendingProcessNew"/>
    <dgm:cxn modelId="{D8820129-9759-4F4F-85FF-C4208E0F6D55}" srcId="{B646120E-6435-4DD4-A742-67846CCD5FDF}" destId="{D2D5C993-016B-4249-AFE1-EE22BC6FFF56}" srcOrd="4" destOrd="0" parTransId="{FBE54830-F53A-409F-9B2D-E4886FA2985D}" sibTransId="{CA051B9B-FB84-4894-BEF2-4F5963B19FB8}"/>
    <dgm:cxn modelId="{1A98233E-495B-4B2A-80AA-D8BCA3C244F8}" type="presOf" srcId="{8C7193D4-61B5-4325-98A8-B3AAF705F796}" destId="{5EB36543-B820-487C-80B9-239F7F601AC7}" srcOrd="0" destOrd="0" presId="urn:microsoft.com/office/officeart/2016/7/layout/RepeatingBendingProcessNew"/>
    <dgm:cxn modelId="{3B602D41-69DC-40EA-928D-8C916D7D06DE}" type="presOf" srcId="{AEFC18DA-1736-4696-AB60-A299DD74C777}" destId="{EDD18308-E767-4347-8120-1D911CD524AB}" srcOrd="1" destOrd="0" presId="urn:microsoft.com/office/officeart/2016/7/layout/RepeatingBendingProcessNew"/>
    <dgm:cxn modelId="{91AF8A48-6349-4C89-BA9E-1D85B3709947}" srcId="{B646120E-6435-4DD4-A742-67846CCD5FDF}" destId="{3C6B892D-DA0A-4A3B-A4B6-ADB710902D11}" srcOrd="5" destOrd="0" parTransId="{5DF3B3E2-F25E-4386-A82E-D4F4A7E8FF84}" sibTransId="{9BBA26F6-F9DD-468F-A6CF-53A1828B23A3}"/>
    <dgm:cxn modelId="{F5F5954D-D2AD-4E2F-8BB3-735D717BD72C}" type="presOf" srcId="{B646120E-6435-4DD4-A742-67846CCD5FDF}" destId="{2AB4BBC8-B315-493B-BD28-0540CAF0B979}" srcOrd="0" destOrd="0" presId="urn:microsoft.com/office/officeart/2016/7/layout/RepeatingBendingProcessNew"/>
    <dgm:cxn modelId="{D6566374-4B98-4F29-8527-F92E96BE260C}" type="presOf" srcId="{B54D990D-EAA5-4970-ACD1-528C30EE48BD}" destId="{D27FCC79-6DD5-44AB-B33D-C225F937E023}" srcOrd="0" destOrd="0" presId="urn:microsoft.com/office/officeart/2016/7/layout/RepeatingBendingProcessNew"/>
    <dgm:cxn modelId="{277F9079-7D0C-4CA6-AC11-7834DD469206}" srcId="{B646120E-6435-4DD4-A742-67846CCD5FDF}" destId="{41247F61-BC0C-42E9-B539-F645F6E99BBB}" srcOrd="0" destOrd="0" parTransId="{AE1A7889-52D5-4005-BE46-F46B0CDAA4DF}" sibTransId="{1551B09D-CD48-4BAF-AF6B-60087ACB0E38}"/>
    <dgm:cxn modelId="{D890157B-C1BF-40E8-901C-7A3A839DD1BF}" type="presOf" srcId="{3C6B892D-DA0A-4A3B-A4B6-ADB710902D11}" destId="{0981F2E4-D238-4A27-B037-3E5DBAE2536F}" srcOrd="0" destOrd="0" presId="urn:microsoft.com/office/officeart/2016/7/layout/RepeatingBendingProcessNew"/>
    <dgm:cxn modelId="{FA71F584-5D8F-4CC7-90CA-D411851096E3}" srcId="{B646120E-6435-4DD4-A742-67846CCD5FDF}" destId="{1846FA9B-3651-4D51-B90C-383EA633CDAE}" srcOrd="2" destOrd="0" parTransId="{F7D86066-5863-42EE-8669-5B6FF6B64314}" sibTransId="{B54D990D-EAA5-4970-ACD1-528C30EE48BD}"/>
    <dgm:cxn modelId="{8366378A-49A6-42BB-AE45-DF36591B50CC}" srcId="{B646120E-6435-4DD4-A742-67846CCD5FDF}" destId="{8C7193D4-61B5-4325-98A8-B3AAF705F796}" srcOrd="3" destOrd="0" parTransId="{427A84A6-4AB5-43B3-8B6F-3BB4B6C755A9}" sibTransId="{52B2F4B2-13F6-4825-81F9-561DF7B3D76D}"/>
    <dgm:cxn modelId="{065A9193-3DA3-4F57-B0CD-D7D140A94820}" type="presOf" srcId="{1551B09D-CD48-4BAF-AF6B-60087ACB0E38}" destId="{27F7CDC7-201C-4000-A2E4-13DD422EC87E}" srcOrd="1" destOrd="0" presId="urn:microsoft.com/office/officeart/2016/7/layout/RepeatingBendingProcessNew"/>
    <dgm:cxn modelId="{68FE16AD-C846-41AF-8A55-DAC90BD5F1F8}" srcId="{B646120E-6435-4DD4-A742-67846CCD5FDF}" destId="{FE179C55-ED00-4665-B46B-0A6109CB02F2}" srcOrd="1" destOrd="0" parTransId="{978D1046-D388-46CD-8090-2ED1EC9DCCD9}" sibTransId="{AEFC18DA-1736-4696-AB60-A299DD74C777}"/>
    <dgm:cxn modelId="{026788B6-18FC-4196-8D32-1AF856B586BC}" type="presOf" srcId="{D2D5C993-016B-4249-AFE1-EE22BC6FFF56}" destId="{7FD58CE5-D9A0-4563-A844-2A40C460F3F0}" srcOrd="0" destOrd="0" presId="urn:microsoft.com/office/officeart/2016/7/layout/RepeatingBendingProcessNew"/>
    <dgm:cxn modelId="{EE80C5B9-7297-4543-844F-7CE1D8D8485F}" type="presOf" srcId="{52B2F4B2-13F6-4825-81F9-561DF7B3D76D}" destId="{A7177479-B9C5-4CE9-A74B-72C24820BF3F}" srcOrd="1" destOrd="0" presId="urn:microsoft.com/office/officeart/2016/7/layout/RepeatingBendingProcessNew"/>
    <dgm:cxn modelId="{5115CAB9-05E4-4C6E-8344-2DD2954F972B}" type="presOf" srcId="{41247F61-BC0C-42E9-B539-F645F6E99BBB}" destId="{7B109977-9CD2-44F5-9089-12954FD8248B}" srcOrd="0" destOrd="0" presId="urn:microsoft.com/office/officeart/2016/7/layout/RepeatingBendingProcessNew"/>
    <dgm:cxn modelId="{E53B7DBC-AE13-42F1-B370-40908A6E4B71}" type="presOf" srcId="{FE179C55-ED00-4665-B46B-0A6109CB02F2}" destId="{FA6CF533-930A-4569-ADC7-4CF667FEA7B1}" srcOrd="0" destOrd="0" presId="urn:microsoft.com/office/officeart/2016/7/layout/RepeatingBendingProcessNew"/>
    <dgm:cxn modelId="{3D7AAEC5-D8A5-4237-A936-45429FD157E9}" type="presOf" srcId="{52B2F4B2-13F6-4825-81F9-561DF7B3D76D}" destId="{E2835BC2-7C7F-4E1E-8F07-527631E299D2}" srcOrd="0" destOrd="0" presId="urn:microsoft.com/office/officeart/2016/7/layout/RepeatingBendingProcessNew"/>
    <dgm:cxn modelId="{4CC2F3CF-DC45-417C-995F-AB7C1553085D}" type="presOf" srcId="{CA051B9B-FB84-4894-BEF2-4F5963B19FB8}" destId="{4965302C-F64C-419B-A5C2-87D090C2FF40}" srcOrd="0" destOrd="0" presId="urn:microsoft.com/office/officeart/2016/7/layout/RepeatingBendingProcessNew"/>
    <dgm:cxn modelId="{854146D4-ED69-498C-A39E-EC8D2B013878}" type="presOf" srcId="{1551B09D-CD48-4BAF-AF6B-60087ACB0E38}" destId="{A7E3BF7C-0868-463B-9068-D10E07F6795C}" srcOrd="0" destOrd="0" presId="urn:microsoft.com/office/officeart/2016/7/layout/RepeatingBendingProcessNew"/>
    <dgm:cxn modelId="{C4105BD6-6826-4E73-B958-E9AAA6B1E529}" type="presOf" srcId="{AEFC18DA-1736-4696-AB60-A299DD74C777}" destId="{4C9B7005-4ED6-4E52-8682-CACC839C7594}" srcOrd="0" destOrd="0" presId="urn:microsoft.com/office/officeart/2016/7/layout/RepeatingBendingProcessNew"/>
    <dgm:cxn modelId="{12ED1EFB-E138-4F9B-AC97-B5A96D7770FA}" type="presOf" srcId="{1846FA9B-3651-4D51-B90C-383EA633CDAE}" destId="{20E44464-5AED-4D5B-AC56-6DE598599B9C}" srcOrd="0" destOrd="0" presId="urn:microsoft.com/office/officeart/2016/7/layout/RepeatingBendingProcessNew"/>
    <dgm:cxn modelId="{6A6A9F8A-70C2-40BE-8097-157943AABA02}" type="presParOf" srcId="{2AB4BBC8-B315-493B-BD28-0540CAF0B979}" destId="{7B109977-9CD2-44F5-9089-12954FD8248B}" srcOrd="0" destOrd="0" presId="urn:microsoft.com/office/officeart/2016/7/layout/RepeatingBendingProcessNew"/>
    <dgm:cxn modelId="{C91255E6-61F7-4BC5-9A30-020D03911957}" type="presParOf" srcId="{2AB4BBC8-B315-493B-BD28-0540CAF0B979}" destId="{A7E3BF7C-0868-463B-9068-D10E07F6795C}" srcOrd="1" destOrd="0" presId="urn:microsoft.com/office/officeart/2016/7/layout/RepeatingBendingProcessNew"/>
    <dgm:cxn modelId="{D446F1E7-9BAE-49FE-A3FC-FF3CF3CC6995}" type="presParOf" srcId="{A7E3BF7C-0868-463B-9068-D10E07F6795C}" destId="{27F7CDC7-201C-4000-A2E4-13DD422EC87E}" srcOrd="0" destOrd="0" presId="urn:microsoft.com/office/officeart/2016/7/layout/RepeatingBendingProcessNew"/>
    <dgm:cxn modelId="{14AB4A0A-5C72-4933-8F4F-5A36829E4543}" type="presParOf" srcId="{2AB4BBC8-B315-493B-BD28-0540CAF0B979}" destId="{FA6CF533-930A-4569-ADC7-4CF667FEA7B1}" srcOrd="2" destOrd="0" presId="urn:microsoft.com/office/officeart/2016/7/layout/RepeatingBendingProcessNew"/>
    <dgm:cxn modelId="{E91D92E8-F43E-4AFB-A7B6-1C97CBD117D2}" type="presParOf" srcId="{2AB4BBC8-B315-493B-BD28-0540CAF0B979}" destId="{4C9B7005-4ED6-4E52-8682-CACC839C7594}" srcOrd="3" destOrd="0" presId="urn:microsoft.com/office/officeart/2016/7/layout/RepeatingBendingProcessNew"/>
    <dgm:cxn modelId="{CB4B404A-829F-48E1-AF1C-E6661FD0E8BE}" type="presParOf" srcId="{4C9B7005-4ED6-4E52-8682-CACC839C7594}" destId="{EDD18308-E767-4347-8120-1D911CD524AB}" srcOrd="0" destOrd="0" presId="urn:microsoft.com/office/officeart/2016/7/layout/RepeatingBendingProcessNew"/>
    <dgm:cxn modelId="{719076DC-C85B-4CA3-9175-DE169E42414D}" type="presParOf" srcId="{2AB4BBC8-B315-493B-BD28-0540CAF0B979}" destId="{20E44464-5AED-4D5B-AC56-6DE598599B9C}" srcOrd="4" destOrd="0" presId="urn:microsoft.com/office/officeart/2016/7/layout/RepeatingBendingProcessNew"/>
    <dgm:cxn modelId="{6AF6A037-E439-4A96-A954-32A683416CA2}" type="presParOf" srcId="{2AB4BBC8-B315-493B-BD28-0540CAF0B979}" destId="{D27FCC79-6DD5-44AB-B33D-C225F937E023}" srcOrd="5" destOrd="0" presId="urn:microsoft.com/office/officeart/2016/7/layout/RepeatingBendingProcessNew"/>
    <dgm:cxn modelId="{C748D786-93F8-47C3-AEFC-D127FDF5C4E6}" type="presParOf" srcId="{D27FCC79-6DD5-44AB-B33D-C225F937E023}" destId="{04475AD6-1709-41E9-8456-57485E3DDFAA}" srcOrd="0" destOrd="0" presId="urn:microsoft.com/office/officeart/2016/7/layout/RepeatingBendingProcessNew"/>
    <dgm:cxn modelId="{0E854AF5-135A-4E9F-B110-E798DA5F44B0}" type="presParOf" srcId="{2AB4BBC8-B315-493B-BD28-0540CAF0B979}" destId="{5EB36543-B820-487C-80B9-239F7F601AC7}" srcOrd="6" destOrd="0" presId="urn:microsoft.com/office/officeart/2016/7/layout/RepeatingBendingProcessNew"/>
    <dgm:cxn modelId="{0A171475-4A5A-4ACF-82B9-B7AF568D7685}" type="presParOf" srcId="{2AB4BBC8-B315-493B-BD28-0540CAF0B979}" destId="{E2835BC2-7C7F-4E1E-8F07-527631E299D2}" srcOrd="7" destOrd="0" presId="urn:microsoft.com/office/officeart/2016/7/layout/RepeatingBendingProcessNew"/>
    <dgm:cxn modelId="{593C7228-D4F2-41B5-A3F9-A91EFB90D1F9}" type="presParOf" srcId="{E2835BC2-7C7F-4E1E-8F07-527631E299D2}" destId="{A7177479-B9C5-4CE9-A74B-72C24820BF3F}" srcOrd="0" destOrd="0" presId="urn:microsoft.com/office/officeart/2016/7/layout/RepeatingBendingProcessNew"/>
    <dgm:cxn modelId="{059F80A5-5AD3-44C5-9324-2636A7923C28}" type="presParOf" srcId="{2AB4BBC8-B315-493B-BD28-0540CAF0B979}" destId="{7FD58CE5-D9A0-4563-A844-2A40C460F3F0}" srcOrd="8" destOrd="0" presId="urn:microsoft.com/office/officeart/2016/7/layout/RepeatingBendingProcessNew"/>
    <dgm:cxn modelId="{75F907D3-CB55-4BF4-8188-D4E6BF23B7F7}" type="presParOf" srcId="{2AB4BBC8-B315-493B-BD28-0540CAF0B979}" destId="{4965302C-F64C-419B-A5C2-87D090C2FF40}" srcOrd="9" destOrd="0" presId="urn:microsoft.com/office/officeart/2016/7/layout/RepeatingBendingProcessNew"/>
    <dgm:cxn modelId="{BD848301-B387-4978-8E05-EE5471DB7542}" type="presParOf" srcId="{4965302C-F64C-419B-A5C2-87D090C2FF40}" destId="{8D573884-8B9F-41AF-B255-3241B83BF32A}" srcOrd="0" destOrd="0" presId="urn:microsoft.com/office/officeart/2016/7/layout/RepeatingBendingProcessNew"/>
    <dgm:cxn modelId="{E75A9D00-C7A7-4827-84FA-351DF5C86585}" type="presParOf" srcId="{2AB4BBC8-B315-493B-BD28-0540CAF0B979}" destId="{0981F2E4-D238-4A27-B037-3E5DBAE2536F}"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7BE6A-BD82-4182-8E35-5ECC2B3F03B9}">
      <dsp:nvSpPr>
        <dsp:cNvPr id="0" name=""/>
        <dsp:cNvSpPr/>
      </dsp:nvSpPr>
      <dsp:spPr>
        <a:xfrm>
          <a:off x="4163" y="1485922"/>
          <a:ext cx="1820257" cy="10921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Audience</a:t>
          </a:r>
          <a:endParaRPr lang="en-CA" sz="1400" b="1" kern="1200" dirty="0"/>
        </a:p>
      </dsp:txBody>
      <dsp:txXfrm>
        <a:off x="36151" y="1517910"/>
        <a:ext cx="1756281" cy="1028178"/>
      </dsp:txXfrm>
    </dsp:sp>
    <dsp:sp modelId="{BDDC1B78-9B41-4107-87FA-222FB3E5E019}">
      <dsp:nvSpPr>
        <dsp:cNvPr id="0" name=""/>
        <dsp:cNvSpPr/>
      </dsp:nvSpPr>
      <dsp:spPr>
        <a:xfrm>
          <a:off x="2006447" y="1806288"/>
          <a:ext cx="385894" cy="4514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CA" sz="1900" kern="1200"/>
        </a:p>
      </dsp:txBody>
      <dsp:txXfrm>
        <a:off x="2006447" y="1896573"/>
        <a:ext cx="270126" cy="270853"/>
      </dsp:txXfrm>
    </dsp:sp>
    <dsp:sp modelId="{690470AE-64FC-412A-BDFD-C74673B92880}">
      <dsp:nvSpPr>
        <dsp:cNvPr id="0" name=""/>
        <dsp:cNvSpPr/>
      </dsp:nvSpPr>
      <dsp:spPr>
        <a:xfrm>
          <a:off x="2552524" y="1485922"/>
          <a:ext cx="1820257" cy="10921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Message</a:t>
          </a:r>
          <a:endParaRPr lang="en-CA" sz="1400" b="1" kern="1200" dirty="0"/>
        </a:p>
      </dsp:txBody>
      <dsp:txXfrm>
        <a:off x="2584512" y="1517910"/>
        <a:ext cx="1756281" cy="1028178"/>
      </dsp:txXfrm>
    </dsp:sp>
    <dsp:sp modelId="{F398D8A7-1759-4215-8F16-EEC2C2538C1E}">
      <dsp:nvSpPr>
        <dsp:cNvPr id="0" name=""/>
        <dsp:cNvSpPr/>
      </dsp:nvSpPr>
      <dsp:spPr>
        <a:xfrm>
          <a:off x="4554808" y="1806288"/>
          <a:ext cx="385894" cy="4514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CA" sz="1900" kern="1200"/>
        </a:p>
      </dsp:txBody>
      <dsp:txXfrm>
        <a:off x="4554808" y="1896573"/>
        <a:ext cx="270126" cy="270853"/>
      </dsp:txXfrm>
    </dsp:sp>
    <dsp:sp modelId="{8BF4DD6C-DEA8-459B-B8DF-CDD8F2647F0E}">
      <dsp:nvSpPr>
        <dsp:cNvPr id="0" name=""/>
        <dsp:cNvSpPr/>
      </dsp:nvSpPr>
      <dsp:spPr>
        <a:xfrm>
          <a:off x="5100885" y="1485922"/>
          <a:ext cx="1820257" cy="10921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t>Design Decisions</a:t>
          </a:r>
        </a:p>
      </dsp:txBody>
      <dsp:txXfrm>
        <a:off x="5132873" y="1517910"/>
        <a:ext cx="1756281" cy="1028178"/>
      </dsp:txXfrm>
    </dsp:sp>
    <dsp:sp modelId="{F27E565F-4A95-4E94-B574-0EEF2DBCE2AF}">
      <dsp:nvSpPr>
        <dsp:cNvPr id="0" name=""/>
        <dsp:cNvSpPr/>
      </dsp:nvSpPr>
      <dsp:spPr>
        <a:xfrm>
          <a:off x="7103169" y="1806288"/>
          <a:ext cx="385894" cy="45142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CA" sz="1900" kern="1200"/>
        </a:p>
      </dsp:txBody>
      <dsp:txXfrm>
        <a:off x="7103169" y="1896573"/>
        <a:ext cx="270126" cy="270853"/>
      </dsp:txXfrm>
    </dsp:sp>
    <dsp:sp modelId="{9BC26670-7CA6-4525-AC99-ABD5577C5353}">
      <dsp:nvSpPr>
        <dsp:cNvPr id="0" name=""/>
        <dsp:cNvSpPr/>
      </dsp:nvSpPr>
      <dsp:spPr>
        <a:xfrm>
          <a:off x="7649246" y="1485922"/>
          <a:ext cx="1820257" cy="10921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CA" sz="1600" b="1" kern="1200" dirty="0">
              <a:solidFill>
                <a:schemeClr val="bg1"/>
              </a:solidFill>
            </a:rPr>
            <a:t>Communication</a:t>
          </a:r>
          <a:endParaRPr lang="en-CA" sz="1400" b="1" kern="1200" dirty="0">
            <a:solidFill>
              <a:schemeClr val="bg1"/>
            </a:solidFill>
          </a:endParaRPr>
        </a:p>
      </dsp:txBody>
      <dsp:txXfrm>
        <a:off x="7681234" y="1517910"/>
        <a:ext cx="1756281" cy="10281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E3BF7C-0868-463B-9068-D10E07F6795C}">
      <dsp:nvSpPr>
        <dsp:cNvPr id="0" name=""/>
        <dsp:cNvSpPr/>
      </dsp:nvSpPr>
      <dsp:spPr>
        <a:xfrm>
          <a:off x="2346287" y="747436"/>
          <a:ext cx="508029" cy="91440"/>
        </a:xfrm>
        <a:custGeom>
          <a:avLst/>
          <a:gdLst/>
          <a:ahLst/>
          <a:cxnLst/>
          <a:rect l="0" t="0" r="0" b="0"/>
          <a:pathLst>
            <a:path>
              <a:moveTo>
                <a:pt x="0" y="45720"/>
              </a:moveTo>
              <a:lnTo>
                <a:pt x="508029"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2586836" y="790463"/>
        <a:ext cx="26931" cy="5386"/>
      </dsp:txXfrm>
    </dsp:sp>
    <dsp:sp modelId="{7B109977-9CD2-44F5-9089-12954FD8248B}">
      <dsp:nvSpPr>
        <dsp:cNvPr id="0" name=""/>
        <dsp:cNvSpPr/>
      </dsp:nvSpPr>
      <dsp:spPr>
        <a:xfrm>
          <a:off x="6221" y="90596"/>
          <a:ext cx="2341866" cy="1405119"/>
        </a:xfrm>
        <a:prstGeom prst="rect">
          <a:avLst/>
        </a:prstGeom>
        <a:gradFill rotWithShape="0">
          <a:gsLst>
            <a:gs pos="0">
              <a:schemeClr val="accent2">
                <a:hueOff val="0"/>
                <a:satOff val="0"/>
                <a:lumOff val="0"/>
                <a:alphaOff val="0"/>
                <a:tint val="96000"/>
                <a:satMod val="100000"/>
                <a:lumMod val="104000"/>
              </a:schemeClr>
            </a:gs>
            <a:gs pos="78000">
              <a:schemeClr val="accent2">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Contrast creates attention</a:t>
          </a:r>
        </a:p>
      </dsp:txBody>
      <dsp:txXfrm>
        <a:off x="6221" y="90596"/>
        <a:ext cx="2341866" cy="1405119"/>
      </dsp:txXfrm>
    </dsp:sp>
    <dsp:sp modelId="{4C9B7005-4ED6-4E52-8682-CACC839C7594}">
      <dsp:nvSpPr>
        <dsp:cNvPr id="0" name=""/>
        <dsp:cNvSpPr/>
      </dsp:nvSpPr>
      <dsp:spPr>
        <a:xfrm>
          <a:off x="5226783" y="747436"/>
          <a:ext cx="508029" cy="91440"/>
        </a:xfrm>
        <a:custGeom>
          <a:avLst/>
          <a:gdLst/>
          <a:ahLst/>
          <a:cxnLst/>
          <a:rect l="0" t="0" r="0" b="0"/>
          <a:pathLst>
            <a:path>
              <a:moveTo>
                <a:pt x="0" y="45720"/>
              </a:moveTo>
              <a:lnTo>
                <a:pt x="508029" y="45720"/>
              </a:lnTo>
            </a:path>
          </a:pathLst>
        </a:custGeom>
        <a:noFill/>
        <a:ln w="9525" cap="flat" cmpd="sng" algn="ctr">
          <a:solidFill>
            <a:schemeClr val="accent2">
              <a:hueOff val="254917"/>
              <a:satOff val="-664"/>
              <a:lumOff val="156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5467332" y="790463"/>
        <a:ext cx="26931" cy="5386"/>
      </dsp:txXfrm>
    </dsp:sp>
    <dsp:sp modelId="{FA6CF533-930A-4569-ADC7-4CF667FEA7B1}">
      <dsp:nvSpPr>
        <dsp:cNvPr id="0" name=""/>
        <dsp:cNvSpPr/>
      </dsp:nvSpPr>
      <dsp:spPr>
        <a:xfrm>
          <a:off x="2886716" y="90596"/>
          <a:ext cx="2341866" cy="1405119"/>
        </a:xfrm>
        <a:prstGeom prst="rect">
          <a:avLst/>
        </a:prstGeom>
        <a:gradFill rotWithShape="0">
          <a:gsLst>
            <a:gs pos="0">
              <a:schemeClr val="accent2">
                <a:hueOff val="203934"/>
                <a:satOff val="-532"/>
                <a:lumOff val="1255"/>
                <a:alphaOff val="0"/>
                <a:tint val="96000"/>
                <a:satMod val="100000"/>
                <a:lumMod val="104000"/>
              </a:schemeClr>
            </a:gs>
            <a:gs pos="78000">
              <a:schemeClr val="accent2">
                <a:hueOff val="203934"/>
                <a:satOff val="-532"/>
                <a:lumOff val="1255"/>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Space creates emphasis</a:t>
          </a:r>
        </a:p>
      </dsp:txBody>
      <dsp:txXfrm>
        <a:off x="2886716" y="90596"/>
        <a:ext cx="2341866" cy="1405119"/>
      </dsp:txXfrm>
    </dsp:sp>
    <dsp:sp modelId="{D27FCC79-6DD5-44AB-B33D-C225F937E023}">
      <dsp:nvSpPr>
        <dsp:cNvPr id="0" name=""/>
        <dsp:cNvSpPr/>
      </dsp:nvSpPr>
      <dsp:spPr>
        <a:xfrm>
          <a:off x="1177154" y="1493916"/>
          <a:ext cx="5760991" cy="508029"/>
        </a:xfrm>
        <a:custGeom>
          <a:avLst/>
          <a:gdLst/>
          <a:ahLst/>
          <a:cxnLst/>
          <a:rect l="0" t="0" r="0" b="0"/>
          <a:pathLst>
            <a:path>
              <a:moveTo>
                <a:pt x="5760991" y="0"/>
              </a:moveTo>
              <a:lnTo>
                <a:pt x="5760991" y="271114"/>
              </a:lnTo>
              <a:lnTo>
                <a:pt x="0" y="271114"/>
              </a:lnTo>
              <a:lnTo>
                <a:pt x="0" y="508029"/>
              </a:lnTo>
            </a:path>
          </a:pathLst>
        </a:custGeom>
        <a:noFill/>
        <a:ln w="9525" cap="flat" cmpd="sng" algn="ctr">
          <a:solidFill>
            <a:schemeClr val="accent2">
              <a:hueOff val="509834"/>
              <a:satOff val="-1329"/>
              <a:lumOff val="313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3912997" y="1745237"/>
        <a:ext cx="289305" cy="5386"/>
      </dsp:txXfrm>
    </dsp:sp>
    <dsp:sp modelId="{20E44464-5AED-4D5B-AC56-6DE598599B9C}">
      <dsp:nvSpPr>
        <dsp:cNvPr id="0" name=""/>
        <dsp:cNvSpPr/>
      </dsp:nvSpPr>
      <dsp:spPr>
        <a:xfrm>
          <a:off x="5767212" y="90596"/>
          <a:ext cx="2341866" cy="1405119"/>
        </a:xfrm>
        <a:prstGeom prst="rect">
          <a:avLst/>
        </a:prstGeom>
        <a:gradFill rotWithShape="0">
          <a:gsLst>
            <a:gs pos="0">
              <a:schemeClr val="accent2">
                <a:hueOff val="407867"/>
                <a:satOff val="-1063"/>
                <a:lumOff val="2510"/>
                <a:alphaOff val="0"/>
                <a:tint val="96000"/>
                <a:satMod val="100000"/>
                <a:lumMod val="104000"/>
              </a:schemeClr>
            </a:gs>
            <a:gs pos="78000">
              <a:schemeClr val="accent2">
                <a:hueOff val="407867"/>
                <a:satOff val="-1063"/>
                <a:lumOff val="251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Alignment creates order</a:t>
          </a:r>
        </a:p>
      </dsp:txBody>
      <dsp:txXfrm>
        <a:off x="5767212" y="90596"/>
        <a:ext cx="2341866" cy="1405119"/>
      </dsp:txXfrm>
    </dsp:sp>
    <dsp:sp modelId="{E2835BC2-7C7F-4E1E-8F07-527631E299D2}">
      <dsp:nvSpPr>
        <dsp:cNvPr id="0" name=""/>
        <dsp:cNvSpPr/>
      </dsp:nvSpPr>
      <dsp:spPr>
        <a:xfrm>
          <a:off x="2346287" y="2691185"/>
          <a:ext cx="508029" cy="91440"/>
        </a:xfrm>
        <a:custGeom>
          <a:avLst/>
          <a:gdLst/>
          <a:ahLst/>
          <a:cxnLst/>
          <a:rect l="0" t="0" r="0" b="0"/>
          <a:pathLst>
            <a:path>
              <a:moveTo>
                <a:pt x="0" y="45720"/>
              </a:moveTo>
              <a:lnTo>
                <a:pt x="508029" y="45720"/>
              </a:lnTo>
            </a:path>
          </a:pathLst>
        </a:custGeom>
        <a:noFill/>
        <a:ln w="9525" cap="flat" cmpd="sng" algn="ctr">
          <a:solidFill>
            <a:schemeClr val="accent2">
              <a:hueOff val="764751"/>
              <a:satOff val="-1993"/>
              <a:lumOff val="470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2586836" y="2734212"/>
        <a:ext cx="26931" cy="5386"/>
      </dsp:txXfrm>
    </dsp:sp>
    <dsp:sp modelId="{5EB36543-B820-487C-80B9-239F7F601AC7}">
      <dsp:nvSpPr>
        <dsp:cNvPr id="0" name=""/>
        <dsp:cNvSpPr/>
      </dsp:nvSpPr>
      <dsp:spPr>
        <a:xfrm>
          <a:off x="6221" y="2034345"/>
          <a:ext cx="2341866" cy="1405119"/>
        </a:xfrm>
        <a:prstGeom prst="rect">
          <a:avLst/>
        </a:prstGeom>
        <a:gradFill rotWithShape="0">
          <a:gsLst>
            <a:gs pos="0">
              <a:schemeClr val="accent2">
                <a:hueOff val="611801"/>
                <a:satOff val="-1595"/>
                <a:lumOff val="3764"/>
                <a:alphaOff val="0"/>
                <a:tint val="96000"/>
                <a:satMod val="100000"/>
                <a:lumMod val="104000"/>
              </a:schemeClr>
            </a:gs>
            <a:gs pos="78000">
              <a:schemeClr val="accent2">
                <a:hueOff val="611801"/>
                <a:satOff val="-1595"/>
                <a:lumOff val="3764"/>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Proximity creates relationships</a:t>
          </a:r>
        </a:p>
      </dsp:txBody>
      <dsp:txXfrm>
        <a:off x="6221" y="2034345"/>
        <a:ext cx="2341866" cy="1405119"/>
      </dsp:txXfrm>
    </dsp:sp>
    <dsp:sp modelId="{4965302C-F64C-419B-A5C2-87D090C2FF40}">
      <dsp:nvSpPr>
        <dsp:cNvPr id="0" name=""/>
        <dsp:cNvSpPr/>
      </dsp:nvSpPr>
      <dsp:spPr>
        <a:xfrm>
          <a:off x="5226783" y="2691185"/>
          <a:ext cx="508029" cy="91440"/>
        </a:xfrm>
        <a:custGeom>
          <a:avLst/>
          <a:gdLst/>
          <a:ahLst/>
          <a:cxnLst/>
          <a:rect l="0" t="0" r="0" b="0"/>
          <a:pathLst>
            <a:path>
              <a:moveTo>
                <a:pt x="0" y="45720"/>
              </a:moveTo>
              <a:lnTo>
                <a:pt x="508029" y="45720"/>
              </a:lnTo>
            </a:path>
          </a:pathLst>
        </a:custGeom>
        <a:noFill/>
        <a:ln w="9525" cap="flat" cmpd="sng" algn="ctr">
          <a:solidFill>
            <a:schemeClr val="accent2">
              <a:hueOff val="1019668"/>
              <a:satOff val="-2658"/>
              <a:lumOff val="627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5467332" y="2734212"/>
        <a:ext cx="26931" cy="5386"/>
      </dsp:txXfrm>
    </dsp:sp>
    <dsp:sp modelId="{7FD58CE5-D9A0-4563-A844-2A40C460F3F0}">
      <dsp:nvSpPr>
        <dsp:cNvPr id="0" name=""/>
        <dsp:cNvSpPr/>
      </dsp:nvSpPr>
      <dsp:spPr>
        <a:xfrm>
          <a:off x="2886716" y="2034345"/>
          <a:ext cx="2341866" cy="1405119"/>
        </a:xfrm>
        <a:prstGeom prst="rect">
          <a:avLst/>
        </a:prstGeom>
        <a:gradFill rotWithShape="0">
          <a:gsLst>
            <a:gs pos="0">
              <a:schemeClr val="accent2">
                <a:hueOff val="815734"/>
                <a:satOff val="-2126"/>
                <a:lumOff val="5019"/>
                <a:alphaOff val="0"/>
                <a:tint val="96000"/>
                <a:satMod val="100000"/>
                <a:lumMod val="104000"/>
              </a:schemeClr>
            </a:gs>
            <a:gs pos="78000">
              <a:schemeClr val="accent2">
                <a:hueOff val="815734"/>
                <a:satOff val="-2126"/>
                <a:lumOff val="5019"/>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Repetition creates unity</a:t>
          </a:r>
        </a:p>
      </dsp:txBody>
      <dsp:txXfrm>
        <a:off x="2886716" y="2034345"/>
        <a:ext cx="2341866" cy="1405119"/>
      </dsp:txXfrm>
    </dsp:sp>
    <dsp:sp modelId="{0981F2E4-D238-4A27-B037-3E5DBAE2536F}">
      <dsp:nvSpPr>
        <dsp:cNvPr id="0" name=""/>
        <dsp:cNvSpPr/>
      </dsp:nvSpPr>
      <dsp:spPr>
        <a:xfrm>
          <a:off x="5767212" y="2034345"/>
          <a:ext cx="2341866" cy="1405119"/>
        </a:xfrm>
        <a:prstGeom prst="rect">
          <a:avLst/>
        </a:prstGeom>
        <a:gradFill rotWithShape="0">
          <a:gsLst>
            <a:gs pos="0">
              <a:schemeClr val="accent2">
                <a:hueOff val="1019668"/>
                <a:satOff val="-2658"/>
                <a:lumOff val="6274"/>
                <a:alphaOff val="0"/>
                <a:tint val="96000"/>
                <a:satMod val="100000"/>
                <a:lumMod val="104000"/>
              </a:schemeClr>
            </a:gs>
            <a:gs pos="78000">
              <a:schemeClr val="accent2">
                <a:hueOff val="1019668"/>
                <a:satOff val="-2658"/>
                <a:lumOff val="6274"/>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114753" tIns="120454" rIns="114753" bIns="120454" numCol="1" spcCol="1270" anchor="ctr" anchorCtr="0">
          <a:noAutofit/>
        </a:bodyPr>
        <a:lstStyle/>
        <a:p>
          <a:pPr marL="0" lvl="0" indent="0" algn="ctr" defTabSz="1200150">
            <a:lnSpc>
              <a:spcPct val="90000"/>
            </a:lnSpc>
            <a:spcBef>
              <a:spcPct val="0"/>
            </a:spcBef>
            <a:spcAft>
              <a:spcPct val="35000"/>
            </a:spcAft>
            <a:buNone/>
          </a:pPr>
          <a:r>
            <a:rPr lang="en-CA" sz="2700" kern="1200" dirty="0"/>
            <a:t>Balance creates stability</a:t>
          </a:r>
        </a:p>
      </dsp:txBody>
      <dsp:txXfrm>
        <a:off x="5767212" y="2034345"/>
        <a:ext cx="2341866" cy="140511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8">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CA"/>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5783EF2C-E6A8-42B5-B620-855103940B7C}" type="datetimeFigureOut">
              <a:rPr lang="en-CA" smtClean="0"/>
              <a:t>2026-10-20</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CA"/>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CA"/>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CFB8EF9-6D19-448F-99D4-5CD4D500528E}" type="slidenum">
              <a:rPr lang="en-CA" smtClean="0"/>
              <a:t>‹#›</a:t>
            </a:fld>
            <a:endParaRPr lang="en-CA"/>
          </a:p>
        </p:txBody>
      </p:sp>
    </p:spTree>
    <p:extLst>
      <p:ext uri="{BB962C8B-B14F-4D97-AF65-F5344CB8AC3E}">
        <p14:creationId xmlns:p14="http://schemas.microsoft.com/office/powerpoint/2010/main" val="378580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tenor.com/view/pingu-baking-cooking-bake-baker-gif-16924732"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fabrikbrands.com/branding-matters/logofile/the-best-and-worst-olympic-logos-from-1896-to-toda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fabrikbrands.com/branding-matters/logofile/the-best-and-worst-olympic-logos-from-1896-to-today/"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behance.net/gallery/243368997/Zesto-Food-Delivery-Brand-Campaign?utm_source=chatgpt.com"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57350" y="196850"/>
            <a:ext cx="3276600" cy="2457450"/>
          </a:xfrm>
        </p:spPr>
      </p:sp>
      <p:sp>
        <p:nvSpPr>
          <p:cNvPr id="3" name="Notes Placeholder 2"/>
          <p:cNvSpPr>
            <a:spLocks noGrp="1"/>
          </p:cNvSpPr>
          <p:nvPr>
            <p:ph type="body" idx="1"/>
          </p:nvPr>
        </p:nvSpPr>
        <p:spPr/>
        <p:txBody>
          <a:bodyPr/>
          <a:lstStyle/>
          <a:p>
            <a:r>
              <a:rPr lang="en-CA" b="1" dirty="0"/>
              <a:t>How do all of these pieces work together when a designer creates something?</a:t>
            </a:r>
            <a:endParaRPr lang="en-CA" dirty="0"/>
          </a:p>
          <a:p>
            <a:endParaRPr lang="en-CA" dirty="0"/>
          </a:p>
          <a:p>
            <a:r>
              <a:rPr lang="en-CA" dirty="0"/>
              <a:t>Right now, many of you still see the Elements of Design and the Principles of Desing as separate lessons rather than a connected system.</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a:t>
            </a:fld>
            <a:endParaRPr lang="en-CA"/>
          </a:p>
        </p:txBody>
      </p:sp>
    </p:spTree>
    <p:extLst>
      <p:ext uri="{BB962C8B-B14F-4D97-AF65-F5344CB8AC3E}">
        <p14:creationId xmlns:p14="http://schemas.microsoft.com/office/powerpoint/2010/main" val="4089679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learned the </a:t>
            </a:r>
            <a:r>
              <a:rPr lang="en-US" i="1" dirty="0"/>
              <a:t>ingredients</a:t>
            </a:r>
            <a:r>
              <a:rPr lang="en-US" dirty="0"/>
              <a:t> (elements) and the </a:t>
            </a:r>
            <a:r>
              <a:rPr lang="en-US" i="1" dirty="0"/>
              <a:t>recipes</a:t>
            </a:r>
            <a:r>
              <a:rPr lang="en-US" dirty="0"/>
              <a:t> (principles). Today, we’ll see how real designers use both together.</a:t>
            </a:r>
          </a:p>
          <a:p>
            <a:endParaRPr lang="en-US" dirty="0"/>
          </a:p>
          <a:p>
            <a:r>
              <a:rPr lang="en-US" dirty="0"/>
              <a:t>The difference between an amateur design and a professional one isn’t the elements—they’re the same—it’s how intentionally the principles guide them.</a:t>
            </a:r>
          </a:p>
          <a:p>
            <a:endParaRPr lang="en-US" dirty="0"/>
          </a:p>
          <a:p>
            <a:r>
              <a:rPr lang="en-US" dirty="0"/>
              <a:t>By the end, you’ll be able to analyze an ad and name which elements and principles are driving it.</a:t>
            </a:r>
            <a:br>
              <a:rPr lang="en-US" dirty="0"/>
            </a:br>
            <a:endParaRPr lang="en-US" dirty="0"/>
          </a:p>
          <a:p>
            <a:r>
              <a:rPr lang="en-CA" dirty="0"/>
              <a:t>GIF From</a:t>
            </a:r>
          </a:p>
          <a:p>
            <a:r>
              <a:rPr lang="en-US" dirty="0">
                <a:hlinkClick r:id="rId3"/>
              </a:rPr>
              <a:t>Pingu Baking GIF - Pingu Baking Cooking - Discover &amp; Share GIFs</a:t>
            </a:r>
            <a:endParaRPr lang="en-US" dirty="0"/>
          </a:p>
          <a:p>
            <a:r>
              <a:rPr lang="en-CA" dirty="0"/>
              <a:t>https://tenor.com/view/pingu-baking-cooking-bake-baker-gif-16924732</a:t>
            </a:r>
          </a:p>
        </p:txBody>
      </p:sp>
      <p:sp>
        <p:nvSpPr>
          <p:cNvPr id="4" name="Slide Number Placeholder 3"/>
          <p:cNvSpPr>
            <a:spLocks noGrp="1"/>
          </p:cNvSpPr>
          <p:nvPr>
            <p:ph type="sldNum" sz="quarter" idx="5"/>
          </p:nvPr>
        </p:nvSpPr>
        <p:spPr/>
        <p:txBody>
          <a:bodyPr/>
          <a:lstStyle/>
          <a:p>
            <a:fld id="{FCFB8EF9-6D19-448F-99D4-5CD4D500528E}" type="slidenum">
              <a:rPr lang="en-CA" smtClean="0"/>
              <a:t>2</a:t>
            </a:fld>
            <a:endParaRPr lang="en-CA"/>
          </a:p>
        </p:txBody>
      </p:sp>
    </p:spTree>
    <p:extLst>
      <p:ext uri="{BB962C8B-B14F-4D97-AF65-F5344CB8AC3E}">
        <p14:creationId xmlns:p14="http://schemas.microsoft.com/office/powerpoint/2010/main" val="3855308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57350" y="196850"/>
            <a:ext cx="3276600" cy="2457450"/>
          </a:xfrm>
        </p:spPr>
      </p:sp>
      <p:sp>
        <p:nvSpPr>
          <p:cNvPr id="3" name="Notes Placeholder 2"/>
          <p:cNvSpPr>
            <a:spLocks noGrp="1"/>
          </p:cNvSpPr>
          <p:nvPr>
            <p:ph type="body" idx="1"/>
          </p:nvPr>
        </p:nvSpPr>
        <p:spPr/>
        <p:txBody>
          <a:bodyPr/>
          <a:lstStyle/>
          <a:p>
            <a:r>
              <a:rPr lang="en-US" dirty="0"/>
              <a:t>To this point, we have studied both the Elements and Principles of Design.</a:t>
            </a:r>
          </a:p>
          <a:p>
            <a:endParaRPr lang="en-US" dirty="0"/>
          </a:p>
          <a:p>
            <a:r>
              <a:rPr lang="en-US" dirty="0"/>
              <a:t>It can be tempting to think of these as separate topics, but professional designers rarely think about them individually.</a:t>
            </a:r>
          </a:p>
          <a:p>
            <a:endParaRPr lang="en-US" dirty="0"/>
          </a:p>
          <a:p>
            <a:r>
              <a:rPr lang="en-US" dirty="0"/>
              <a:t>The Elements of Design are the building blocks.</a:t>
            </a:r>
          </a:p>
          <a:p>
            <a:endParaRPr lang="en-US" dirty="0"/>
          </a:p>
          <a:p>
            <a:r>
              <a:rPr lang="en-US" dirty="0"/>
              <a:t>The Principles of Design are the ways we organize those building blocks.</a:t>
            </a:r>
          </a:p>
          <a:p>
            <a:endParaRPr lang="en-US" dirty="0"/>
          </a:p>
          <a:p>
            <a:r>
              <a:rPr lang="en-US" dirty="0"/>
              <a:t>Think of it this way:</a:t>
            </a:r>
          </a:p>
          <a:p>
            <a:pPr marL="174708" indent="-174708">
              <a:buFont typeface="Arial" panose="020B0604020202020204" pitchFamily="34" charset="0"/>
              <a:buChar char="•"/>
            </a:pPr>
            <a:r>
              <a:rPr lang="en-US" dirty="0"/>
              <a:t>The Elements are your ingredients.</a:t>
            </a:r>
          </a:p>
          <a:p>
            <a:pPr marL="174708" indent="-174708">
              <a:buFont typeface="Arial" panose="020B0604020202020204" pitchFamily="34" charset="0"/>
              <a:buChar char="•"/>
            </a:pPr>
            <a:r>
              <a:rPr lang="en-US" dirty="0"/>
              <a:t>The Principles are your recipe.</a:t>
            </a:r>
          </a:p>
          <a:p>
            <a:endParaRPr lang="en-US" dirty="0"/>
          </a:p>
          <a:p>
            <a:r>
              <a:rPr lang="en-US" dirty="0"/>
              <a:t>Neither can work effectively without the other.</a:t>
            </a:r>
          </a:p>
          <a:p>
            <a:endParaRPr lang="en-US" dirty="0"/>
          </a:p>
          <a:p>
            <a:r>
              <a:rPr lang="en-US" dirty="0"/>
              <a:t>For example:</a:t>
            </a:r>
          </a:p>
          <a:p>
            <a:pPr marL="174708" indent="-174708">
              <a:buFont typeface="Arial" panose="020B0604020202020204" pitchFamily="34" charset="0"/>
              <a:buChar char="•"/>
            </a:pPr>
            <a:r>
              <a:rPr lang="en-US" dirty="0"/>
              <a:t>Colour can create contrast.</a:t>
            </a:r>
          </a:p>
          <a:p>
            <a:pPr marL="174708" indent="-174708">
              <a:buFont typeface="Arial" panose="020B0604020202020204" pitchFamily="34" charset="0"/>
              <a:buChar char="•"/>
            </a:pPr>
            <a:r>
              <a:rPr lang="en-US" dirty="0"/>
              <a:t>Size can create hierarchy.</a:t>
            </a:r>
          </a:p>
          <a:p>
            <a:pPr marL="174708" indent="-174708">
              <a:buFont typeface="Arial" panose="020B0604020202020204" pitchFamily="34" charset="0"/>
              <a:buChar char="•"/>
            </a:pPr>
            <a:r>
              <a:rPr lang="en-US" dirty="0"/>
              <a:t>Lines can create direction.</a:t>
            </a:r>
          </a:p>
          <a:p>
            <a:pPr marL="174708" indent="-174708">
              <a:buFont typeface="Arial" panose="020B0604020202020204" pitchFamily="34" charset="0"/>
              <a:buChar char="•"/>
            </a:pPr>
            <a:r>
              <a:rPr lang="en-US" dirty="0"/>
              <a:t>Shapes can help establish balance.</a:t>
            </a:r>
          </a:p>
          <a:p>
            <a:pPr marL="174708" indent="-174708">
              <a:buFont typeface="Arial" panose="020B0604020202020204" pitchFamily="34" charset="0"/>
              <a:buChar char="•"/>
            </a:pPr>
            <a:r>
              <a:rPr lang="en-US" dirty="0"/>
              <a:t>Texture can create emphasis.</a:t>
            </a:r>
          </a:p>
          <a:p>
            <a:pPr marL="174708" indent="-174708">
              <a:buFont typeface="Arial" panose="020B0604020202020204" pitchFamily="34" charset="0"/>
              <a:buChar char="•"/>
            </a:pPr>
            <a:r>
              <a:rPr lang="en-US" dirty="0"/>
              <a:t>Space can strengthen proximity and organization.</a:t>
            </a:r>
          </a:p>
          <a:p>
            <a:endParaRPr lang="en-US" dirty="0"/>
          </a:p>
          <a:p>
            <a:r>
              <a:rPr lang="en-US" dirty="0"/>
              <a:t>Great design happens when multiple elements and principles work together to communicate a message.</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3</a:t>
            </a:fld>
            <a:endParaRPr lang="en-CA"/>
          </a:p>
        </p:txBody>
      </p:sp>
    </p:spTree>
    <p:extLst>
      <p:ext uri="{BB962C8B-B14F-4D97-AF65-F5344CB8AC3E}">
        <p14:creationId xmlns:p14="http://schemas.microsoft.com/office/powerpoint/2010/main" val="374343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57350" y="196850"/>
            <a:ext cx="3276600" cy="2457450"/>
          </a:xfrm>
        </p:spPr>
      </p:sp>
      <p:sp>
        <p:nvSpPr>
          <p:cNvPr id="3" name="Notes Placeholder 2"/>
          <p:cNvSpPr>
            <a:spLocks noGrp="1"/>
          </p:cNvSpPr>
          <p:nvPr>
            <p:ph type="body" idx="1"/>
          </p:nvPr>
        </p:nvSpPr>
        <p:spPr/>
        <p:txBody>
          <a:bodyPr/>
          <a:lstStyle/>
          <a:p>
            <a:r>
              <a:rPr lang="en-CA" dirty="0"/>
              <a:t>The most important lesson from all of these presentations is that design is intentional.</a:t>
            </a:r>
          </a:p>
          <a:p>
            <a:pPr marL="174708" indent="-174708">
              <a:buFont typeface="Arial" panose="020B0604020202020204" pitchFamily="34" charset="0"/>
              <a:buChar char="•"/>
            </a:pPr>
            <a:r>
              <a:rPr lang="en-CA" dirty="0"/>
              <a:t>Every colour has a purpose.</a:t>
            </a:r>
          </a:p>
          <a:p>
            <a:pPr marL="174708" indent="-174708">
              <a:buFont typeface="Arial" panose="020B0604020202020204" pitchFamily="34" charset="0"/>
              <a:buChar char="•"/>
            </a:pPr>
            <a:r>
              <a:rPr lang="en-CA" dirty="0"/>
              <a:t>Every font size has a purpose.</a:t>
            </a:r>
          </a:p>
          <a:p>
            <a:pPr marL="174708" indent="-174708">
              <a:buFont typeface="Arial" panose="020B0604020202020204" pitchFamily="34" charset="0"/>
              <a:buChar char="•"/>
            </a:pPr>
            <a:r>
              <a:rPr lang="en-CA" dirty="0"/>
              <a:t>Every alignment choice has a purpose.</a:t>
            </a:r>
          </a:p>
          <a:p>
            <a:pPr marL="174708" indent="-174708">
              <a:buFont typeface="Arial" panose="020B0604020202020204" pitchFamily="34" charset="0"/>
              <a:buChar char="•"/>
            </a:pPr>
            <a:r>
              <a:rPr lang="en-CA" dirty="0"/>
              <a:t>Every empty space has a purpose.</a:t>
            </a:r>
          </a:p>
          <a:p>
            <a:endParaRPr lang="en-CA" dirty="0"/>
          </a:p>
          <a:p>
            <a:r>
              <a:rPr lang="en-CA" dirty="0"/>
              <a:t>Strong designers do not simply make things look attractive.</a:t>
            </a:r>
          </a:p>
          <a:p>
            <a:endParaRPr lang="en-CA" dirty="0"/>
          </a:p>
          <a:p>
            <a:r>
              <a:rPr lang="en-CA" dirty="0"/>
              <a:t>They make deliberate choices that help audiences understand information and achieve a communication goal.</a:t>
            </a:r>
          </a:p>
          <a:p>
            <a:endParaRPr lang="en-CA" dirty="0"/>
          </a:p>
          <a:p>
            <a:r>
              <a:rPr lang="en-CA" dirty="0"/>
              <a:t>That idea connects everything we have learned about both the Elements and Principles of Design.</a:t>
            </a:r>
          </a:p>
          <a:p>
            <a:endParaRPr lang="en-CA" dirty="0"/>
          </a:p>
          <a:p>
            <a:pPr defTabSz="931774">
              <a:defRPr/>
            </a:pPr>
            <a:r>
              <a:rPr lang="en-CA" dirty="0"/>
              <a:t>These past few weeks have created a bridge between the Elements of Design and the Principles of Design </a:t>
            </a:r>
          </a:p>
          <a:p>
            <a:pPr defTabSz="931774">
              <a:defRPr/>
            </a:pPr>
            <a:endParaRPr lang="en-CA" dirty="0"/>
          </a:p>
          <a:p>
            <a:pPr defTabSz="931774">
              <a:defRPr/>
            </a:pPr>
            <a:r>
              <a:rPr lang="en-CA" dirty="0"/>
              <a:t>Everything reinforces that </a:t>
            </a:r>
            <a:r>
              <a:rPr lang="en-CA" b="1" dirty="0"/>
              <a:t>Hierarchy sits at the centre of visual communication, while the other principles and the six elements are tools used to build that hierarchy and communicate effectively to an audience.</a:t>
            </a:r>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4</a:t>
            </a:fld>
            <a:endParaRPr lang="en-CA"/>
          </a:p>
        </p:txBody>
      </p:sp>
    </p:spTree>
    <p:extLst>
      <p:ext uri="{BB962C8B-B14F-4D97-AF65-F5344CB8AC3E}">
        <p14:creationId xmlns:p14="http://schemas.microsoft.com/office/powerpoint/2010/main" val="392132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think graphic design is about making things look attractive.</a:t>
            </a:r>
          </a:p>
          <a:p>
            <a:r>
              <a:rPr lang="en-US" dirty="0"/>
              <a:t>Professional designers know that design is actually problem solving.</a:t>
            </a:r>
          </a:p>
          <a:p>
            <a:r>
              <a:rPr lang="en-US" dirty="0"/>
              <a:t>Imagine:</a:t>
            </a:r>
          </a:p>
          <a:p>
            <a:r>
              <a:rPr lang="en-US" dirty="0"/>
              <a:t>A concert poster</a:t>
            </a:r>
          </a:p>
          <a:p>
            <a:r>
              <a:rPr lang="en-US" dirty="0"/>
              <a:t>A warning sign</a:t>
            </a:r>
          </a:p>
          <a:p>
            <a:r>
              <a:rPr lang="en-US" dirty="0"/>
              <a:t>A product advertisement</a:t>
            </a:r>
          </a:p>
          <a:p>
            <a:r>
              <a:rPr lang="en-US" dirty="0"/>
              <a:t>Each has a different audience and a different goal.</a:t>
            </a:r>
          </a:p>
          <a:p>
            <a:r>
              <a:rPr lang="en-US" dirty="0"/>
              <a:t>Before choosing </a:t>
            </a:r>
            <a:r>
              <a:rPr lang="en-US" dirty="0" err="1"/>
              <a:t>colours</a:t>
            </a:r>
            <a:r>
              <a:rPr lang="en-US" dirty="0"/>
              <a:t>, fonts, or layouts, designers must first understand what problem needs to be solved.</a:t>
            </a:r>
          </a:p>
          <a:p>
            <a:r>
              <a:rPr lang="en-US" dirty="0"/>
              <a:t>Everything that follows should support communication.</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5</a:t>
            </a:fld>
            <a:endParaRPr lang="en-CA"/>
          </a:p>
        </p:txBody>
      </p:sp>
    </p:spTree>
    <p:extLst>
      <p:ext uri="{BB962C8B-B14F-4D97-AF65-F5344CB8AC3E}">
        <p14:creationId xmlns:p14="http://schemas.microsoft.com/office/powerpoint/2010/main" val="1818215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57350" y="196850"/>
            <a:ext cx="3276600" cy="2457450"/>
          </a:xfrm>
        </p:spPr>
      </p:sp>
      <p:sp>
        <p:nvSpPr>
          <p:cNvPr id="3" name="Notes Placeholder 2"/>
          <p:cNvSpPr>
            <a:spLocks noGrp="1"/>
          </p:cNvSpPr>
          <p:nvPr>
            <p:ph type="body" idx="1"/>
          </p:nvPr>
        </p:nvSpPr>
        <p:spPr/>
        <p:txBody>
          <a:bodyPr/>
          <a:lstStyle/>
          <a:p>
            <a:r>
              <a:rPr lang="en-CA" dirty="0"/>
              <a:t>What do you think of this?</a:t>
            </a:r>
          </a:p>
          <a:p>
            <a:endParaRPr lang="en-CA" dirty="0"/>
          </a:p>
          <a:p>
            <a:r>
              <a:rPr lang="en-CA" dirty="0"/>
              <a:t>Good or Bad</a:t>
            </a:r>
          </a:p>
          <a:p>
            <a:r>
              <a:rPr lang="en-CA" spc="426" dirty="0">
                <a:solidFill>
                  <a:srgbClr val="5B5854"/>
                </a:solidFill>
                <a:latin typeface="Arial"/>
                <a:cs typeface="Arial"/>
              </a:rPr>
              <a:t>$625</a:t>
            </a:r>
            <a:r>
              <a:rPr lang="en-CA" spc="262" dirty="0">
                <a:solidFill>
                  <a:srgbClr val="5B5854"/>
                </a:solidFill>
                <a:latin typeface="Arial"/>
                <a:cs typeface="Arial"/>
              </a:rPr>
              <a:t>,</a:t>
            </a:r>
            <a:r>
              <a:rPr lang="en-CA" spc="387" dirty="0">
                <a:solidFill>
                  <a:srgbClr val="5B5854"/>
                </a:solidFill>
                <a:latin typeface="Arial"/>
                <a:cs typeface="Arial"/>
              </a:rPr>
              <a:t>000</a:t>
            </a:r>
          </a:p>
          <a:p>
            <a:r>
              <a:rPr lang="en-US" dirty="0"/>
              <a:t>Probably the Olympic emblem to spark the biggest controversy in the history of the Olympic games is the one produced for London in 2012. The abstract logo was intended to be fun and edgy, created by Wolff Olins to convey the vibrancy of London as a city. </a:t>
            </a:r>
          </a:p>
          <a:p>
            <a:endParaRPr lang="en-US" dirty="0"/>
          </a:p>
          <a:p>
            <a:r>
              <a:rPr lang="en-US" dirty="0"/>
              <a:t>However, most people felt the emblem didn’t represent London at all. </a:t>
            </a:r>
          </a:p>
          <a:p>
            <a:endParaRPr lang="en-US" dirty="0"/>
          </a:p>
          <a:p>
            <a:r>
              <a:rPr lang="en-US" dirty="0"/>
              <a:t>Some people even said that the shapes represented characters from the Simpsons, with Lisa Simpson depicted in two abstract shapes on the right.</a:t>
            </a:r>
          </a:p>
          <a:p>
            <a:endParaRPr lang="en-US" dirty="0"/>
          </a:p>
          <a:p>
            <a:r>
              <a:rPr lang="en-US" dirty="0"/>
              <a:t>Ultimately, this logo felt rushed and inauthentic, which led it to become one of the biggest failures in Summer Games logo history. </a:t>
            </a:r>
          </a:p>
          <a:p>
            <a:endParaRPr lang="en-CA" dirty="0"/>
          </a:p>
          <a:p>
            <a:r>
              <a:rPr lang="en-CA" dirty="0"/>
              <a:t>Info from</a:t>
            </a:r>
          </a:p>
          <a:p>
            <a:r>
              <a:rPr lang="en-US" dirty="0">
                <a:hlinkClick r:id="rId3"/>
              </a:rPr>
              <a:t>The Best And Worst Olympic Logos From 1896 To Today</a:t>
            </a:r>
            <a:endParaRPr lang="en-US" dirty="0"/>
          </a:p>
          <a:p>
            <a:r>
              <a:rPr lang="en-CA" dirty="0"/>
              <a:t>https://fabrikbrands.com/branding-matters/logofile/the-best-and-worst-olympic-logos-from-1896-to-today/</a:t>
            </a:r>
          </a:p>
        </p:txBody>
      </p:sp>
      <p:sp>
        <p:nvSpPr>
          <p:cNvPr id="4" name="Slide Number Placeholder 3"/>
          <p:cNvSpPr>
            <a:spLocks noGrp="1"/>
          </p:cNvSpPr>
          <p:nvPr>
            <p:ph type="sldNum" sz="quarter" idx="5"/>
          </p:nvPr>
        </p:nvSpPr>
        <p:spPr/>
        <p:txBody>
          <a:bodyPr/>
          <a:lstStyle/>
          <a:p>
            <a:fld id="{F1B53790-30D2-4B44-A046-B9DBE9068D55}" type="slidenum">
              <a:rPr lang="en-CA" smtClean="0"/>
              <a:t>6</a:t>
            </a:fld>
            <a:endParaRPr lang="en-CA"/>
          </a:p>
        </p:txBody>
      </p:sp>
    </p:spTree>
    <p:extLst>
      <p:ext uri="{BB962C8B-B14F-4D97-AF65-F5344CB8AC3E}">
        <p14:creationId xmlns:p14="http://schemas.microsoft.com/office/powerpoint/2010/main" val="360185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57350" y="196850"/>
            <a:ext cx="3276600" cy="2457450"/>
          </a:xfrm>
        </p:spPr>
      </p:sp>
      <p:sp>
        <p:nvSpPr>
          <p:cNvPr id="3" name="Notes Placeholder 2"/>
          <p:cNvSpPr>
            <a:spLocks noGrp="1"/>
          </p:cNvSpPr>
          <p:nvPr>
            <p:ph type="body" idx="1"/>
          </p:nvPr>
        </p:nvSpPr>
        <p:spPr/>
        <p:txBody>
          <a:bodyPr/>
          <a:lstStyle/>
          <a:p>
            <a:r>
              <a:rPr lang="en-US" b="1" dirty="0"/>
              <a:t>Sydney 2000</a:t>
            </a:r>
          </a:p>
          <a:p>
            <a:r>
              <a:rPr lang="en-US" dirty="0"/>
              <a:t>Similar in a lot of ways to the logo design created for Barcelona in 1992, the Sydney Olympic emblem is a simple, abstract image brimming with color and life. The design is bold and energetic, with a number of meaningful components. </a:t>
            </a:r>
          </a:p>
          <a:p>
            <a:endParaRPr lang="en-US" dirty="0"/>
          </a:p>
          <a:p>
            <a:r>
              <a:rPr lang="en-US" dirty="0"/>
              <a:t>The figure in the design is made up of three boomerangs, a common symbol associated with Australia. </a:t>
            </a:r>
          </a:p>
          <a:p>
            <a:endParaRPr lang="en-US" dirty="0"/>
          </a:p>
          <a:p>
            <a:r>
              <a:rPr lang="en-US" dirty="0"/>
              <a:t>The colors in the design also symbolize various aspects of the Australian landscape, from orange (rocks and earth) to the yellow of the sun and the blue of the sea and sky. The blue-ribbon element looks a little like the top of the Sydney Opera House too. </a:t>
            </a:r>
          </a:p>
          <a:p>
            <a:endParaRPr lang="en-CA" dirty="0"/>
          </a:p>
          <a:p>
            <a:r>
              <a:rPr lang="en-CA" dirty="0"/>
              <a:t>Info From</a:t>
            </a:r>
          </a:p>
          <a:p>
            <a:r>
              <a:rPr lang="en-US" dirty="0">
                <a:hlinkClick r:id="rId3"/>
              </a:rPr>
              <a:t>The Best And Worst Olympic Logos From 1896 To Today</a:t>
            </a:r>
            <a:endParaRPr lang="en-US" dirty="0"/>
          </a:p>
          <a:p>
            <a:r>
              <a:rPr lang="en-CA" dirty="0"/>
              <a:t>https://fabrikbrands.com/branding-matters/logofile/the-best-and-worst-olympic-logos-from-1896-to-today/</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7</a:t>
            </a:fld>
            <a:endParaRPr lang="en-CA"/>
          </a:p>
        </p:txBody>
      </p:sp>
    </p:spTree>
    <p:extLst>
      <p:ext uri="{BB962C8B-B14F-4D97-AF65-F5344CB8AC3E}">
        <p14:creationId xmlns:p14="http://schemas.microsoft.com/office/powerpoint/2010/main" val="1315224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CFB8EF9-6D19-448F-99D4-5CD4D500528E}" type="slidenum">
              <a:rPr lang="en-CA" smtClean="0"/>
              <a:t>8</a:t>
            </a:fld>
            <a:endParaRPr lang="en-CA"/>
          </a:p>
        </p:txBody>
      </p:sp>
    </p:spTree>
    <p:extLst>
      <p:ext uri="{BB962C8B-B14F-4D97-AF65-F5344CB8AC3E}">
        <p14:creationId xmlns:p14="http://schemas.microsoft.com/office/powerpoint/2010/main" val="854817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a:xfrm>
            <a:off x="4059181" y="8977134"/>
            <a:ext cx="3105348" cy="474207"/>
          </a:xfrm>
          <a:prstGeom prst="rect">
            <a:avLst/>
          </a:prstGeom>
        </p:spPr>
        <p:txBody>
          <a:bodyPr lIns="94947" tIns="47474" rIns="94947" bIns="47474"/>
          <a:lstStyle/>
          <a:p>
            <a:fld id="{EC8E7D8F-66A0-4AB2-A673-BBD50D9A8402}" type="slidenum">
              <a:rPr lang="en-CA" smtClean="0"/>
              <a:t>9</a:t>
            </a:fld>
            <a:endParaRPr lang="en-CA"/>
          </a:p>
        </p:txBody>
      </p:sp>
    </p:spTree>
    <p:extLst>
      <p:ext uri="{BB962C8B-B14F-4D97-AF65-F5344CB8AC3E}">
        <p14:creationId xmlns:p14="http://schemas.microsoft.com/office/powerpoint/2010/main" val="2117245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CA" dirty="0"/>
              <a:t>The elements (line, shape, size) actively build the principles (balance, alignment, contrast). They do not exist separately.</a:t>
            </a:r>
          </a:p>
          <a:p>
            <a:endParaRPr lang="en-CA" dirty="0"/>
          </a:p>
          <a:p>
            <a:r>
              <a:rPr lang="en-CA" dirty="0"/>
              <a:t>Up to this point we have basically learned elements and principles as separate lists.</a:t>
            </a:r>
          </a:p>
          <a:p>
            <a:endParaRPr lang="en-CA" dirty="0"/>
          </a:p>
          <a:p>
            <a:r>
              <a:rPr lang="en-CA" dirty="0"/>
              <a:t>In reality, principles are built from elements.</a:t>
            </a:r>
          </a:p>
          <a:p>
            <a:endParaRPr lang="en-CA" dirty="0"/>
          </a:p>
          <a:p>
            <a:r>
              <a:rPr lang="en-CA" dirty="0"/>
              <a:t>For example:</a:t>
            </a:r>
          </a:p>
          <a:p>
            <a:r>
              <a:rPr lang="en-CA" dirty="0"/>
              <a:t>Contrast is not something you can place onto a page.</a:t>
            </a:r>
          </a:p>
          <a:p>
            <a:endParaRPr lang="en-CA" dirty="0"/>
          </a:p>
          <a:p>
            <a:r>
              <a:rPr lang="en-CA" dirty="0"/>
              <a:t>Contrast must be created using:</a:t>
            </a:r>
          </a:p>
          <a:p>
            <a:pPr marL="174708" indent="-174708">
              <a:buFont typeface="Arial" panose="020B0604020202020204" pitchFamily="34" charset="0"/>
              <a:buChar char="•"/>
            </a:pPr>
            <a:r>
              <a:rPr lang="en-CA" dirty="0"/>
              <a:t>Colour differences</a:t>
            </a:r>
          </a:p>
          <a:p>
            <a:pPr marL="174708" indent="-174708">
              <a:buFont typeface="Arial" panose="020B0604020202020204" pitchFamily="34" charset="0"/>
              <a:buChar char="•"/>
            </a:pPr>
            <a:r>
              <a:rPr lang="en-CA" dirty="0"/>
              <a:t>Size differences</a:t>
            </a:r>
          </a:p>
          <a:p>
            <a:pPr marL="174708" indent="-174708">
              <a:buFont typeface="Arial" panose="020B0604020202020204" pitchFamily="34" charset="0"/>
              <a:buChar char="•"/>
            </a:pPr>
            <a:r>
              <a:rPr lang="en-CA" dirty="0"/>
              <a:t>Shape differences</a:t>
            </a:r>
          </a:p>
          <a:p>
            <a:pPr marL="174708" indent="-174708">
              <a:buFont typeface="Arial" panose="020B0604020202020204" pitchFamily="34" charset="0"/>
              <a:buChar char="•"/>
            </a:pPr>
            <a:r>
              <a:rPr lang="en-CA" dirty="0"/>
              <a:t>Texture differences</a:t>
            </a:r>
          </a:p>
          <a:p>
            <a:endParaRPr lang="en-CA" dirty="0"/>
          </a:p>
          <a:p>
            <a:r>
              <a:rPr lang="en-CA" dirty="0"/>
              <a:t>The elements create the principles.</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10</a:t>
            </a:fld>
            <a:endParaRPr lang="en-CA"/>
          </a:p>
        </p:txBody>
      </p:sp>
    </p:spTree>
    <p:extLst>
      <p:ext uri="{BB962C8B-B14F-4D97-AF65-F5344CB8AC3E}">
        <p14:creationId xmlns:p14="http://schemas.microsoft.com/office/powerpoint/2010/main" val="4169351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11</a:t>
            </a:fld>
            <a:endParaRPr lang="en-CA"/>
          </a:p>
        </p:txBody>
      </p:sp>
    </p:spTree>
    <p:extLst>
      <p:ext uri="{BB962C8B-B14F-4D97-AF65-F5344CB8AC3E}">
        <p14:creationId xmlns:p14="http://schemas.microsoft.com/office/powerpoint/2010/main" val="3547511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4EE59-A290-B04B-FAF4-78E841E93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D09D8-DB74-9BD3-B914-AFD71E89C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66A47-A663-66C4-68F5-E7D8942700DE}"/>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7D8701BF-6D30-2814-3382-3BC697D5A8D3}"/>
              </a:ext>
            </a:extLst>
          </p:cNvPr>
          <p:cNvSpPr>
            <a:spLocks noGrp="1"/>
          </p:cNvSpPr>
          <p:nvPr>
            <p:ph type="sldNum" sz="quarter" idx="5"/>
          </p:nvPr>
        </p:nvSpPr>
        <p:spPr/>
        <p:txBody>
          <a:bodyPr/>
          <a:lstStyle/>
          <a:p>
            <a:fld id="{FCFB8EF9-6D19-448F-99D4-5CD4D500528E}" type="slidenum">
              <a:rPr lang="en-CA" smtClean="0"/>
              <a:t>12</a:t>
            </a:fld>
            <a:endParaRPr lang="en-CA"/>
          </a:p>
        </p:txBody>
      </p:sp>
    </p:spTree>
    <p:extLst>
      <p:ext uri="{BB962C8B-B14F-4D97-AF65-F5344CB8AC3E}">
        <p14:creationId xmlns:p14="http://schemas.microsoft.com/office/powerpoint/2010/main" val="29523748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8E8A-B8C9-EEBF-3CB0-E9966868E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CC805-2EA7-5DA7-D1C2-F2AA224F9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ECB83-88E8-6480-451F-AB67774D0718}"/>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D4CAD62A-E06F-E496-C42E-EEC82991999F}"/>
              </a:ext>
            </a:extLst>
          </p:cNvPr>
          <p:cNvSpPr>
            <a:spLocks noGrp="1"/>
          </p:cNvSpPr>
          <p:nvPr>
            <p:ph type="sldNum" sz="quarter" idx="5"/>
          </p:nvPr>
        </p:nvSpPr>
        <p:spPr/>
        <p:txBody>
          <a:bodyPr/>
          <a:lstStyle/>
          <a:p>
            <a:fld id="{FCFB8EF9-6D19-448F-99D4-5CD4D500528E}" type="slidenum">
              <a:rPr lang="en-CA" smtClean="0"/>
              <a:t>13</a:t>
            </a:fld>
            <a:endParaRPr lang="en-CA"/>
          </a:p>
        </p:txBody>
      </p:sp>
    </p:spTree>
    <p:extLst>
      <p:ext uri="{BB962C8B-B14F-4D97-AF65-F5344CB8AC3E}">
        <p14:creationId xmlns:p14="http://schemas.microsoft.com/office/powerpoint/2010/main" val="2213365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0450-D5FD-42AB-CD85-7987C0F28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054CB-9EB4-D707-B6CD-4DDB62DEA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D8D7E-D18A-406B-91C9-379EB8A40C77}"/>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B5AE61C7-3880-E2D5-F010-EB65CB080EC7}"/>
              </a:ext>
            </a:extLst>
          </p:cNvPr>
          <p:cNvSpPr>
            <a:spLocks noGrp="1"/>
          </p:cNvSpPr>
          <p:nvPr>
            <p:ph type="sldNum" sz="quarter" idx="5"/>
          </p:nvPr>
        </p:nvSpPr>
        <p:spPr/>
        <p:txBody>
          <a:bodyPr/>
          <a:lstStyle/>
          <a:p>
            <a:fld id="{FCFB8EF9-6D19-448F-99D4-5CD4D500528E}" type="slidenum">
              <a:rPr lang="en-CA" smtClean="0"/>
              <a:t>14</a:t>
            </a:fld>
            <a:endParaRPr lang="en-CA"/>
          </a:p>
        </p:txBody>
      </p:sp>
    </p:spTree>
    <p:extLst>
      <p:ext uri="{BB962C8B-B14F-4D97-AF65-F5344CB8AC3E}">
        <p14:creationId xmlns:p14="http://schemas.microsoft.com/office/powerpoint/2010/main" val="266303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E277D-249E-83C3-EB5A-2A8554633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BC166-A13E-CC5C-CE02-DE17DC2B5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B846A-5AB1-38D1-3E2B-EB9F29CEE70D}"/>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1DF866F2-FCFE-A52F-BCB3-2F43A1B3E522}"/>
              </a:ext>
            </a:extLst>
          </p:cNvPr>
          <p:cNvSpPr>
            <a:spLocks noGrp="1"/>
          </p:cNvSpPr>
          <p:nvPr>
            <p:ph type="sldNum" sz="quarter" idx="5"/>
          </p:nvPr>
        </p:nvSpPr>
        <p:spPr/>
        <p:txBody>
          <a:bodyPr/>
          <a:lstStyle/>
          <a:p>
            <a:fld id="{FCFB8EF9-6D19-448F-99D4-5CD4D500528E}" type="slidenum">
              <a:rPr lang="en-CA" smtClean="0"/>
              <a:t>15</a:t>
            </a:fld>
            <a:endParaRPr lang="en-CA"/>
          </a:p>
        </p:txBody>
      </p:sp>
    </p:spTree>
    <p:extLst>
      <p:ext uri="{BB962C8B-B14F-4D97-AF65-F5344CB8AC3E}">
        <p14:creationId xmlns:p14="http://schemas.microsoft.com/office/powerpoint/2010/main" val="3921628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1235D-4DE0-0726-4E32-BE12C1688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7760-4438-8E94-A53A-35B576DFA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8C277-B10A-5897-045C-0E31B560482F}"/>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1841BF6D-7469-6748-A5AB-B4AB2EBAFFD6}"/>
              </a:ext>
            </a:extLst>
          </p:cNvPr>
          <p:cNvSpPr>
            <a:spLocks noGrp="1"/>
          </p:cNvSpPr>
          <p:nvPr>
            <p:ph type="sldNum" sz="quarter" idx="5"/>
          </p:nvPr>
        </p:nvSpPr>
        <p:spPr/>
        <p:txBody>
          <a:bodyPr/>
          <a:lstStyle/>
          <a:p>
            <a:fld id="{FCFB8EF9-6D19-448F-99D4-5CD4D500528E}" type="slidenum">
              <a:rPr lang="en-CA" smtClean="0"/>
              <a:t>16</a:t>
            </a:fld>
            <a:endParaRPr lang="en-CA"/>
          </a:p>
        </p:txBody>
      </p:sp>
    </p:spTree>
    <p:extLst>
      <p:ext uri="{BB962C8B-B14F-4D97-AF65-F5344CB8AC3E}">
        <p14:creationId xmlns:p14="http://schemas.microsoft.com/office/powerpoint/2010/main" val="2727378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2CCE-1E70-4C29-12AA-1A20B07C2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30A8A-627A-DAC9-CD7E-5F1678C2D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40AD2-84A3-8CE3-66F4-2DE60D54D95E}"/>
              </a:ext>
            </a:extLst>
          </p:cNvPr>
          <p:cNvSpPr>
            <a:spLocks noGrp="1"/>
          </p:cNvSpPr>
          <p:nvPr>
            <p:ph type="body" idx="1"/>
          </p:nvPr>
        </p:nvSpPr>
        <p:spPr/>
        <p:txBody>
          <a:bodyPr/>
          <a:lstStyle/>
          <a:p>
            <a:r>
              <a:rPr lang="en-CA" dirty="0"/>
              <a:t>A single design decision can support multiple principles at once.</a:t>
            </a:r>
          </a:p>
          <a:p>
            <a:endParaRPr lang="en-CA" dirty="0"/>
          </a:p>
          <a:p>
            <a:r>
              <a:rPr lang="en-CA" dirty="0"/>
              <a:t>Professional designers are rarely thinking:</a:t>
            </a:r>
          </a:p>
          <a:p>
            <a:endParaRPr lang="en-CA" dirty="0"/>
          </a:p>
          <a:p>
            <a:r>
              <a:rPr lang="en-CA" dirty="0"/>
              <a:t>"Now I will apply balance."</a:t>
            </a:r>
          </a:p>
          <a:p>
            <a:endParaRPr lang="en-CA" dirty="0"/>
          </a:p>
          <a:p>
            <a:r>
              <a:rPr lang="en-CA" dirty="0"/>
              <a:t>Instead they make a design decision.</a:t>
            </a:r>
          </a:p>
          <a:p>
            <a:endParaRPr lang="en-CA" dirty="0"/>
          </a:p>
          <a:p>
            <a:r>
              <a:rPr lang="en-CA" dirty="0"/>
              <a:t>That decision often affects multiple principles simultaneously.</a:t>
            </a:r>
          </a:p>
          <a:p>
            <a:endParaRPr lang="en-CA" dirty="0"/>
          </a:p>
          <a:p>
            <a:r>
              <a:rPr lang="en-CA" dirty="0"/>
              <a:t>This is one of the biggest mindset shifts from beginner to designer.</a:t>
            </a:r>
          </a:p>
          <a:p>
            <a:endParaRPr lang="en-CA" dirty="0"/>
          </a:p>
          <a:p>
            <a:endParaRPr lang="en-CA" dirty="0"/>
          </a:p>
          <a:p>
            <a:r>
              <a:rPr lang="en-CA" dirty="0"/>
              <a:t>Here we have one shape = element</a:t>
            </a:r>
          </a:p>
          <a:p>
            <a:r>
              <a:rPr lang="en-CA" dirty="0"/>
              <a:t>But it can apply to many principles</a:t>
            </a:r>
          </a:p>
          <a:p>
            <a:endParaRPr lang="en-CA" dirty="0"/>
          </a:p>
        </p:txBody>
      </p:sp>
      <p:sp>
        <p:nvSpPr>
          <p:cNvPr id="4" name="Slide Number Placeholder 3">
            <a:extLst>
              <a:ext uri="{FF2B5EF4-FFF2-40B4-BE49-F238E27FC236}">
                <a16:creationId xmlns:a16="http://schemas.microsoft.com/office/drawing/2014/main" id="{D45F6933-1C10-009E-6136-FB70A58AA850}"/>
              </a:ext>
            </a:extLst>
          </p:cNvPr>
          <p:cNvSpPr>
            <a:spLocks noGrp="1"/>
          </p:cNvSpPr>
          <p:nvPr>
            <p:ph type="sldNum" sz="quarter" idx="5"/>
          </p:nvPr>
        </p:nvSpPr>
        <p:spPr/>
        <p:txBody>
          <a:bodyPr/>
          <a:lstStyle/>
          <a:p>
            <a:fld id="{FCFB8EF9-6D19-448F-99D4-5CD4D500528E}" type="slidenum">
              <a:rPr lang="en-CA" smtClean="0"/>
              <a:t>17</a:t>
            </a:fld>
            <a:endParaRPr lang="en-CA"/>
          </a:p>
        </p:txBody>
      </p:sp>
    </p:spTree>
    <p:extLst>
      <p:ext uri="{BB962C8B-B14F-4D97-AF65-F5344CB8AC3E}">
        <p14:creationId xmlns:p14="http://schemas.microsoft.com/office/powerpoint/2010/main" val="3950368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When students first learn design theory, they often identify elements individually.</a:t>
            </a:r>
          </a:p>
          <a:p>
            <a:endParaRPr lang="en-CA" dirty="0"/>
          </a:p>
          <a:p>
            <a:r>
              <a:rPr lang="en-CA" dirty="0"/>
              <a:t>In professional design, elements rarely appear alone.</a:t>
            </a:r>
          </a:p>
          <a:p>
            <a:endParaRPr lang="en-CA" dirty="0"/>
          </a:p>
          <a:p>
            <a:r>
              <a:rPr lang="en-CA" dirty="0"/>
              <a:t>The power comes from their combination.</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18</a:t>
            </a:fld>
            <a:endParaRPr lang="en-CA"/>
          </a:p>
        </p:txBody>
      </p:sp>
    </p:spTree>
    <p:extLst>
      <p:ext uri="{BB962C8B-B14F-4D97-AF65-F5344CB8AC3E}">
        <p14:creationId xmlns:p14="http://schemas.microsoft.com/office/powerpoint/2010/main" val="2958848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FAC3-15B8-97BA-C2EB-7B6596DB5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37985-71E3-3F1C-24B3-E737094CB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C5355-595C-473A-5BA3-E156A5FD211B}"/>
              </a:ext>
            </a:extLst>
          </p:cNvPr>
          <p:cNvSpPr>
            <a:spLocks noGrp="1"/>
          </p:cNvSpPr>
          <p:nvPr>
            <p:ph type="body" idx="1"/>
          </p:nvPr>
        </p:nvSpPr>
        <p:spPr/>
        <p:txBody>
          <a:bodyPr/>
          <a:lstStyle/>
          <a:p>
            <a:r>
              <a:rPr lang="en-CA" dirty="0"/>
              <a:t>Consider a Nike advertisement.</a:t>
            </a:r>
          </a:p>
          <a:p>
            <a:endParaRPr lang="en-CA" dirty="0"/>
          </a:p>
          <a:p>
            <a:r>
              <a:rPr lang="en-CA" dirty="0"/>
              <a:t>You may see:</a:t>
            </a:r>
          </a:p>
          <a:p>
            <a:pPr marL="174708" indent="-174708">
              <a:buFont typeface="Arial" panose="020B0604020202020204" pitchFamily="34" charset="0"/>
              <a:buChar char="•"/>
            </a:pPr>
            <a:r>
              <a:rPr lang="en-CA" dirty="0"/>
              <a:t>Large type (Size)</a:t>
            </a:r>
          </a:p>
          <a:p>
            <a:pPr marL="174708" indent="-174708">
              <a:buFont typeface="Arial" panose="020B0604020202020204" pitchFamily="34" charset="0"/>
              <a:buChar char="•"/>
            </a:pPr>
            <a:r>
              <a:rPr lang="en-CA" dirty="0"/>
              <a:t>Diagonal movement (Direction)</a:t>
            </a:r>
          </a:p>
          <a:p>
            <a:pPr marL="174708" indent="-174708">
              <a:buFont typeface="Arial" panose="020B0604020202020204" pitchFamily="34" charset="0"/>
              <a:buChar char="•"/>
            </a:pPr>
            <a:r>
              <a:rPr lang="en-CA" dirty="0"/>
              <a:t>Strong colour contrast (Colour)</a:t>
            </a:r>
          </a:p>
          <a:p>
            <a:pPr marL="174708" indent="-174708">
              <a:buFont typeface="Arial" panose="020B0604020202020204" pitchFamily="34" charset="0"/>
              <a:buChar char="•"/>
            </a:pPr>
            <a:r>
              <a:rPr lang="en-CA" dirty="0"/>
              <a:t>Geometric blocking (Shape)</a:t>
            </a:r>
          </a:p>
          <a:p>
            <a:endParaRPr lang="en-CA" dirty="0"/>
          </a:p>
          <a:p>
            <a:r>
              <a:rPr lang="en-CA" dirty="0"/>
              <a:t>The power comes from their combination.</a:t>
            </a:r>
          </a:p>
          <a:p>
            <a:endParaRPr lang="en-CA" dirty="0"/>
          </a:p>
          <a:p>
            <a:r>
              <a:rPr lang="en-CA" dirty="0"/>
              <a:t>Image from: https://sl.bing.net/dMufRlKnsiq</a:t>
            </a:r>
          </a:p>
        </p:txBody>
      </p:sp>
      <p:sp>
        <p:nvSpPr>
          <p:cNvPr id="4" name="Slide Number Placeholder 3">
            <a:extLst>
              <a:ext uri="{FF2B5EF4-FFF2-40B4-BE49-F238E27FC236}">
                <a16:creationId xmlns:a16="http://schemas.microsoft.com/office/drawing/2014/main" id="{F266627E-0CB1-8CBB-3302-5E35BB2AC89E}"/>
              </a:ext>
            </a:extLst>
          </p:cNvPr>
          <p:cNvSpPr>
            <a:spLocks noGrp="1"/>
          </p:cNvSpPr>
          <p:nvPr>
            <p:ph type="sldNum" sz="quarter" idx="5"/>
          </p:nvPr>
        </p:nvSpPr>
        <p:spPr/>
        <p:txBody>
          <a:bodyPr/>
          <a:lstStyle/>
          <a:p>
            <a:fld id="{FCFB8EF9-6D19-448F-99D4-5CD4D500528E}" type="slidenum">
              <a:rPr lang="en-CA" smtClean="0"/>
              <a:t>19</a:t>
            </a:fld>
            <a:endParaRPr lang="en-CA"/>
          </a:p>
        </p:txBody>
      </p:sp>
    </p:spTree>
    <p:extLst>
      <p:ext uri="{BB962C8B-B14F-4D97-AF65-F5344CB8AC3E}">
        <p14:creationId xmlns:p14="http://schemas.microsoft.com/office/powerpoint/2010/main" val="30966924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Hierarchy doesn't magically appear.</a:t>
            </a:r>
          </a:p>
          <a:p>
            <a:r>
              <a:rPr lang="en-CA" dirty="0"/>
              <a:t>Designers build hierarchy using elements and principles.</a:t>
            </a:r>
          </a:p>
          <a:p>
            <a:r>
              <a:rPr lang="en-CA" dirty="0"/>
              <a:t>Every hierarchy you see is constructed.</a:t>
            </a:r>
          </a:p>
          <a:p>
            <a:endParaRPr lang="en-CA" dirty="0"/>
          </a:p>
          <a:p>
            <a:endParaRPr lang="en-CA" dirty="0"/>
          </a:p>
          <a:p>
            <a:r>
              <a:rPr lang="en-CA" b="1" dirty="0"/>
              <a:t>Visual</a:t>
            </a:r>
            <a:endParaRPr lang="en-CA" dirty="0"/>
          </a:p>
          <a:p>
            <a:r>
              <a:rPr lang="en-CA" dirty="0"/>
              <a:t>Hierarchy at center</a:t>
            </a:r>
          </a:p>
          <a:p>
            <a:r>
              <a:rPr lang="en-CA" dirty="0"/>
              <a:t>Connected to:</a:t>
            </a:r>
          </a:p>
          <a:p>
            <a:pPr lvl="0"/>
            <a:r>
              <a:rPr lang="en-CA" dirty="0"/>
              <a:t>Size</a:t>
            </a:r>
          </a:p>
          <a:p>
            <a:pPr lvl="0"/>
            <a:r>
              <a:rPr lang="en-CA" dirty="0"/>
              <a:t>Contrast</a:t>
            </a:r>
          </a:p>
          <a:p>
            <a:pPr lvl="0"/>
            <a:r>
              <a:rPr lang="en-CA" dirty="0"/>
              <a:t>Space</a:t>
            </a:r>
          </a:p>
          <a:p>
            <a:pPr lvl="0"/>
            <a:r>
              <a:rPr lang="en-CA" dirty="0"/>
              <a:t>Colour</a:t>
            </a:r>
          </a:p>
          <a:p>
            <a:r>
              <a:rPr lang="en-CA" dirty="0"/>
              <a:t>Direction</a:t>
            </a:r>
          </a:p>
        </p:txBody>
      </p:sp>
      <p:sp>
        <p:nvSpPr>
          <p:cNvPr id="4" name="Slide Number Placeholder 3"/>
          <p:cNvSpPr>
            <a:spLocks noGrp="1"/>
          </p:cNvSpPr>
          <p:nvPr>
            <p:ph type="sldNum" sz="quarter" idx="5"/>
          </p:nvPr>
        </p:nvSpPr>
        <p:spPr/>
        <p:txBody>
          <a:bodyPr/>
          <a:lstStyle/>
          <a:p>
            <a:fld id="{FCFB8EF9-6D19-448F-99D4-5CD4D500528E}" type="slidenum">
              <a:rPr lang="en-CA" smtClean="0"/>
              <a:t>20</a:t>
            </a:fld>
            <a:endParaRPr lang="en-CA"/>
          </a:p>
        </p:txBody>
      </p:sp>
    </p:spTree>
    <p:extLst>
      <p:ext uri="{BB962C8B-B14F-4D97-AF65-F5344CB8AC3E}">
        <p14:creationId xmlns:p14="http://schemas.microsoft.com/office/powerpoint/2010/main" val="3051314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21</a:t>
            </a:fld>
            <a:endParaRPr lang="en-CA"/>
          </a:p>
        </p:txBody>
      </p:sp>
    </p:spTree>
    <p:extLst>
      <p:ext uri="{BB962C8B-B14F-4D97-AF65-F5344CB8AC3E}">
        <p14:creationId xmlns:p14="http://schemas.microsoft.com/office/powerpoint/2010/main" val="1485895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4F99-182C-4839-C663-F1E213482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0DD55-F832-31C0-3120-5E05170A2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CC3D5-8544-EAFC-F68D-ADAD4A3C8C9A}"/>
              </a:ext>
            </a:extLst>
          </p:cNvPr>
          <p:cNvSpPr>
            <a:spLocks noGrp="1"/>
          </p:cNvSpPr>
          <p:nvPr>
            <p:ph type="body" idx="1"/>
          </p:nvPr>
        </p:nvSpPr>
        <p:spPr/>
        <p:txBody>
          <a:bodyPr/>
          <a:lstStyle/>
          <a:p>
            <a:r>
              <a:rPr lang="en-CA" dirty="0"/>
              <a:t>Contrast can be created in many different ways.</a:t>
            </a:r>
          </a:p>
          <a:p>
            <a:endParaRPr lang="en-CA" dirty="0"/>
          </a:p>
          <a:p>
            <a:r>
              <a:rPr lang="en-CA" dirty="0"/>
              <a:t>This reinforces that principles depend on elements.</a:t>
            </a:r>
          </a:p>
          <a:p>
            <a:endParaRPr lang="en-CA" dirty="0"/>
          </a:p>
        </p:txBody>
      </p:sp>
      <p:sp>
        <p:nvSpPr>
          <p:cNvPr id="4" name="Slide Number Placeholder 3">
            <a:extLst>
              <a:ext uri="{FF2B5EF4-FFF2-40B4-BE49-F238E27FC236}">
                <a16:creationId xmlns:a16="http://schemas.microsoft.com/office/drawing/2014/main" id="{8A4A2DA9-DE7B-2448-6581-52B38A711CDD}"/>
              </a:ext>
            </a:extLst>
          </p:cNvPr>
          <p:cNvSpPr>
            <a:spLocks noGrp="1"/>
          </p:cNvSpPr>
          <p:nvPr>
            <p:ph type="sldNum" sz="quarter" idx="5"/>
          </p:nvPr>
        </p:nvSpPr>
        <p:spPr/>
        <p:txBody>
          <a:bodyPr/>
          <a:lstStyle/>
          <a:p>
            <a:fld id="{FCFB8EF9-6D19-448F-99D4-5CD4D500528E}" type="slidenum">
              <a:rPr lang="en-CA" smtClean="0"/>
              <a:t>22</a:t>
            </a:fld>
            <a:endParaRPr lang="en-CA"/>
          </a:p>
        </p:txBody>
      </p:sp>
    </p:spTree>
    <p:extLst>
      <p:ext uri="{BB962C8B-B14F-4D97-AF65-F5344CB8AC3E}">
        <p14:creationId xmlns:p14="http://schemas.microsoft.com/office/powerpoint/2010/main" val="3174058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241DA-EDAC-EC0D-810B-106E5F24E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4FD7C-1197-3D1D-342E-273DCD386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0218C-AA40-7908-835F-005590E398AE}"/>
              </a:ext>
            </a:extLst>
          </p:cNvPr>
          <p:cNvSpPr>
            <a:spLocks noGrp="1"/>
          </p:cNvSpPr>
          <p:nvPr>
            <p:ph type="body" idx="1"/>
          </p:nvPr>
        </p:nvSpPr>
        <p:spPr/>
        <p:txBody>
          <a:bodyPr/>
          <a:lstStyle/>
          <a:p>
            <a:r>
              <a:rPr lang="en-CA" dirty="0"/>
              <a:t>Contrast can be created in many different ways.</a:t>
            </a:r>
          </a:p>
          <a:p>
            <a:endParaRPr lang="en-CA" dirty="0"/>
          </a:p>
          <a:p>
            <a:r>
              <a:rPr lang="en-CA" dirty="0"/>
              <a:t>This reinforces that principles depend on elements.</a:t>
            </a:r>
          </a:p>
          <a:p>
            <a:endParaRPr lang="en-CA" dirty="0"/>
          </a:p>
        </p:txBody>
      </p:sp>
      <p:sp>
        <p:nvSpPr>
          <p:cNvPr id="4" name="Slide Number Placeholder 3">
            <a:extLst>
              <a:ext uri="{FF2B5EF4-FFF2-40B4-BE49-F238E27FC236}">
                <a16:creationId xmlns:a16="http://schemas.microsoft.com/office/drawing/2014/main" id="{A6422CAB-3742-8DE3-9C37-1E6657D86A03}"/>
              </a:ext>
            </a:extLst>
          </p:cNvPr>
          <p:cNvSpPr>
            <a:spLocks noGrp="1"/>
          </p:cNvSpPr>
          <p:nvPr>
            <p:ph type="sldNum" sz="quarter" idx="5"/>
          </p:nvPr>
        </p:nvSpPr>
        <p:spPr/>
        <p:txBody>
          <a:bodyPr/>
          <a:lstStyle/>
          <a:p>
            <a:fld id="{FCFB8EF9-6D19-448F-99D4-5CD4D500528E}" type="slidenum">
              <a:rPr lang="en-CA" smtClean="0"/>
              <a:t>23</a:t>
            </a:fld>
            <a:endParaRPr lang="en-CA"/>
          </a:p>
        </p:txBody>
      </p:sp>
    </p:spTree>
    <p:extLst>
      <p:ext uri="{BB962C8B-B14F-4D97-AF65-F5344CB8AC3E}">
        <p14:creationId xmlns:p14="http://schemas.microsoft.com/office/powerpoint/2010/main" val="1255981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D115F-3087-2DA7-201F-42D851DD2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E46C5-F064-DF14-41D1-0C259235E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7B01A-B1D8-9798-4CF4-D5587F21DC5C}"/>
              </a:ext>
            </a:extLst>
          </p:cNvPr>
          <p:cNvSpPr>
            <a:spLocks noGrp="1"/>
          </p:cNvSpPr>
          <p:nvPr>
            <p:ph type="body" idx="1"/>
          </p:nvPr>
        </p:nvSpPr>
        <p:spPr/>
        <p:txBody>
          <a:bodyPr/>
          <a:lstStyle/>
          <a:p>
            <a:r>
              <a:rPr lang="en-CA" dirty="0"/>
              <a:t>Contrast can be created in many different ways.</a:t>
            </a:r>
          </a:p>
          <a:p>
            <a:endParaRPr lang="en-CA" dirty="0"/>
          </a:p>
          <a:p>
            <a:r>
              <a:rPr lang="en-CA" dirty="0"/>
              <a:t>This reinforces that principles depend on elements.</a:t>
            </a:r>
          </a:p>
          <a:p>
            <a:endParaRPr lang="en-CA" dirty="0"/>
          </a:p>
        </p:txBody>
      </p:sp>
      <p:sp>
        <p:nvSpPr>
          <p:cNvPr id="4" name="Slide Number Placeholder 3">
            <a:extLst>
              <a:ext uri="{FF2B5EF4-FFF2-40B4-BE49-F238E27FC236}">
                <a16:creationId xmlns:a16="http://schemas.microsoft.com/office/drawing/2014/main" id="{18A0DD57-B968-E2BB-0BB4-4718FDF833BE}"/>
              </a:ext>
            </a:extLst>
          </p:cNvPr>
          <p:cNvSpPr>
            <a:spLocks noGrp="1"/>
          </p:cNvSpPr>
          <p:nvPr>
            <p:ph type="sldNum" sz="quarter" idx="5"/>
          </p:nvPr>
        </p:nvSpPr>
        <p:spPr/>
        <p:txBody>
          <a:bodyPr/>
          <a:lstStyle/>
          <a:p>
            <a:fld id="{FCFB8EF9-6D19-448F-99D4-5CD4D500528E}" type="slidenum">
              <a:rPr lang="en-CA" smtClean="0"/>
              <a:t>24</a:t>
            </a:fld>
            <a:endParaRPr lang="en-CA"/>
          </a:p>
        </p:txBody>
      </p:sp>
    </p:spTree>
    <p:extLst>
      <p:ext uri="{BB962C8B-B14F-4D97-AF65-F5344CB8AC3E}">
        <p14:creationId xmlns:p14="http://schemas.microsoft.com/office/powerpoint/2010/main" val="2380887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15BAA-9866-9B9C-B535-7C6E5829F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44FD1-FEC0-71B4-25C6-F5EB09417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9DDE7-F8A7-F59A-744C-1367C531B26F}"/>
              </a:ext>
            </a:extLst>
          </p:cNvPr>
          <p:cNvSpPr>
            <a:spLocks noGrp="1"/>
          </p:cNvSpPr>
          <p:nvPr>
            <p:ph type="body" idx="1"/>
          </p:nvPr>
        </p:nvSpPr>
        <p:spPr/>
        <p:txBody>
          <a:bodyPr/>
          <a:lstStyle/>
          <a:p>
            <a:r>
              <a:rPr lang="en-CA" dirty="0"/>
              <a:t>Contrast can be created in many different ways.</a:t>
            </a:r>
          </a:p>
          <a:p>
            <a:endParaRPr lang="en-CA" dirty="0"/>
          </a:p>
          <a:p>
            <a:r>
              <a:rPr lang="en-CA" dirty="0"/>
              <a:t>This reinforces that principles depend on elements.</a:t>
            </a:r>
          </a:p>
          <a:p>
            <a:endParaRPr lang="en-CA" dirty="0"/>
          </a:p>
        </p:txBody>
      </p:sp>
      <p:sp>
        <p:nvSpPr>
          <p:cNvPr id="4" name="Slide Number Placeholder 3">
            <a:extLst>
              <a:ext uri="{FF2B5EF4-FFF2-40B4-BE49-F238E27FC236}">
                <a16:creationId xmlns:a16="http://schemas.microsoft.com/office/drawing/2014/main" id="{5A1017C9-C511-4A3B-AB26-10CC15BA645C}"/>
              </a:ext>
            </a:extLst>
          </p:cNvPr>
          <p:cNvSpPr>
            <a:spLocks noGrp="1"/>
          </p:cNvSpPr>
          <p:nvPr>
            <p:ph type="sldNum" sz="quarter" idx="5"/>
          </p:nvPr>
        </p:nvSpPr>
        <p:spPr/>
        <p:txBody>
          <a:bodyPr/>
          <a:lstStyle/>
          <a:p>
            <a:fld id="{FCFB8EF9-6D19-448F-99D4-5CD4D500528E}" type="slidenum">
              <a:rPr lang="en-CA" smtClean="0"/>
              <a:t>25</a:t>
            </a:fld>
            <a:endParaRPr lang="en-CA"/>
          </a:p>
        </p:txBody>
      </p:sp>
    </p:spTree>
    <p:extLst>
      <p:ext uri="{BB962C8B-B14F-4D97-AF65-F5344CB8AC3E}">
        <p14:creationId xmlns:p14="http://schemas.microsoft.com/office/powerpoint/2010/main" val="36668930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B8882-E43C-DBD4-85A8-A5287CD12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E645E-CAED-E75B-A788-A2C70370A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3E8BBE-9CCA-D25E-3477-404975DBC632}"/>
              </a:ext>
            </a:extLst>
          </p:cNvPr>
          <p:cNvSpPr>
            <a:spLocks noGrp="1"/>
          </p:cNvSpPr>
          <p:nvPr>
            <p:ph type="body" idx="1"/>
          </p:nvPr>
        </p:nvSpPr>
        <p:spPr/>
        <p:txBody>
          <a:bodyPr/>
          <a:lstStyle/>
          <a:p>
            <a:r>
              <a:rPr lang="en-CA" dirty="0"/>
              <a:t>Contrast can be created in many different ways.</a:t>
            </a:r>
          </a:p>
          <a:p>
            <a:endParaRPr lang="en-CA" dirty="0"/>
          </a:p>
          <a:p>
            <a:r>
              <a:rPr lang="en-CA" dirty="0"/>
              <a:t>This reinforces that principles depend on elements.</a:t>
            </a:r>
          </a:p>
          <a:p>
            <a:endParaRPr lang="en-CA" dirty="0"/>
          </a:p>
        </p:txBody>
      </p:sp>
      <p:sp>
        <p:nvSpPr>
          <p:cNvPr id="4" name="Slide Number Placeholder 3">
            <a:extLst>
              <a:ext uri="{FF2B5EF4-FFF2-40B4-BE49-F238E27FC236}">
                <a16:creationId xmlns:a16="http://schemas.microsoft.com/office/drawing/2014/main" id="{75BA88EA-13B8-E602-9C74-B31F0E406027}"/>
              </a:ext>
            </a:extLst>
          </p:cNvPr>
          <p:cNvSpPr>
            <a:spLocks noGrp="1"/>
          </p:cNvSpPr>
          <p:nvPr>
            <p:ph type="sldNum" sz="quarter" idx="5"/>
          </p:nvPr>
        </p:nvSpPr>
        <p:spPr/>
        <p:txBody>
          <a:bodyPr/>
          <a:lstStyle/>
          <a:p>
            <a:fld id="{FCFB8EF9-6D19-448F-99D4-5CD4D500528E}" type="slidenum">
              <a:rPr lang="en-CA" smtClean="0"/>
              <a:t>26</a:t>
            </a:fld>
            <a:endParaRPr lang="en-CA"/>
          </a:p>
        </p:txBody>
      </p:sp>
    </p:spTree>
    <p:extLst>
      <p:ext uri="{BB962C8B-B14F-4D97-AF65-F5344CB8AC3E}">
        <p14:creationId xmlns:p14="http://schemas.microsoft.com/office/powerpoint/2010/main" val="35767777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often learn principles independently.</a:t>
            </a:r>
          </a:p>
          <a:p>
            <a:endParaRPr lang="en-CA" dirty="0"/>
          </a:p>
          <a:p>
            <a:r>
              <a:rPr lang="en-CA" dirty="0"/>
              <a:t>In reality:  All six appear simultaneously.</a:t>
            </a:r>
          </a:p>
          <a:p>
            <a:endParaRPr lang="en-CA" dirty="0"/>
          </a:p>
          <a:p>
            <a:r>
              <a:rPr lang="en-CA" dirty="0"/>
              <a:t>Can you find:</a:t>
            </a:r>
          </a:p>
          <a:p>
            <a:r>
              <a:rPr lang="en-CA" dirty="0"/>
              <a:t>✅ Balance</a:t>
            </a:r>
          </a:p>
          <a:p>
            <a:r>
              <a:rPr lang="en-CA" dirty="0"/>
              <a:t>✅ Proximity</a:t>
            </a:r>
          </a:p>
          <a:p>
            <a:r>
              <a:rPr lang="en-CA" dirty="0"/>
              <a:t>✅ Alignment</a:t>
            </a:r>
          </a:p>
          <a:p>
            <a:r>
              <a:rPr lang="en-CA" dirty="0"/>
              <a:t>✅ Repetition – font and colour</a:t>
            </a:r>
          </a:p>
          <a:p>
            <a:r>
              <a:rPr lang="en-CA" dirty="0"/>
              <a:t>✅ Contrast – yellow and red</a:t>
            </a:r>
          </a:p>
          <a:p>
            <a:r>
              <a:rPr lang="en-CA" dirty="0"/>
              <a:t>✅ Space</a:t>
            </a:r>
          </a:p>
          <a:p>
            <a:endParaRPr lang="en-CA" dirty="0"/>
          </a:p>
          <a:p>
            <a:r>
              <a:rPr lang="en-CA" b="1" dirty="0"/>
              <a:t>Visual</a:t>
            </a:r>
            <a:endParaRPr lang="en-CA" dirty="0"/>
          </a:p>
          <a:p>
            <a:r>
              <a:rPr lang="en-CA" dirty="0"/>
              <a:t>One well-designed advertisement</a:t>
            </a:r>
          </a:p>
          <a:p>
            <a:r>
              <a:rPr lang="en-CA" dirty="0"/>
              <a:t>Callouts identifying each principle.</a:t>
            </a:r>
          </a:p>
          <a:p>
            <a:endParaRPr lang="en-CA" dirty="0"/>
          </a:p>
          <a:p>
            <a:r>
              <a:rPr lang="en-CA" dirty="0"/>
              <a:t>Image From </a:t>
            </a:r>
            <a:r>
              <a:rPr lang="en-CA" dirty="0" err="1">
                <a:hlinkClick r:id="rId3"/>
              </a:rPr>
              <a:t>Zesto</a:t>
            </a:r>
            <a:r>
              <a:rPr lang="en-CA" dirty="0">
                <a:hlinkClick r:id="rId3"/>
              </a:rPr>
              <a:t> – Food Delivery Brand Campaign :: Behance</a:t>
            </a:r>
            <a:endParaRPr lang="en-CA" dirty="0"/>
          </a:p>
          <a:p>
            <a:r>
              <a:rPr lang="en-CA" dirty="0"/>
              <a:t>https://www.behance.net/gallery/243368997/Zesto-Food-Delivery-Brand-Campaign?utm_source=chatgpt.com</a:t>
            </a:r>
          </a:p>
        </p:txBody>
      </p:sp>
      <p:sp>
        <p:nvSpPr>
          <p:cNvPr id="4" name="Slide Number Placeholder 3"/>
          <p:cNvSpPr>
            <a:spLocks noGrp="1"/>
          </p:cNvSpPr>
          <p:nvPr>
            <p:ph type="sldNum" sz="quarter" idx="5"/>
          </p:nvPr>
        </p:nvSpPr>
        <p:spPr/>
        <p:txBody>
          <a:bodyPr/>
          <a:lstStyle/>
          <a:p>
            <a:fld id="{FCFB8EF9-6D19-448F-99D4-5CD4D500528E}" type="slidenum">
              <a:rPr lang="en-CA" smtClean="0"/>
              <a:t>27</a:t>
            </a:fld>
            <a:endParaRPr lang="en-CA"/>
          </a:p>
        </p:txBody>
      </p:sp>
    </p:spTree>
    <p:extLst>
      <p:ext uri="{BB962C8B-B14F-4D97-AF65-F5344CB8AC3E}">
        <p14:creationId xmlns:p14="http://schemas.microsoft.com/office/powerpoint/2010/main" val="3537301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principles support one another.</a:t>
            </a:r>
          </a:p>
          <a:p>
            <a:endParaRPr lang="en-CA" dirty="0"/>
          </a:p>
          <a:p>
            <a:r>
              <a:rPr lang="en-CA" dirty="0"/>
              <a:t>Removing one weakens the system.</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28</a:t>
            </a:fld>
            <a:endParaRPr lang="en-CA"/>
          </a:p>
        </p:txBody>
      </p:sp>
    </p:spTree>
    <p:extLst>
      <p:ext uri="{BB962C8B-B14F-4D97-AF65-F5344CB8AC3E}">
        <p14:creationId xmlns:p14="http://schemas.microsoft.com/office/powerpoint/2010/main" val="3713145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Projecting clean, excellent designs and mapping out their exact skeleton tells me the lecture should be design critique and reverse engineering.</a:t>
            </a:r>
          </a:p>
          <a:p>
            <a:endParaRPr lang="en-US" dirty="0"/>
          </a:p>
          <a:p>
            <a:r>
              <a:rPr lang="en-US" dirty="0"/>
              <a:t>This should become nearly half the presentation.</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29</a:t>
            </a:fld>
            <a:endParaRPr lang="en-CA"/>
          </a:p>
        </p:txBody>
      </p:sp>
    </p:spTree>
    <p:extLst>
      <p:ext uri="{BB962C8B-B14F-4D97-AF65-F5344CB8AC3E}">
        <p14:creationId xmlns:p14="http://schemas.microsoft.com/office/powerpoint/2010/main" val="3150147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Professional designers develop the ability to see structure.</a:t>
            </a:r>
          </a:p>
          <a:p>
            <a:endParaRPr lang="en-CA" dirty="0"/>
          </a:p>
          <a:p>
            <a:r>
              <a:rPr lang="en-CA" dirty="0"/>
              <a:t>Most audiences see the final design.</a:t>
            </a:r>
          </a:p>
          <a:p>
            <a:endParaRPr lang="en-CA" dirty="0"/>
          </a:p>
          <a:p>
            <a:r>
              <a:rPr lang="en-CA" dirty="0"/>
              <a:t>Designers see the skeleton.</a:t>
            </a:r>
          </a:p>
          <a:p>
            <a:endParaRPr lang="en-CA" dirty="0"/>
          </a:p>
          <a:p>
            <a:r>
              <a:rPr lang="en-CA" dirty="0"/>
              <a:t>Today we are going to learn how to see the skeleton.</a:t>
            </a:r>
          </a:p>
        </p:txBody>
      </p:sp>
      <p:sp>
        <p:nvSpPr>
          <p:cNvPr id="4" name="Slide Number Placeholder 3"/>
          <p:cNvSpPr>
            <a:spLocks noGrp="1"/>
          </p:cNvSpPr>
          <p:nvPr>
            <p:ph type="sldNum" sz="quarter" idx="5"/>
          </p:nvPr>
        </p:nvSpPr>
        <p:spPr/>
        <p:txBody>
          <a:bodyPr/>
          <a:lstStyle/>
          <a:p>
            <a:fld id="{FCFB8EF9-6D19-448F-99D4-5CD4D500528E}" type="slidenum">
              <a:rPr lang="en-CA" smtClean="0"/>
              <a:t>30</a:t>
            </a:fld>
            <a:endParaRPr lang="en-CA"/>
          </a:p>
        </p:txBody>
      </p:sp>
    </p:spTree>
    <p:extLst>
      <p:ext uri="{BB962C8B-B14F-4D97-AF65-F5344CB8AC3E}">
        <p14:creationId xmlns:p14="http://schemas.microsoft.com/office/powerpoint/2010/main" val="2425827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10478-6215-0771-F593-F18BF3EC3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13E7F-20CE-944B-8784-4B4060F1C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9A279-433B-F5A6-2297-5C1B5C5F2E5F}"/>
              </a:ext>
            </a:extLst>
          </p:cNvPr>
          <p:cNvSpPr>
            <a:spLocks noGrp="1"/>
          </p:cNvSpPr>
          <p:nvPr>
            <p:ph type="body" idx="1"/>
          </p:nvPr>
        </p:nvSpPr>
        <p:spPr/>
        <p:txBody>
          <a:bodyPr/>
          <a:lstStyle/>
          <a:p>
            <a:r>
              <a:rPr lang="en-CA" dirty="0"/>
              <a:t>Professional designers develop the ability to see structure.</a:t>
            </a:r>
          </a:p>
          <a:p>
            <a:endParaRPr lang="en-CA" dirty="0"/>
          </a:p>
          <a:p>
            <a:r>
              <a:rPr lang="en-CA" dirty="0"/>
              <a:t>Most audiences see the final design.</a:t>
            </a:r>
          </a:p>
          <a:p>
            <a:endParaRPr lang="en-CA" dirty="0"/>
          </a:p>
          <a:p>
            <a:r>
              <a:rPr lang="en-CA" dirty="0"/>
              <a:t>Designers see the skeleton.</a:t>
            </a:r>
          </a:p>
          <a:p>
            <a:endParaRPr lang="en-CA" dirty="0"/>
          </a:p>
          <a:p>
            <a:r>
              <a:rPr lang="en-CA" dirty="0"/>
              <a:t>Today we are going to learn how to see the skeleton.</a:t>
            </a:r>
          </a:p>
          <a:p>
            <a:endParaRPr lang="en-CA" dirty="0"/>
          </a:p>
          <a:p>
            <a:r>
              <a:rPr lang="en-CA" dirty="0"/>
              <a:t>POINT OUT</a:t>
            </a:r>
          </a:p>
          <a:p>
            <a:pPr lvl="0"/>
            <a:r>
              <a:rPr lang="en-CA" dirty="0"/>
              <a:t>Grid lines</a:t>
            </a:r>
          </a:p>
          <a:p>
            <a:pPr lvl="0"/>
            <a:r>
              <a:rPr lang="en-CA" dirty="0"/>
              <a:t>Focal point</a:t>
            </a:r>
          </a:p>
          <a:p>
            <a:pPr lvl="0"/>
            <a:r>
              <a:rPr lang="en-CA" dirty="0"/>
              <a:t>Alignment lines</a:t>
            </a:r>
          </a:p>
          <a:p>
            <a:pPr lvl="0"/>
            <a:r>
              <a:rPr lang="en-CA" dirty="0"/>
              <a:t>Contrast locations</a:t>
            </a:r>
          </a:p>
          <a:p>
            <a:pPr lvl="0"/>
            <a:r>
              <a:rPr lang="en-CA" dirty="0"/>
              <a:t>White space zones</a:t>
            </a:r>
          </a:p>
          <a:p>
            <a:endParaRPr lang="en-CA" dirty="0"/>
          </a:p>
          <a:p>
            <a:endParaRPr lang="en-CA" dirty="0"/>
          </a:p>
        </p:txBody>
      </p:sp>
      <p:sp>
        <p:nvSpPr>
          <p:cNvPr id="4" name="Slide Number Placeholder 3">
            <a:extLst>
              <a:ext uri="{FF2B5EF4-FFF2-40B4-BE49-F238E27FC236}">
                <a16:creationId xmlns:a16="http://schemas.microsoft.com/office/drawing/2014/main" id="{A38F10BC-D2F6-EED7-E909-FDB918FACCC4}"/>
              </a:ext>
            </a:extLst>
          </p:cNvPr>
          <p:cNvSpPr>
            <a:spLocks noGrp="1"/>
          </p:cNvSpPr>
          <p:nvPr>
            <p:ph type="sldNum" sz="quarter" idx="5"/>
          </p:nvPr>
        </p:nvSpPr>
        <p:spPr/>
        <p:txBody>
          <a:bodyPr/>
          <a:lstStyle/>
          <a:p>
            <a:fld id="{FCFB8EF9-6D19-448F-99D4-5CD4D500528E}" type="slidenum">
              <a:rPr lang="en-CA" smtClean="0"/>
              <a:t>31</a:t>
            </a:fld>
            <a:endParaRPr lang="en-CA"/>
          </a:p>
        </p:txBody>
      </p:sp>
    </p:spTree>
    <p:extLst>
      <p:ext uri="{BB962C8B-B14F-4D97-AF65-F5344CB8AC3E}">
        <p14:creationId xmlns:p14="http://schemas.microsoft.com/office/powerpoint/2010/main" val="1471226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Students are often shocked to discover how much structure exists underneath a design.</a:t>
            </a:r>
          </a:p>
          <a:p>
            <a:endParaRPr lang="en-CA" dirty="0"/>
          </a:p>
          <a:p>
            <a:r>
              <a:rPr lang="en-CA" dirty="0"/>
              <a:t>This is a perfect bridge back to Alignment.</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32</a:t>
            </a:fld>
            <a:endParaRPr lang="en-CA"/>
          </a:p>
        </p:txBody>
      </p:sp>
    </p:spTree>
    <p:extLst>
      <p:ext uri="{BB962C8B-B14F-4D97-AF65-F5344CB8AC3E}">
        <p14:creationId xmlns:p14="http://schemas.microsoft.com/office/powerpoint/2010/main" val="18560919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63CEA-BAA0-D97A-7485-20C02685B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95DB8-CA44-2344-F076-A50CA3AC5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572BA-2186-3F20-DBD6-CB75669968F7}"/>
              </a:ext>
            </a:extLst>
          </p:cNvPr>
          <p:cNvSpPr>
            <a:spLocks noGrp="1"/>
          </p:cNvSpPr>
          <p:nvPr>
            <p:ph type="body" idx="1"/>
          </p:nvPr>
        </p:nvSpPr>
        <p:spPr/>
        <p:txBody>
          <a:bodyPr/>
          <a:lstStyle/>
          <a:p>
            <a:r>
              <a:rPr lang="en-CA" dirty="0"/>
              <a:t>Students are often shocked to discover how much structure exists underneath a design.</a:t>
            </a:r>
          </a:p>
          <a:p>
            <a:endParaRPr lang="en-CA" dirty="0"/>
          </a:p>
          <a:p>
            <a:r>
              <a:rPr lang="en-CA" dirty="0"/>
              <a:t>This is a perfect bridge back to Alignment.</a:t>
            </a:r>
          </a:p>
          <a:p>
            <a:endParaRPr lang="en-CA" dirty="0"/>
          </a:p>
        </p:txBody>
      </p:sp>
      <p:sp>
        <p:nvSpPr>
          <p:cNvPr id="4" name="Slide Number Placeholder 3">
            <a:extLst>
              <a:ext uri="{FF2B5EF4-FFF2-40B4-BE49-F238E27FC236}">
                <a16:creationId xmlns:a16="http://schemas.microsoft.com/office/drawing/2014/main" id="{A8A00049-F147-5835-51DD-5B256A3A3278}"/>
              </a:ext>
            </a:extLst>
          </p:cNvPr>
          <p:cNvSpPr>
            <a:spLocks noGrp="1"/>
          </p:cNvSpPr>
          <p:nvPr>
            <p:ph type="sldNum" sz="quarter" idx="5"/>
          </p:nvPr>
        </p:nvSpPr>
        <p:spPr/>
        <p:txBody>
          <a:bodyPr/>
          <a:lstStyle/>
          <a:p>
            <a:fld id="{FCFB8EF9-6D19-448F-99D4-5CD4D500528E}" type="slidenum">
              <a:rPr lang="en-CA" smtClean="0"/>
              <a:t>33</a:t>
            </a:fld>
            <a:endParaRPr lang="en-CA"/>
          </a:p>
        </p:txBody>
      </p:sp>
    </p:spTree>
    <p:extLst>
      <p:ext uri="{BB962C8B-B14F-4D97-AF65-F5344CB8AC3E}">
        <p14:creationId xmlns:p14="http://schemas.microsoft.com/office/powerpoint/2010/main" val="20971405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Ask students:</a:t>
            </a:r>
          </a:p>
          <a:p>
            <a:r>
              <a:rPr lang="en-CA" dirty="0"/>
              <a:t>Where does your eye go first?</a:t>
            </a:r>
          </a:p>
          <a:p>
            <a:endParaRPr lang="en-CA" dirty="0"/>
          </a:p>
          <a:p>
            <a:r>
              <a:rPr lang="en-CA" dirty="0"/>
              <a:t>Second?</a:t>
            </a:r>
          </a:p>
          <a:p>
            <a:endParaRPr lang="en-CA" dirty="0"/>
          </a:p>
          <a:p>
            <a:r>
              <a:rPr lang="en-CA" dirty="0"/>
              <a:t>Third?</a:t>
            </a:r>
          </a:p>
          <a:p>
            <a:endParaRPr lang="en-CA" dirty="0"/>
          </a:p>
          <a:p>
            <a:r>
              <a:rPr lang="en-CA" b="1" dirty="0">
                <a:highlight>
                  <a:srgbClr val="FFFF00"/>
                </a:highlight>
              </a:rPr>
              <a:t>Then reveal annotations.</a:t>
            </a:r>
          </a:p>
          <a:p>
            <a:endParaRPr lang="en-CA" dirty="0"/>
          </a:p>
          <a:p>
            <a:r>
              <a:rPr lang="en-CA" dirty="0"/>
              <a:t>Contrast creates visual magnets.</a:t>
            </a:r>
          </a:p>
          <a:p>
            <a:r>
              <a:rPr lang="en-CA" dirty="0"/>
              <a:t>Designers intentionally place them.</a:t>
            </a:r>
          </a:p>
        </p:txBody>
      </p:sp>
      <p:sp>
        <p:nvSpPr>
          <p:cNvPr id="4" name="Slide Number Placeholder 3"/>
          <p:cNvSpPr>
            <a:spLocks noGrp="1"/>
          </p:cNvSpPr>
          <p:nvPr>
            <p:ph type="sldNum" sz="quarter" idx="5"/>
          </p:nvPr>
        </p:nvSpPr>
        <p:spPr/>
        <p:txBody>
          <a:bodyPr/>
          <a:lstStyle/>
          <a:p>
            <a:fld id="{FCFB8EF9-6D19-448F-99D4-5CD4D500528E}" type="slidenum">
              <a:rPr lang="en-CA" smtClean="0"/>
              <a:t>34</a:t>
            </a:fld>
            <a:endParaRPr lang="en-CA"/>
          </a:p>
        </p:txBody>
      </p:sp>
    </p:spTree>
    <p:extLst>
      <p:ext uri="{BB962C8B-B14F-4D97-AF65-F5344CB8AC3E}">
        <p14:creationId xmlns:p14="http://schemas.microsoft.com/office/powerpoint/2010/main" val="1876363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Designers create a reading experience.</a:t>
            </a:r>
          </a:p>
          <a:p>
            <a:endParaRPr lang="en-CA" dirty="0"/>
          </a:p>
          <a:p>
            <a:r>
              <a:rPr lang="en-CA" dirty="0"/>
              <a:t>They control where the audience travels next.</a:t>
            </a:r>
          </a:p>
          <a:p>
            <a:endParaRPr lang="en-CA" dirty="0"/>
          </a:p>
          <a:p>
            <a:r>
              <a:rPr lang="en-CA" dirty="0"/>
              <a:t>Ask students:</a:t>
            </a:r>
          </a:p>
          <a:p>
            <a:r>
              <a:rPr lang="en-CA" dirty="0"/>
              <a:t>Where does your eye go first?</a:t>
            </a:r>
          </a:p>
          <a:p>
            <a:r>
              <a:rPr lang="en-CA" dirty="0"/>
              <a:t>Second?</a:t>
            </a:r>
          </a:p>
          <a:p>
            <a:r>
              <a:rPr lang="en-CA" dirty="0"/>
              <a:t>Third?</a:t>
            </a:r>
          </a:p>
          <a:p>
            <a:r>
              <a:rPr lang="en-CA" dirty="0"/>
              <a:t>Then reveal annotations.</a:t>
            </a:r>
          </a:p>
          <a:p>
            <a:endParaRPr lang="en-CA" dirty="0"/>
          </a:p>
          <a:p>
            <a:endParaRPr lang="en-CA" dirty="0"/>
          </a:p>
          <a:p>
            <a:r>
              <a:rPr lang="en-CA" dirty="0"/>
              <a:t>Contrast creates visual magnets.</a:t>
            </a:r>
          </a:p>
          <a:p>
            <a:r>
              <a:rPr lang="en-CA" dirty="0"/>
              <a:t>Designers intentionally place them.</a:t>
            </a:r>
          </a:p>
          <a:p>
            <a:endParaRPr lang="en-CA" dirty="0"/>
          </a:p>
          <a:p>
            <a:endParaRPr lang="en-CA" dirty="0"/>
          </a:p>
          <a:p>
            <a:r>
              <a:rPr lang="en-CA" dirty="0"/>
              <a:t>Connect directly back to Hierarchy.</a:t>
            </a:r>
          </a:p>
        </p:txBody>
      </p:sp>
      <p:sp>
        <p:nvSpPr>
          <p:cNvPr id="4" name="Slide Number Placeholder 3"/>
          <p:cNvSpPr>
            <a:spLocks noGrp="1"/>
          </p:cNvSpPr>
          <p:nvPr>
            <p:ph type="sldNum" sz="quarter" idx="5"/>
          </p:nvPr>
        </p:nvSpPr>
        <p:spPr/>
        <p:txBody>
          <a:bodyPr/>
          <a:lstStyle/>
          <a:p>
            <a:fld id="{FCFB8EF9-6D19-448F-99D4-5CD4D500528E}" type="slidenum">
              <a:rPr lang="en-CA" smtClean="0"/>
              <a:t>35</a:t>
            </a:fld>
            <a:endParaRPr lang="en-CA"/>
          </a:p>
        </p:txBody>
      </p:sp>
    </p:spTree>
    <p:extLst>
      <p:ext uri="{BB962C8B-B14F-4D97-AF65-F5344CB8AC3E}">
        <p14:creationId xmlns:p14="http://schemas.microsoft.com/office/powerpoint/2010/main" val="5323424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What happens if we remove:</a:t>
            </a:r>
          </a:p>
          <a:p>
            <a:pPr marL="174708" indent="-174708">
              <a:buFont typeface="Arial" panose="020B0604020202020204" pitchFamily="34" charset="0"/>
              <a:buChar char="•"/>
            </a:pPr>
            <a:r>
              <a:rPr lang="en-CA" dirty="0"/>
              <a:t>Contrast?</a:t>
            </a:r>
          </a:p>
          <a:p>
            <a:pPr marL="174708" indent="-174708">
              <a:buFont typeface="Arial" panose="020B0604020202020204" pitchFamily="34" charset="0"/>
              <a:buChar char="•"/>
            </a:pPr>
            <a:r>
              <a:rPr lang="en-CA" dirty="0"/>
              <a:t>Alignment?</a:t>
            </a:r>
          </a:p>
          <a:p>
            <a:pPr marL="174708" indent="-174708">
              <a:buFont typeface="Arial" panose="020B0604020202020204" pitchFamily="34" charset="0"/>
              <a:buChar char="•"/>
            </a:pPr>
            <a:r>
              <a:rPr lang="en-CA" dirty="0"/>
              <a:t>Space?</a:t>
            </a:r>
          </a:p>
          <a:p>
            <a:r>
              <a:rPr lang="en-CA" dirty="0"/>
              <a:t>Students begin seeing how important each principle is.</a:t>
            </a:r>
          </a:p>
        </p:txBody>
      </p:sp>
      <p:sp>
        <p:nvSpPr>
          <p:cNvPr id="4" name="Slide Number Placeholder 3"/>
          <p:cNvSpPr>
            <a:spLocks noGrp="1"/>
          </p:cNvSpPr>
          <p:nvPr>
            <p:ph type="sldNum" sz="quarter" idx="5"/>
          </p:nvPr>
        </p:nvSpPr>
        <p:spPr/>
        <p:txBody>
          <a:bodyPr/>
          <a:lstStyle/>
          <a:p>
            <a:fld id="{FCFB8EF9-6D19-448F-99D4-5CD4D500528E}" type="slidenum">
              <a:rPr lang="en-CA" smtClean="0"/>
              <a:t>36</a:t>
            </a:fld>
            <a:endParaRPr lang="en-CA"/>
          </a:p>
        </p:txBody>
      </p:sp>
    </p:spTree>
    <p:extLst>
      <p:ext uri="{BB962C8B-B14F-4D97-AF65-F5344CB8AC3E}">
        <p14:creationId xmlns:p14="http://schemas.microsoft.com/office/powerpoint/2010/main" val="17883178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Elements alone don’t mean much. Principles direct them. </a:t>
            </a:r>
            <a:endParaRPr lang="en-CA" dirty="0"/>
          </a:p>
          <a:p>
            <a:endParaRPr lang="en-CA" dirty="0"/>
          </a:p>
          <a:p>
            <a:r>
              <a:rPr lang="en-US" dirty="0"/>
              <a:t>“Notice: an element on its own doesn’t mean much. A line is just a line—but when you apply principles, it becomes a guide for the eye.”</a:t>
            </a:r>
          </a:p>
          <a:p>
            <a:endParaRPr lang="en-US" dirty="0"/>
          </a:p>
          <a:p>
            <a:r>
              <a:rPr lang="en-US" dirty="0"/>
              <a:t>“A </a:t>
            </a:r>
            <a:r>
              <a:rPr lang="en-US" dirty="0" err="1"/>
              <a:t>colour</a:t>
            </a:r>
            <a:r>
              <a:rPr lang="en-US" dirty="0"/>
              <a:t> is just red—but with principles like contrast and repetition, it becomes a Coca-Cola campaign.”</a:t>
            </a:r>
          </a:p>
          <a:p>
            <a:endParaRPr lang="en-US" dirty="0"/>
          </a:p>
          <a:p>
            <a:r>
              <a:rPr lang="en-US" dirty="0"/>
              <a:t>“Professional design = intentional combination.”</a:t>
            </a:r>
            <a:br>
              <a:rPr lang="en-US" dirty="0"/>
            </a:br>
            <a:endParaRPr lang="en-US" dirty="0"/>
          </a:p>
          <a:p>
            <a:r>
              <a:rPr lang="en-US" b="1" dirty="0"/>
              <a:t>Visuals:</a:t>
            </a:r>
            <a:r>
              <a:rPr lang="en-US" dirty="0"/>
              <a:t> One ad annotated with both elements (</a:t>
            </a:r>
            <a:r>
              <a:rPr lang="en-US" dirty="0" err="1"/>
              <a:t>colour</a:t>
            </a:r>
            <a:r>
              <a:rPr lang="en-US" dirty="0"/>
              <a:t>, line) + principles (contrast, proximity).</a:t>
            </a:r>
          </a:p>
          <a:p>
            <a:endParaRPr lang="en-CA" dirty="0"/>
          </a:p>
          <a:p>
            <a:endParaRPr lang="en-CA" dirty="0"/>
          </a:p>
          <a:p>
            <a:r>
              <a:rPr dirty="0"/>
              <a:t>Colour + contrast = Coca-Cola campaign. </a:t>
            </a:r>
            <a:endParaRPr lang="en-CA" dirty="0"/>
          </a:p>
          <a:p>
            <a:r>
              <a:rPr dirty="0"/>
              <a:t>Line + direction = Nike ad. </a:t>
            </a:r>
            <a:endParaRPr lang="en-CA" dirty="0"/>
          </a:p>
          <a:p>
            <a:endParaRPr lang="en-CA" dirty="0"/>
          </a:p>
          <a:p>
            <a:r>
              <a:rPr dirty="0"/>
              <a:t>Ask: How do elements + principles interact here?</a:t>
            </a:r>
            <a:endParaRPr lang="en-CA" dirty="0"/>
          </a:p>
          <a:p>
            <a:endParaRPr lang="en-CA" dirty="0"/>
          </a:p>
          <a:p>
            <a:r>
              <a:rPr lang="en-CA" dirty="0"/>
              <a:t>Images from</a:t>
            </a:r>
          </a:p>
          <a:p>
            <a:r>
              <a:rPr lang="en-CA" dirty="0"/>
              <a:t>https://sl.bing.net/hDM993JyMzk</a:t>
            </a:r>
          </a:p>
          <a:p>
            <a:r>
              <a:rPr lang="en-CA" dirty="0"/>
              <a:t>https://sl.bing.net/fLFed3UiXKe</a:t>
            </a:r>
          </a:p>
          <a:p>
            <a:r>
              <a:rPr lang="en-CA" dirty="0"/>
              <a:t>https://sl.bing.net/jO5frKUfJAW</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where students connect theory to outcomes.</a:t>
            </a:r>
          </a:p>
          <a:p>
            <a:pPr marL="174708" indent="-174708">
              <a:buFont typeface="Arial" panose="020B0604020202020204" pitchFamily="34" charset="0"/>
              <a:buChar char="•"/>
            </a:pPr>
            <a:r>
              <a:rPr lang="en-CA" dirty="0"/>
              <a:t>The goal is never: "Use contrast."</a:t>
            </a:r>
          </a:p>
          <a:p>
            <a:pPr marL="174708" indent="-174708">
              <a:buFont typeface="Arial" panose="020B0604020202020204" pitchFamily="34" charset="0"/>
              <a:buChar char="•"/>
            </a:pPr>
            <a:r>
              <a:rPr lang="en-CA" dirty="0"/>
              <a:t>The goal is: "Help the audience understand."</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38</a:t>
            </a:fld>
            <a:endParaRPr lang="en-CA"/>
          </a:p>
        </p:txBody>
      </p:sp>
    </p:spTree>
    <p:extLst>
      <p:ext uri="{BB962C8B-B14F-4D97-AF65-F5344CB8AC3E}">
        <p14:creationId xmlns:p14="http://schemas.microsoft.com/office/powerpoint/2010/main" val="30218023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essentially what the entire presentation is teaching.</a:t>
            </a:r>
          </a:p>
          <a:p>
            <a:r>
              <a:rPr lang="en-CA" dirty="0"/>
              <a:t>To see a design differently.</a:t>
            </a:r>
          </a:p>
          <a:p>
            <a:endParaRPr lang="en-CA" dirty="0"/>
          </a:p>
          <a:p>
            <a:r>
              <a:rPr lang="en-CA" dirty="0"/>
              <a:t>Audience sees:</a:t>
            </a:r>
          </a:p>
          <a:p>
            <a:r>
              <a:rPr lang="en-CA" dirty="0"/>
              <a:t>Colours</a:t>
            </a:r>
          </a:p>
          <a:p>
            <a:r>
              <a:rPr lang="en-CA" dirty="0"/>
              <a:t>Images</a:t>
            </a:r>
          </a:p>
          <a:p>
            <a:r>
              <a:rPr lang="en-CA" dirty="0"/>
              <a:t>Words</a:t>
            </a:r>
          </a:p>
          <a:p>
            <a:endParaRPr lang="en-CA" dirty="0"/>
          </a:p>
          <a:p>
            <a:r>
              <a:rPr lang="en-US" dirty="0"/>
              <a:t>Designer sees:</a:t>
            </a:r>
          </a:p>
          <a:p>
            <a:r>
              <a:rPr lang="en-US" dirty="0"/>
              <a:t>Hierarchy</a:t>
            </a:r>
          </a:p>
          <a:p>
            <a:r>
              <a:rPr lang="en-US" dirty="0"/>
              <a:t>Contrast points</a:t>
            </a:r>
          </a:p>
          <a:p>
            <a:r>
              <a:rPr lang="en-US" dirty="0"/>
              <a:t>Reading path</a:t>
            </a:r>
          </a:p>
          <a:p>
            <a:r>
              <a:rPr lang="en-US" dirty="0"/>
              <a:t>Grid structure</a:t>
            </a:r>
          </a:p>
          <a:p>
            <a:r>
              <a:rPr lang="en-US" dirty="0"/>
              <a:t>Alignment system</a:t>
            </a:r>
          </a:p>
          <a:p>
            <a:r>
              <a:rPr lang="en-US" dirty="0"/>
              <a:t>White space strategy</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39</a:t>
            </a:fld>
            <a:endParaRPr lang="en-CA"/>
          </a:p>
        </p:txBody>
      </p:sp>
    </p:spTree>
    <p:extLst>
      <p:ext uri="{BB962C8B-B14F-4D97-AF65-F5344CB8AC3E}">
        <p14:creationId xmlns:p14="http://schemas.microsoft.com/office/powerpoint/2010/main" val="4106153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CA" dirty="0"/>
              <a:t>This becomes a tool students can use for every future critique.</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40</a:t>
            </a:fld>
            <a:endParaRPr lang="en-CA"/>
          </a:p>
        </p:txBody>
      </p:sp>
    </p:spTree>
    <p:extLst>
      <p:ext uri="{BB962C8B-B14F-4D97-AF65-F5344CB8AC3E}">
        <p14:creationId xmlns:p14="http://schemas.microsoft.com/office/powerpoint/2010/main" val="3275928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FCFB8EF9-6D19-448F-99D4-5CD4D500528E}" type="slidenum">
              <a:rPr lang="en-CA" smtClean="0"/>
              <a:t>41</a:t>
            </a:fld>
            <a:endParaRPr lang="en-CA"/>
          </a:p>
        </p:txBody>
      </p:sp>
    </p:spTree>
    <p:extLst>
      <p:ext uri="{BB962C8B-B14F-4D97-AF65-F5344CB8AC3E}">
        <p14:creationId xmlns:p14="http://schemas.microsoft.com/office/powerpoint/2010/main" val="428839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Elements of Design are the building materials.</a:t>
            </a:r>
          </a:p>
          <a:p>
            <a:endParaRPr lang="en-CA" dirty="0"/>
          </a:p>
          <a:p>
            <a:r>
              <a:rPr lang="en-CA" dirty="0"/>
              <a:t>The Principles of Design are the organizational systems.</a:t>
            </a:r>
          </a:p>
          <a:p>
            <a:endParaRPr lang="en-CA" dirty="0"/>
          </a:p>
          <a:p>
            <a:r>
              <a:rPr lang="en-CA" dirty="0"/>
              <a:t>Excellent designers do not think about them separately.</a:t>
            </a:r>
          </a:p>
          <a:p>
            <a:endParaRPr lang="en-CA" dirty="0"/>
          </a:p>
          <a:p>
            <a:r>
              <a:rPr lang="en-CA" dirty="0"/>
              <a:t>They use both simultaneously to create hierarchy, structure information, guide attention, and communicate a message effectively.</a:t>
            </a:r>
          </a:p>
          <a:p>
            <a:endParaRPr lang="en-CA" dirty="0"/>
          </a:p>
        </p:txBody>
      </p:sp>
      <p:sp>
        <p:nvSpPr>
          <p:cNvPr id="4" name="Slide Number Placeholder 3"/>
          <p:cNvSpPr>
            <a:spLocks noGrp="1"/>
          </p:cNvSpPr>
          <p:nvPr>
            <p:ph type="sldNum" sz="quarter" idx="5"/>
          </p:nvPr>
        </p:nvSpPr>
        <p:spPr/>
        <p:txBody>
          <a:bodyPr/>
          <a:lstStyle/>
          <a:p>
            <a:fld id="{FCFB8EF9-6D19-448F-99D4-5CD4D500528E}" type="slidenum">
              <a:rPr lang="en-CA" smtClean="0"/>
              <a:t>42</a:t>
            </a:fld>
            <a:endParaRPr lang="en-CA"/>
          </a:p>
        </p:txBody>
      </p:sp>
    </p:spTree>
    <p:extLst>
      <p:ext uri="{BB962C8B-B14F-4D97-AF65-F5344CB8AC3E}">
        <p14:creationId xmlns:p14="http://schemas.microsoft.com/office/powerpoint/2010/main" val="28142160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8298-4134-717A-73AA-66BA2DF2E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1B77F-EBFB-AED2-71FE-7A502611D418}"/>
              </a:ext>
            </a:extLst>
          </p:cNvPr>
          <p:cNvSpPr>
            <a:spLocks noGrp="1" noRot="1" noChangeAspect="1"/>
          </p:cNvSpPr>
          <p:nvPr>
            <p:ph type="sldImg"/>
          </p:nvPr>
        </p:nvSpPr>
        <p:spPr>
          <a:xfrm>
            <a:off x="1657350" y="196850"/>
            <a:ext cx="3276600" cy="2457450"/>
          </a:xfrm>
        </p:spPr>
      </p:sp>
      <p:sp>
        <p:nvSpPr>
          <p:cNvPr id="3" name="Notes Placeholder 2">
            <a:extLst>
              <a:ext uri="{FF2B5EF4-FFF2-40B4-BE49-F238E27FC236}">
                <a16:creationId xmlns:a16="http://schemas.microsoft.com/office/drawing/2014/main" id="{F2675B3F-90DF-50AC-2AA0-4AF83E841C4C}"/>
              </a:ext>
            </a:extLst>
          </p:cNvPr>
          <p:cNvSpPr>
            <a:spLocks noGrp="1"/>
          </p:cNvSpPr>
          <p:nvPr>
            <p:ph type="body" idx="1"/>
          </p:nvPr>
        </p:nvSpPr>
        <p:spPr/>
        <p:txBody>
          <a:bodyPr/>
          <a:lstStyle/>
          <a:p>
            <a:r>
              <a:rPr lang="en-US" dirty="0"/>
              <a:t>To this point, we have studied both the Elements and Principles of Design.</a:t>
            </a:r>
          </a:p>
          <a:p>
            <a:endParaRPr lang="en-US" dirty="0"/>
          </a:p>
          <a:p>
            <a:r>
              <a:rPr lang="en-US" dirty="0"/>
              <a:t>It can be tempting to think of these as separate topics, but professional designers rarely think about them individually.</a:t>
            </a:r>
          </a:p>
          <a:p>
            <a:endParaRPr lang="en-US" dirty="0"/>
          </a:p>
          <a:p>
            <a:r>
              <a:rPr lang="en-US" dirty="0"/>
              <a:t>The Elements of Design are the building blocks.</a:t>
            </a:r>
          </a:p>
          <a:p>
            <a:endParaRPr lang="en-US" dirty="0"/>
          </a:p>
          <a:p>
            <a:r>
              <a:rPr lang="en-US" dirty="0"/>
              <a:t>The Principles of Design are the ways we organize those building blocks.</a:t>
            </a:r>
          </a:p>
          <a:p>
            <a:endParaRPr lang="en-US" dirty="0"/>
          </a:p>
          <a:p>
            <a:r>
              <a:rPr lang="en-US" dirty="0"/>
              <a:t>Think of it this way:</a:t>
            </a:r>
          </a:p>
          <a:p>
            <a:pPr marL="174708" indent="-174708">
              <a:buFont typeface="Arial" panose="020B0604020202020204" pitchFamily="34" charset="0"/>
              <a:buChar char="•"/>
            </a:pPr>
            <a:r>
              <a:rPr lang="en-US" dirty="0"/>
              <a:t>The Elements are your ingredients.</a:t>
            </a:r>
          </a:p>
          <a:p>
            <a:pPr marL="174708" indent="-174708">
              <a:buFont typeface="Arial" panose="020B0604020202020204" pitchFamily="34" charset="0"/>
              <a:buChar char="•"/>
            </a:pPr>
            <a:r>
              <a:rPr lang="en-US" dirty="0"/>
              <a:t>The Principles are your recipe.</a:t>
            </a:r>
          </a:p>
          <a:p>
            <a:endParaRPr lang="en-US" dirty="0"/>
          </a:p>
          <a:p>
            <a:r>
              <a:rPr lang="en-US" dirty="0"/>
              <a:t>Neither can work effectively without the other.</a:t>
            </a:r>
          </a:p>
          <a:p>
            <a:endParaRPr lang="en-US" dirty="0"/>
          </a:p>
          <a:p>
            <a:r>
              <a:rPr lang="en-US" dirty="0"/>
              <a:t>For example:</a:t>
            </a:r>
          </a:p>
          <a:p>
            <a:pPr marL="174708" indent="-174708">
              <a:buFont typeface="Arial" panose="020B0604020202020204" pitchFamily="34" charset="0"/>
              <a:buChar char="•"/>
            </a:pPr>
            <a:r>
              <a:rPr lang="en-US" dirty="0"/>
              <a:t>Colour can create contrast.</a:t>
            </a:r>
          </a:p>
          <a:p>
            <a:pPr marL="174708" indent="-174708">
              <a:buFont typeface="Arial" panose="020B0604020202020204" pitchFamily="34" charset="0"/>
              <a:buChar char="•"/>
            </a:pPr>
            <a:r>
              <a:rPr lang="en-US" dirty="0"/>
              <a:t>Size can create hierarchy.</a:t>
            </a:r>
          </a:p>
          <a:p>
            <a:pPr marL="174708" indent="-174708">
              <a:buFont typeface="Arial" panose="020B0604020202020204" pitchFamily="34" charset="0"/>
              <a:buChar char="•"/>
            </a:pPr>
            <a:r>
              <a:rPr lang="en-US" dirty="0"/>
              <a:t>Lines can create direction.</a:t>
            </a:r>
          </a:p>
          <a:p>
            <a:pPr marL="174708" indent="-174708">
              <a:buFont typeface="Arial" panose="020B0604020202020204" pitchFamily="34" charset="0"/>
              <a:buChar char="•"/>
            </a:pPr>
            <a:r>
              <a:rPr lang="en-US" dirty="0"/>
              <a:t>Shapes can help establish balance.</a:t>
            </a:r>
          </a:p>
          <a:p>
            <a:pPr marL="174708" indent="-174708">
              <a:buFont typeface="Arial" panose="020B0604020202020204" pitchFamily="34" charset="0"/>
              <a:buChar char="•"/>
            </a:pPr>
            <a:r>
              <a:rPr lang="en-US" dirty="0"/>
              <a:t>Texture can create emphasis.</a:t>
            </a:r>
          </a:p>
          <a:p>
            <a:pPr marL="174708" indent="-174708">
              <a:buFont typeface="Arial" panose="020B0604020202020204" pitchFamily="34" charset="0"/>
              <a:buChar char="•"/>
            </a:pPr>
            <a:r>
              <a:rPr lang="en-US" dirty="0"/>
              <a:t>Space can strengthen proximity and organization.</a:t>
            </a:r>
          </a:p>
          <a:p>
            <a:endParaRPr lang="en-US" dirty="0"/>
          </a:p>
          <a:p>
            <a:r>
              <a:rPr lang="en-US" dirty="0"/>
              <a:t>Great design happens when multiple elements and principles work together to communicate a message.</a:t>
            </a:r>
          </a:p>
          <a:p>
            <a:endParaRPr lang="en-CA" dirty="0"/>
          </a:p>
        </p:txBody>
      </p:sp>
      <p:sp>
        <p:nvSpPr>
          <p:cNvPr id="4" name="Slide Number Placeholder 3">
            <a:extLst>
              <a:ext uri="{FF2B5EF4-FFF2-40B4-BE49-F238E27FC236}">
                <a16:creationId xmlns:a16="http://schemas.microsoft.com/office/drawing/2014/main" id="{92DF56D6-BEE8-8F88-937E-6E411E529C8A}"/>
              </a:ext>
            </a:extLst>
          </p:cNvPr>
          <p:cNvSpPr>
            <a:spLocks noGrp="1"/>
          </p:cNvSpPr>
          <p:nvPr>
            <p:ph type="sldNum" sz="quarter" idx="5"/>
          </p:nvPr>
        </p:nvSpPr>
        <p:spPr/>
        <p:txBody>
          <a:bodyPr/>
          <a:lstStyle/>
          <a:p>
            <a:fld id="{E59DD69C-4B04-4343-9720-E123BD0E3FF9}" type="slidenum">
              <a:rPr lang="en-CA" smtClean="0"/>
              <a:t>43</a:t>
            </a:fld>
            <a:endParaRPr lang="en-CA"/>
          </a:p>
        </p:txBody>
      </p:sp>
    </p:spTree>
    <p:extLst>
      <p:ext uri="{BB962C8B-B14F-4D97-AF65-F5344CB8AC3E}">
        <p14:creationId xmlns:p14="http://schemas.microsoft.com/office/powerpoint/2010/main" val="35394699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81D7-3E1C-1823-4398-370BEEAA1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263FD-1210-515A-33C3-2A613F0AB066}"/>
              </a:ext>
            </a:extLst>
          </p:cNvPr>
          <p:cNvSpPr>
            <a:spLocks noGrp="1" noRot="1" noChangeAspect="1"/>
          </p:cNvSpPr>
          <p:nvPr>
            <p:ph type="sldImg"/>
          </p:nvPr>
        </p:nvSpPr>
        <p:spPr>
          <a:xfrm>
            <a:off x="1657350" y="196850"/>
            <a:ext cx="3276600" cy="2457450"/>
          </a:xfrm>
        </p:spPr>
      </p:sp>
      <p:sp>
        <p:nvSpPr>
          <p:cNvPr id="3" name="Notes Placeholder 2">
            <a:extLst>
              <a:ext uri="{FF2B5EF4-FFF2-40B4-BE49-F238E27FC236}">
                <a16:creationId xmlns:a16="http://schemas.microsoft.com/office/drawing/2014/main" id="{B5FBF56A-C6D5-E8C0-1DDC-C76AB6BCFAFD}"/>
              </a:ext>
            </a:extLst>
          </p:cNvPr>
          <p:cNvSpPr>
            <a:spLocks noGrp="1"/>
          </p:cNvSpPr>
          <p:nvPr>
            <p:ph type="body" idx="1"/>
          </p:nvPr>
        </p:nvSpPr>
        <p:spPr/>
        <p:txBody>
          <a:bodyPr/>
          <a:lstStyle/>
          <a:p>
            <a:r>
              <a:rPr lang="en-CA" dirty="0"/>
              <a:t>The most important lesson from all of these presentations is that design is intentional.</a:t>
            </a:r>
          </a:p>
          <a:p>
            <a:pPr marL="174708" indent="-174708">
              <a:buFont typeface="Arial" panose="020B0604020202020204" pitchFamily="34" charset="0"/>
              <a:buChar char="•"/>
            </a:pPr>
            <a:r>
              <a:rPr lang="en-CA" dirty="0"/>
              <a:t>Every colour has a purpose.</a:t>
            </a:r>
          </a:p>
          <a:p>
            <a:pPr marL="174708" indent="-174708">
              <a:buFont typeface="Arial" panose="020B0604020202020204" pitchFamily="34" charset="0"/>
              <a:buChar char="•"/>
            </a:pPr>
            <a:r>
              <a:rPr lang="en-CA" dirty="0"/>
              <a:t>Every font size has a purpose.</a:t>
            </a:r>
          </a:p>
          <a:p>
            <a:pPr marL="174708" indent="-174708">
              <a:buFont typeface="Arial" panose="020B0604020202020204" pitchFamily="34" charset="0"/>
              <a:buChar char="•"/>
            </a:pPr>
            <a:r>
              <a:rPr lang="en-CA" dirty="0"/>
              <a:t>Every alignment choice has a purpose.</a:t>
            </a:r>
          </a:p>
          <a:p>
            <a:pPr marL="174708" indent="-174708">
              <a:buFont typeface="Arial" panose="020B0604020202020204" pitchFamily="34" charset="0"/>
              <a:buChar char="•"/>
            </a:pPr>
            <a:r>
              <a:rPr lang="en-CA" dirty="0"/>
              <a:t>Every empty space has a purpose.</a:t>
            </a:r>
          </a:p>
          <a:p>
            <a:endParaRPr lang="en-CA" dirty="0"/>
          </a:p>
          <a:p>
            <a:r>
              <a:rPr lang="en-CA" dirty="0"/>
              <a:t>Strong designers do not simply make things look attractive.</a:t>
            </a:r>
          </a:p>
          <a:p>
            <a:endParaRPr lang="en-CA" dirty="0"/>
          </a:p>
          <a:p>
            <a:r>
              <a:rPr lang="en-CA" dirty="0"/>
              <a:t>They make deliberate choices that help audiences understand information and achieve a communication goal.</a:t>
            </a:r>
          </a:p>
          <a:p>
            <a:endParaRPr lang="en-CA" dirty="0"/>
          </a:p>
          <a:p>
            <a:r>
              <a:rPr lang="en-CA" dirty="0"/>
              <a:t>That idea connects everything we have learned about both the Elements and Principles of Design.</a:t>
            </a:r>
          </a:p>
          <a:p>
            <a:endParaRPr lang="en-CA" dirty="0"/>
          </a:p>
          <a:p>
            <a:pPr defTabSz="931774">
              <a:defRPr/>
            </a:pPr>
            <a:r>
              <a:rPr lang="en-CA" dirty="0"/>
              <a:t>These past few weeks have created a bridge between the Elements of Design and the Principles of Design </a:t>
            </a:r>
          </a:p>
          <a:p>
            <a:pPr defTabSz="931774">
              <a:defRPr/>
            </a:pPr>
            <a:endParaRPr lang="en-CA" dirty="0"/>
          </a:p>
          <a:p>
            <a:pPr defTabSz="931774">
              <a:defRPr/>
            </a:pPr>
            <a:r>
              <a:rPr lang="en-CA" dirty="0"/>
              <a:t>Everything reinforces that </a:t>
            </a:r>
            <a:r>
              <a:rPr lang="en-CA" b="1" dirty="0"/>
              <a:t>Hierarchy sits at the centre of visual communication, while the other principles and the six elements are tools used to build that hierarchy and communicate effectively to an audience.</a:t>
            </a:r>
            <a:endParaRPr lang="en-CA" dirty="0"/>
          </a:p>
        </p:txBody>
      </p:sp>
      <p:sp>
        <p:nvSpPr>
          <p:cNvPr id="4" name="Slide Number Placeholder 3">
            <a:extLst>
              <a:ext uri="{FF2B5EF4-FFF2-40B4-BE49-F238E27FC236}">
                <a16:creationId xmlns:a16="http://schemas.microsoft.com/office/drawing/2014/main" id="{ADBD3083-8C45-6D62-90BA-2DAF64D7ECCD}"/>
              </a:ext>
            </a:extLst>
          </p:cNvPr>
          <p:cNvSpPr>
            <a:spLocks noGrp="1"/>
          </p:cNvSpPr>
          <p:nvPr>
            <p:ph type="sldNum" sz="quarter" idx="5"/>
          </p:nvPr>
        </p:nvSpPr>
        <p:spPr/>
        <p:txBody>
          <a:bodyPr/>
          <a:lstStyle/>
          <a:p>
            <a:fld id="{E59DD69C-4B04-4343-9720-E123BD0E3FF9}" type="slidenum">
              <a:rPr lang="en-CA" smtClean="0"/>
              <a:t>44</a:t>
            </a:fld>
            <a:endParaRPr lang="en-CA"/>
          </a:p>
        </p:txBody>
      </p:sp>
    </p:spTree>
    <p:extLst>
      <p:ext uri="{BB962C8B-B14F-4D97-AF65-F5344CB8AC3E}">
        <p14:creationId xmlns:p14="http://schemas.microsoft.com/office/powerpoint/2010/main" val="2885955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800"/>
            </a:lvl2pPr>
            <a:lvl3pPr>
              <a:defRPr sz="24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55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533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5872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0172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8451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7449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5713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054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48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35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6809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27571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6224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561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9088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7708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5743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1688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35684473"/>
      </p:ext>
    </p:extLst>
  </p:cSld>
  <p:clrMap bg1="lt1" tx1="dk1" bg2="lt2" tx2="dk2" accent1="accent1" accent2="accent2" accent3="accent3" accent4="accent4" accent5="accent5" accent6="accent6" hlink="hlink" folHlink="folHlink"/>
  <p:sldLayoutIdLst>
    <p:sldLayoutId id="214748381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www.itsnicethat.com/articles/designing-london-2012-logo" TargetMode="Externa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7.jpe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24.jpeg"/><Relationship Id="rId4" Type="http://schemas.openxmlformats.org/officeDocument/2006/relationships/image" Target="../media/image23.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3FFBB-1114-12A7-ABB1-FBF1BA12B43E}"/>
              </a:ext>
            </a:extLst>
          </p:cNvPr>
          <p:cNvSpPr>
            <a:spLocks noGrp="1"/>
          </p:cNvSpPr>
          <p:nvPr>
            <p:ph type="ctrTitle"/>
          </p:nvPr>
        </p:nvSpPr>
        <p:spPr>
          <a:xfrm>
            <a:off x="1828800" y="2371364"/>
            <a:ext cx="5486400" cy="1368822"/>
          </a:xfrm>
        </p:spPr>
        <p:txBody>
          <a:bodyPr>
            <a:noAutofit/>
          </a:bodyPr>
          <a:lstStyle/>
          <a:p>
            <a:pPr algn="ctr"/>
            <a:r>
              <a:rPr lang="en-US" sz="3300" dirty="0"/>
              <a:t>How do all of these pieces work together when a designer creates something?</a:t>
            </a:r>
            <a:endParaRPr lang="en-CA" sz="3300" dirty="0"/>
          </a:p>
        </p:txBody>
      </p:sp>
    </p:spTree>
    <p:extLst>
      <p:ext uri="{BB962C8B-B14F-4D97-AF65-F5344CB8AC3E}">
        <p14:creationId xmlns:p14="http://schemas.microsoft.com/office/powerpoint/2010/main" val="1665598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39997" y="2260604"/>
            <a:ext cx="4599743" cy="1825096"/>
          </a:xfrm>
        </p:spPr>
        <p:txBody>
          <a:bodyPr>
            <a:normAutofit fontScale="90000"/>
          </a:bodyPr>
          <a:lstStyle/>
          <a:p>
            <a:r>
              <a:rPr lang="en-CA" dirty="0"/>
              <a:t>Mastering the Principles</a:t>
            </a:r>
            <a:endParaRPr dirty="0"/>
          </a:p>
        </p:txBody>
      </p:sp>
      <p:sp>
        <p:nvSpPr>
          <p:cNvPr id="3" name="Subtitle 2"/>
          <p:cNvSpPr>
            <a:spLocks noGrp="1"/>
          </p:cNvSpPr>
          <p:nvPr>
            <p:ph type="subTitle" idx="1"/>
          </p:nvPr>
        </p:nvSpPr>
        <p:spPr>
          <a:xfrm>
            <a:off x="939997" y="4089400"/>
            <a:ext cx="4599743" cy="685800"/>
          </a:xfrm>
        </p:spPr>
        <p:txBody>
          <a:bodyPr>
            <a:normAutofit/>
          </a:bodyPr>
          <a:lstStyle/>
          <a:p>
            <a:r>
              <a:rPr lang="en-CA" dirty="0"/>
              <a:t>Elements + Principles</a:t>
            </a:r>
            <a:endParaRPr dirty="0"/>
          </a:p>
        </p:txBody>
      </p:sp>
      <p:pic>
        <p:nvPicPr>
          <p:cNvPr id="5" name="Picture 4" descr="A penguin with a bowl and a knife&#10;&#10;AI-generated content may be incorrect.">
            <a:extLst>
              <a:ext uri="{FF2B5EF4-FFF2-40B4-BE49-F238E27FC236}">
                <a16:creationId xmlns:a16="http://schemas.microsoft.com/office/drawing/2014/main" id="{B3660933-E22A-EE58-2865-258573ED57A6}"/>
              </a:ext>
            </a:extLst>
          </p:cNvPr>
          <p:cNvPicPr>
            <a:picLocks noChangeAspect="1"/>
          </p:cNvPicPr>
          <p:nvPr/>
        </p:nvPicPr>
        <p:blipFill>
          <a:blip r:embed="rId3"/>
          <a:stretch>
            <a:fillRect/>
          </a:stretch>
        </p:blipFill>
        <p:spPr>
          <a:xfrm>
            <a:off x="5539740" y="1989187"/>
            <a:ext cx="2743137" cy="21002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1FA5-DE3D-5258-9FAF-CAAC2C0A49D5}"/>
              </a:ext>
            </a:extLst>
          </p:cNvPr>
          <p:cNvSpPr>
            <a:spLocks noGrp="1"/>
          </p:cNvSpPr>
          <p:nvPr>
            <p:ph type="title"/>
          </p:nvPr>
        </p:nvSpPr>
        <p:spPr>
          <a:xfrm>
            <a:off x="2771775" y="1206336"/>
            <a:ext cx="4783455" cy="969771"/>
          </a:xfrm>
        </p:spPr>
        <p:txBody>
          <a:bodyPr>
            <a:normAutofit fontScale="90000"/>
          </a:bodyPr>
          <a:lstStyle/>
          <a:p>
            <a:r>
              <a:rPr lang="en-CA" dirty="0"/>
              <a:t>Everything Works Together</a:t>
            </a:r>
          </a:p>
        </p:txBody>
      </p:sp>
      <p:pic>
        <p:nvPicPr>
          <p:cNvPr id="19" name="Picture 18">
            <a:extLst>
              <a:ext uri="{FF2B5EF4-FFF2-40B4-BE49-F238E27FC236}">
                <a16:creationId xmlns:a16="http://schemas.microsoft.com/office/drawing/2014/main" id="{95DED47E-52A4-740D-A2C7-EE6A723B3F20}"/>
              </a:ext>
            </a:extLst>
          </p:cNvPr>
          <p:cNvPicPr>
            <a:picLocks noChangeAspect="1"/>
          </p:cNvPicPr>
          <p:nvPr/>
        </p:nvPicPr>
        <p:blipFill>
          <a:blip r:embed="rId3"/>
          <a:stretch>
            <a:fillRect/>
          </a:stretch>
        </p:blipFill>
        <p:spPr>
          <a:xfrm>
            <a:off x="1143000" y="2200705"/>
            <a:ext cx="6858000" cy="3743771"/>
          </a:xfrm>
          <a:prstGeom prst="rect">
            <a:avLst/>
          </a:prstGeom>
        </p:spPr>
      </p:pic>
    </p:spTree>
    <p:extLst>
      <p:ext uri="{BB962C8B-B14F-4D97-AF65-F5344CB8AC3E}">
        <p14:creationId xmlns:p14="http://schemas.microsoft.com/office/powerpoint/2010/main" val="206570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A1E7D-5866-1E08-115A-8CEBC2CC27DE}"/>
              </a:ext>
            </a:extLst>
          </p:cNvPr>
          <p:cNvSpPr>
            <a:spLocks noGrp="1"/>
          </p:cNvSpPr>
          <p:nvPr>
            <p:ph type="title"/>
          </p:nvPr>
        </p:nvSpPr>
        <p:spPr>
          <a:xfrm>
            <a:off x="2921065" y="628403"/>
            <a:ext cx="5775066" cy="969771"/>
          </a:xfrm>
        </p:spPr>
        <p:txBody>
          <a:bodyPr>
            <a:normAutofit fontScale="90000"/>
          </a:bodyPr>
          <a:lstStyle/>
          <a:p>
            <a:r>
              <a:rPr lang="en-CA" dirty="0"/>
              <a:t>Design Is Intentional</a:t>
            </a:r>
          </a:p>
        </p:txBody>
      </p:sp>
      <p:pic>
        <p:nvPicPr>
          <p:cNvPr id="38" name="Picture 37">
            <a:extLst>
              <a:ext uri="{FF2B5EF4-FFF2-40B4-BE49-F238E27FC236}">
                <a16:creationId xmlns:a16="http://schemas.microsoft.com/office/drawing/2014/main" id="{64153568-AE16-C467-94A0-5834BF4E92E4}"/>
              </a:ext>
            </a:extLst>
          </p:cNvPr>
          <p:cNvPicPr>
            <a:picLocks noChangeAspect="1"/>
          </p:cNvPicPr>
          <p:nvPr/>
        </p:nvPicPr>
        <p:blipFill>
          <a:blip r:embed="rId3"/>
          <a:srcRect t="4198"/>
          <a:stretch>
            <a:fillRect/>
          </a:stretch>
        </p:blipFill>
        <p:spPr>
          <a:xfrm>
            <a:off x="748588" y="1750385"/>
            <a:ext cx="8080142" cy="4225766"/>
          </a:xfrm>
          <a:prstGeom prst="rect">
            <a:avLst/>
          </a:prstGeom>
        </p:spPr>
      </p:pic>
    </p:spTree>
    <p:extLst>
      <p:ext uri="{BB962C8B-B14F-4D97-AF65-F5344CB8AC3E}">
        <p14:creationId xmlns:p14="http://schemas.microsoft.com/office/powerpoint/2010/main" val="1830348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E213AA4-6720-115F-1335-98D00BD209B4}"/>
              </a:ext>
            </a:extLst>
          </p:cNvPr>
          <p:cNvSpPr>
            <a:spLocks noGrp="1"/>
          </p:cNvSpPr>
          <p:nvPr>
            <p:ph type="title"/>
          </p:nvPr>
        </p:nvSpPr>
        <p:spPr>
          <a:xfrm>
            <a:off x="2171700" y="627213"/>
            <a:ext cx="6377940" cy="1293028"/>
          </a:xfrm>
        </p:spPr>
        <p:txBody>
          <a:bodyPr/>
          <a:lstStyle/>
          <a:p>
            <a:r>
              <a:rPr lang="en-CA" dirty="0"/>
              <a:t>Design is Problem Solving</a:t>
            </a:r>
          </a:p>
        </p:txBody>
      </p:sp>
      <p:sp>
        <p:nvSpPr>
          <p:cNvPr id="5" name="Content Placeholder 4">
            <a:extLst>
              <a:ext uri="{FF2B5EF4-FFF2-40B4-BE49-F238E27FC236}">
                <a16:creationId xmlns:a16="http://schemas.microsoft.com/office/drawing/2014/main" id="{9B06D670-FEE0-67A7-5DD6-24E91B87A6C9}"/>
              </a:ext>
            </a:extLst>
          </p:cNvPr>
          <p:cNvSpPr>
            <a:spLocks noGrp="1"/>
          </p:cNvSpPr>
          <p:nvPr>
            <p:ph idx="1"/>
          </p:nvPr>
        </p:nvSpPr>
        <p:spPr>
          <a:xfrm>
            <a:off x="770242" y="1920241"/>
            <a:ext cx="7955280" cy="3822648"/>
          </a:xfrm>
        </p:spPr>
        <p:txBody>
          <a:bodyPr>
            <a:normAutofit/>
          </a:bodyPr>
          <a:lstStyle/>
          <a:p>
            <a:pPr marL="0" indent="0">
              <a:buNone/>
            </a:pPr>
            <a:r>
              <a:rPr lang="en-US" dirty="0"/>
              <a:t>A designer must answer:</a:t>
            </a:r>
          </a:p>
          <a:p>
            <a:r>
              <a:rPr lang="en-US" dirty="0"/>
              <a:t>Who is the audience?</a:t>
            </a:r>
          </a:p>
          <a:p>
            <a:r>
              <a:rPr lang="en-US" dirty="0"/>
              <a:t>What is the message?</a:t>
            </a:r>
          </a:p>
          <a:p>
            <a:r>
              <a:rPr lang="en-US" dirty="0"/>
              <a:t>What action should the audience take?</a:t>
            </a:r>
          </a:p>
          <a:p>
            <a:r>
              <a:rPr lang="en-US" dirty="0"/>
              <a:t>What information is most important?</a:t>
            </a:r>
          </a:p>
          <a:p>
            <a:r>
              <a:rPr lang="en-US" dirty="0"/>
              <a:t>How can design support communication?</a:t>
            </a:r>
          </a:p>
          <a:p>
            <a:endParaRPr lang="en-CA" dirty="0"/>
          </a:p>
        </p:txBody>
      </p:sp>
      <p:graphicFrame>
        <p:nvGraphicFramePr>
          <p:cNvPr id="2" name="Diagram 1">
            <a:extLst>
              <a:ext uri="{FF2B5EF4-FFF2-40B4-BE49-F238E27FC236}">
                <a16:creationId xmlns:a16="http://schemas.microsoft.com/office/drawing/2014/main" id="{4C55B89D-327B-BF7F-E9C3-90BA23D21105}"/>
              </a:ext>
            </a:extLst>
          </p:cNvPr>
          <p:cNvGraphicFramePr/>
          <p:nvPr>
            <p:extLst>
              <p:ext uri="{D42A27DB-BD31-4B8C-83A1-F6EECF244321}">
                <p14:modId xmlns:p14="http://schemas.microsoft.com/office/powerpoint/2010/main" val="1576550590"/>
              </p:ext>
            </p:extLst>
          </p:nvPr>
        </p:nvGraphicFramePr>
        <p:xfrm>
          <a:off x="-164834" y="3383680"/>
          <a:ext cx="9473668"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073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43000" y="857250"/>
            <a:ext cx="6793037" cy="5143500"/>
            <a:chOff x="0" y="0"/>
            <a:chExt cx="12881610" cy="9753600"/>
          </a:xfrm>
        </p:grpSpPr>
        <p:sp>
          <p:nvSpPr>
            <p:cNvPr id="3" name="object 3"/>
            <p:cNvSpPr/>
            <p:nvPr/>
          </p:nvSpPr>
          <p:spPr>
            <a:xfrm>
              <a:off x="0" y="0"/>
              <a:ext cx="12881394" cy="9753600"/>
            </a:xfrm>
            <a:prstGeom prst="rect">
              <a:avLst/>
            </a:prstGeom>
            <a:blipFill>
              <a:blip r:embed="rId3" cstate="print"/>
              <a:stretch>
                <a:fillRect/>
              </a:stretch>
            </a:blipFill>
          </p:spPr>
          <p:txBody>
            <a:bodyPr wrap="square" lIns="0" tIns="0" rIns="0" bIns="0" rtlCol="0"/>
            <a:lstStyle/>
            <a:p>
              <a:endParaRPr sz="949"/>
            </a:p>
          </p:txBody>
        </p:sp>
        <p:sp>
          <p:nvSpPr>
            <p:cNvPr id="4" name="object 4"/>
            <p:cNvSpPr/>
            <p:nvPr/>
          </p:nvSpPr>
          <p:spPr>
            <a:xfrm>
              <a:off x="428409" y="911870"/>
              <a:ext cx="11944979" cy="7929859"/>
            </a:xfrm>
            <a:prstGeom prst="rect">
              <a:avLst/>
            </a:prstGeom>
            <a:blipFill>
              <a:blip r:embed="rId4" cstate="print"/>
              <a:stretch>
                <a:fillRect/>
              </a:stretch>
            </a:blipFill>
          </p:spPr>
          <p:txBody>
            <a:bodyPr wrap="square" lIns="0" tIns="0" rIns="0" bIns="0" rtlCol="0"/>
            <a:lstStyle/>
            <a:p>
              <a:endParaRPr sz="949"/>
            </a:p>
          </p:txBody>
        </p:sp>
      </p:grpSp>
      <p:sp>
        <p:nvSpPr>
          <p:cNvPr id="5" name="object 5"/>
          <p:cNvSpPr txBox="1">
            <a:spLocks noGrp="1"/>
          </p:cNvSpPr>
          <p:nvPr>
            <p:ph type="title"/>
          </p:nvPr>
        </p:nvSpPr>
        <p:spPr>
          <a:xfrm>
            <a:off x="5402462" y="1408188"/>
            <a:ext cx="2221818" cy="331339"/>
          </a:xfrm>
          <a:prstGeom prst="rect">
            <a:avLst/>
          </a:prstGeom>
        </p:spPr>
        <p:txBody>
          <a:bodyPr vert="horz" wrap="square" lIns="0" tIns="6698" rIns="0" bIns="0" rtlCol="0" anchor="ctr">
            <a:spAutoFit/>
          </a:bodyPr>
          <a:lstStyle/>
          <a:p>
            <a:pPr marL="6697">
              <a:lnSpc>
                <a:spcPct val="100000"/>
              </a:lnSpc>
              <a:spcBef>
                <a:spcPts val="53"/>
              </a:spcBef>
            </a:pPr>
            <a:r>
              <a:rPr sz="2109" spc="188" dirty="0">
                <a:solidFill>
                  <a:srgbClr val="5B5854"/>
                </a:solidFill>
                <a:latin typeface="Arial"/>
                <a:cs typeface="Arial"/>
              </a:rPr>
              <a:t>GOOD </a:t>
            </a:r>
            <a:r>
              <a:rPr sz="2109" spc="14" dirty="0">
                <a:solidFill>
                  <a:srgbClr val="5B5854"/>
                </a:solidFill>
                <a:latin typeface="Arial"/>
                <a:cs typeface="Arial"/>
              </a:rPr>
              <a:t>OR</a:t>
            </a:r>
            <a:r>
              <a:rPr sz="2109" spc="71" dirty="0">
                <a:solidFill>
                  <a:srgbClr val="5B5854"/>
                </a:solidFill>
                <a:latin typeface="Arial"/>
                <a:cs typeface="Arial"/>
              </a:rPr>
              <a:t> </a:t>
            </a:r>
            <a:r>
              <a:rPr sz="2109" dirty="0">
                <a:solidFill>
                  <a:srgbClr val="5B5854"/>
                </a:solidFill>
                <a:latin typeface="Arial"/>
                <a:cs typeface="Arial"/>
              </a:rPr>
              <a:t>BAD?</a:t>
            </a:r>
            <a:endParaRPr sz="2109">
              <a:latin typeface="Arial"/>
              <a:cs typeface="Arial"/>
            </a:endParaRPr>
          </a:p>
        </p:txBody>
      </p:sp>
      <p:sp>
        <p:nvSpPr>
          <p:cNvPr id="6" name="object 6"/>
          <p:cNvSpPr txBox="1"/>
          <p:nvPr/>
        </p:nvSpPr>
        <p:spPr>
          <a:xfrm>
            <a:off x="2924474" y="5592217"/>
            <a:ext cx="4700141" cy="201432"/>
          </a:xfrm>
          <a:prstGeom prst="rect">
            <a:avLst/>
          </a:prstGeom>
        </p:spPr>
        <p:txBody>
          <a:bodyPr vert="horz" wrap="square" lIns="0" tIns="6698" rIns="0" bIns="0" rtlCol="0">
            <a:spAutoFit/>
          </a:bodyPr>
          <a:lstStyle/>
          <a:p>
            <a:pPr marL="6697">
              <a:spcBef>
                <a:spcPts val="53"/>
              </a:spcBef>
            </a:pPr>
            <a:r>
              <a:rPr sz="1265" spc="74" dirty="0">
                <a:solidFill>
                  <a:srgbClr val="5B5854"/>
                </a:solidFill>
                <a:latin typeface="Arial"/>
                <a:cs typeface="Arial"/>
                <a:hlinkClick r:id="rId5"/>
              </a:rPr>
              <a:t>http://ww</a:t>
            </a:r>
            <a:r>
              <a:rPr sz="1265" spc="-26" dirty="0">
                <a:solidFill>
                  <a:srgbClr val="5B5854"/>
                </a:solidFill>
                <a:latin typeface="Arial"/>
                <a:cs typeface="Arial"/>
                <a:hlinkClick r:id="rId5"/>
              </a:rPr>
              <a:t>w</a:t>
            </a:r>
            <a:r>
              <a:rPr sz="1265" spc="21" dirty="0">
                <a:solidFill>
                  <a:srgbClr val="5B5854"/>
                </a:solidFill>
                <a:latin typeface="Arial"/>
                <a:cs typeface="Arial"/>
                <a:hlinkClick r:id="rId5"/>
              </a:rPr>
              <a:t>.itsnicethat.com/articles/designing-london-2012-logo</a:t>
            </a:r>
            <a:endParaRPr sz="1265">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571499-E6A7-C385-07F2-6C853404402C}"/>
              </a:ext>
            </a:extLst>
          </p:cNvPr>
          <p:cNvPicPr>
            <a:picLocks noChangeAspect="1"/>
          </p:cNvPicPr>
          <p:nvPr/>
        </p:nvPicPr>
        <p:blipFill>
          <a:blip r:embed="rId3"/>
          <a:stretch>
            <a:fillRect/>
          </a:stretch>
        </p:blipFill>
        <p:spPr>
          <a:xfrm>
            <a:off x="604910" y="1206745"/>
            <a:ext cx="7860323" cy="4912701"/>
          </a:xfrm>
          <a:prstGeom prst="rect">
            <a:avLst/>
          </a:prstGeom>
        </p:spPr>
      </p:pic>
    </p:spTree>
    <p:extLst>
      <p:ext uri="{BB962C8B-B14F-4D97-AF65-F5344CB8AC3E}">
        <p14:creationId xmlns:p14="http://schemas.microsoft.com/office/powerpoint/2010/main" val="2306020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207B-1585-CFC2-A1A7-5CDA4A7DBE7F}"/>
              </a:ext>
            </a:extLst>
          </p:cNvPr>
          <p:cNvSpPr>
            <a:spLocks noGrp="1"/>
          </p:cNvSpPr>
          <p:nvPr>
            <p:ph type="title"/>
          </p:nvPr>
        </p:nvSpPr>
        <p:spPr/>
        <p:txBody>
          <a:bodyPr/>
          <a:lstStyle/>
          <a:p>
            <a:r>
              <a:rPr lang="en-CA" dirty="0"/>
              <a:t>The Synthesis</a:t>
            </a:r>
          </a:p>
        </p:txBody>
      </p:sp>
      <p:sp>
        <p:nvSpPr>
          <p:cNvPr id="3" name="Text Placeholder 2">
            <a:extLst>
              <a:ext uri="{FF2B5EF4-FFF2-40B4-BE49-F238E27FC236}">
                <a16:creationId xmlns:a16="http://schemas.microsoft.com/office/drawing/2014/main" id="{25A8ED83-7082-5903-FD9E-8F8413D9C402}"/>
              </a:ext>
            </a:extLst>
          </p:cNvPr>
          <p:cNvSpPr>
            <a:spLocks noGrp="1"/>
          </p:cNvSpPr>
          <p:nvPr>
            <p:ph type="body" idx="1"/>
          </p:nvPr>
        </p:nvSpPr>
        <p:spPr/>
        <p:txBody>
          <a:bodyPr/>
          <a:lstStyle/>
          <a:p>
            <a:r>
              <a:rPr lang="en-US" dirty="0"/>
              <a:t>How the elements actively build the principles </a:t>
            </a:r>
            <a:endParaRPr lang="en-CA" dirty="0"/>
          </a:p>
        </p:txBody>
      </p:sp>
    </p:spTree>
    <p:extLst>
      <p:ext uri="{BB962C8B-B14F-4D97-AF65-F5344CB8AC3E}">
        <p14:creationId xmlns:p14="http://schemas.microsoft.com/office/powerpoint/2010/main" val="4006254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Elements of Design</a:t>
            </a:r>
          </a:p>
        </p:txBody>
      </p:sp>
      <p:sp>
        <p:nvSpPr>
          <p:cNvPr id="3" name="Content Placeholder 2"/>
          <p:cNvSpPr>
            <a:spLocks noGrp="1"/>
          </p:cNvSpPr>
          <p:nvPr>
            <p:ph idx="1"/>
          </p:nvPr>
        </p:nvSpPr>
        <p:spPr>
          <a:xfrm>
            <a:off x="524024" y="2194560"/>
            <a:ext cx="2319662" cy="4069080"/>
          </a:xfrm>
        </p:spPr>
        <p:txBody>
          <a:bodyPr>
            <a:normAutofit/>
          </a:bodyPr>
          <a:lstStyle/>
          <a:p>
            <a:endParaRPr sz="2400" dirty="0"/>
          </a:p>
          <a:p>
            <a:r>
              <a:rPr sz="2400" dirty="0"/>
              <a:t>Line</a:t>
            </a:r>
            <a:r>
              <a:rPr lang="en-CA" sz="2400" dirty="0"/>
              <a:t>:</a:t>
            </a:r>
            <a:endParaRPr sz="2400" dirty="0"/>
          </a:p>
          <a:p>
            <a:r>
              <a:rPr sz="2400" dirty="0"/>
              <a:t>Shape</a:t>
            </a:r>
            <a:r>
              <a:rPr lang="en-CA" sz="2400" dirty="0"/>
              <a:t>:</a:t>
            </a:r>
            <a:endParaRPr sz="2400" dirty="0"/>
          </a:p>
          <a:p>
            <a:r>
              <a:rPr sz="2400" dirty="0"/>
              <a:t>Direction</a:t>
            </a:r>
            <a:r>
              <a:rPr lang="en-CA" sz="2400" dirty="0"/>
              <a:t>:</a:t>
            </a:r>
            <a:endParaRPr sz="2400" dirty="0"/>
          </a:p>
          <a:p>
            <a:r>
              <a:rPr sz="2400" dirty="0"/>
              <a:t>Size</a:t>
            </a:r>
            <a:r>
              <a:rPr lang="en-CA" sz="2400" dirty="0"/>
              <a:t>:</a:t>
            </a:r>
            <a:endParaRPr sz="2400" dirty="0"/>
          </a:p>
          <a:p>
            <a:r>
              <a:rPr sz="2400" dirty="0"/>
              <a:t>Texture</a:t>
            </a:r>
            <a:r>
              <a:rPr lang="en-CA" sz="2400" dirty="0"/>
              <a:t>:</a:t>
            </a:r>
            <a:endParaRPr sz="2400" dirty="0"/>
          </a:p>
          <a:p>
            <a:r>
              <a:rPr sz="2400" dirty="0"/>
              <a:t>Colour</a:t>
            </a:r>
            <a:r>
              <a:rPr lang="en-CA" sz="2400" dirty="0"/>
              <a:t>:</a:t>
            </a:r>
            <a:endParaRPr sz="2400" dirty="0"/>
          </a:p>
        </p:txBody>
      </p:sp>
      <p:sp>
        <p:nvSpPr>
          <p:cNvPr id="4" name="Content Placeholder 2">
            <a:extLst>
              <a:ext uri="{FF2B5EF4-FFF2-40B4-BE49-F238E27FC236}">
                <a16:creationId xmlns:a16="http://schemas.microsoft.com/office/drawing/2014/main" id="{CD3816AA-1C42-2C3A-9D4C-9B63D1994129}"/>
              </a:ext>
            </a:extLst>
          </p:cNvPr>
          <p:cNvSpPr txBox="1">
            <a:spLocks/>
          </p:cNvSpPr>
          <p:nvPr/>
        </p:nvSpPr>
        <p:spPr>
          <a:xfrm>
            <a:off x="2706189" y="2194560"/>
            <a:ext cx="2018211"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dirty="0"/>
          </a:p>
        </p:txBody>
      </p:sp>
      <p:sp>
        <p:nvSpPr>
          <p:cNvPr id="5" name="Content Placeholder 2">
            <a:extLst>
              <a:ext uri="{FF2B5EF4-FFF2-40B4-BE49-F238E27FC236}">
                <a16:creationId xmlns:a16="http://schemas.microsoft.com/office/drawing/2014/main" id="{896DB92D-55DC-AC6B-6F60-775F7E92BF72}"/>
              </a:ext>
            </a:extLst>
          </p:cNvPr>
          <p:cNvSpPr txBox="1">
            <a:spLocks/>
          </p:cNvSpPr>
          <p:nvPr/>
        </p:nvSpPr>
        <p:spPr>
          <a:xfrm>
            <a:off x="2312628" y="2194560"/>
            <a:ext cx="6871558" cy="4069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US" sz="2400" dirty="0"/>
          </a:p>
          <a:p>
            <a:pPr marL="0" indent="0">
              <a:buNone/>
            </a:pPr>
            <a:r>
              <a:rPr lang="en-US" sz="2400" dirty="0"/>
              <a:t>A path between two points</a:t>
            </a:r>
          </a:p>
          <a:p>
            <a:pPr marL="0" indent="0">
              <a:buNone/>
            </a:pPr>
            <a:r>
              <a:rPr lang="en-US" sz="2400" dirty="0"/>
              <a:t>A two-dimensional enclosed space</a:t>
            </a:r>
          </a:p>
          <a:p>
            <a:pPr marL="0" indent="0">
              <a:buNone/>
            </a:pPr>
            <a:r>
              <a:rPr lang="en-US" sz="2400" dirty="0"/>
              <a:t>The orientation or movement of elements</a:t>
            </a:r>
          </a:p>
          <a:p>
            <a:pPr marL="0" indent="0">
              <a:buNone/>
            </a:pPr>
            <a:r>
              <a:rPr lang="en-US" sz="2400" dirty="0"/>
              <a:t>The relative scale of elements</a:t>
            </a:r>
          </a:p>
          <a:p>
            <a:pPr marL="0" indent="0">
              <a:buNone/>
            </a:pPr>
            <a:r>
              <a:rPr lang="en-US" sz="2400" dirty="0"/>
              <a:t>The surface quality of an object</a:t>
            </a:r>
          </a:p>
          <a:p>
            <a:pPr marL="0" indent="0">
              <a:buNone/>
            </a:pPr>
            <a:r>
              <a:rPr lang="en-US" sz="2400" dirty="0"/>
              <a:t>The perception of light reflected from surfaces</a:t>
            </a:r>
          </a:p>
        </p:txBody>
      </p:sp>
    </p:spTree>
    <p:extLst>
      <p:ext uri="{BB962C8B-B14F-4D97-AF65-F5344CB8AC3E}">
        <p14:creationId xmlns:p14="http://schemas.microsoft.com/office/powerpoint/2010/main" val="3739955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EEB75-8CF8-886C-A0AE-511022CB81F2}"/>
              </a:ext>
            </a:extLst>
          </p:cNvPr>
          <p:cNvSpPr>
            <a:spLocks noGrp="1"/>
          </p:cNvSpPr>
          <p:nvPr>
            <p:ph type="title"/>
          </p:nvPr>
        </p:nvSpPr>
        <p:spPr/>
        <p:txBody>
          <a:bodyPr/>
          <a:lstStyle/>
          <a:p>
            <a:r>
              <a:rPr lang="en-CA" dirty="0"/>
              <a:t>Elements Create Principles</a:t>
            </a:r>
          </a:p>
        </p:txBody>
      </p:sp>
      <p:pic>
        <p:nvPicPr>
          <p:cNvPr id="5" name="Picture 4">
            <a:extLst>
              <a:ext uri="{FF2B5EF4-FFF2-40B4-BE49-F238E27FC236}">
                <a16:creationId xmlns:a16="http://schemas.microsoft.com/office/drawing/2014/main" id="{FB41F442-B055-333F-40DF-F30F9CE43B63}"/>
              </a:ext>
            </a:extLst>
          </p:cNvPr>
          <p:cNvPicPr>
            <a:picLocks noChangeAspect="1"/>
          </p:cNvPicPr>
          <p:nvPr/>
        </p:nvPicPr>
        <p:blipFill>
          <a:blip r:embed="rId3"/>
          <a:srcRect l="4611" t="19423" r="10347" b="10309"/>
          <a:stretch>
            <a:fillRect/>
          </a:stretch>
        </p:blipFill>
        <p:spPr>
          <a:xfrm>
            <a:off x="334647" y="2275448"/>
            <a:ext cx="8214993" cy="3818179"/>
          </a:xfrm>
          <a:prstGeom prst="rect">
            <a:avLst/>
          </a:prstGeom>
        </p:spPr>
      </p:pic>
    </p:spTree>
    <p:extLst>
      <p:ext uri="{BB962C8B-B14F-4D97-AF65-F5344CB8AC3E}">
        <p14:creationId xmlns:p14="http://schemas.microsoft.com/office/powerpoint/2010/main" val="10276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2100-4CAD-79EA-7230-9A87B1F4EDBB}"/>
              </a:ext>
            </a:extLst>
          </p:cNvPr>
          <p:cNvSpPr>
            <a:spLocks noGrp="1"/>
          </p:cNvSpPr>
          <p:nvPr>
            <p:ph type="title"/>
          </p:nvPr>
        </p:nvSpPr>
        <p:spPr/>
        <p:txBody>
          <a:bodyPr/>
          <a:lstStyle/>
          <a:p>
            <a:r>
              <a:rPr lang="en-CA" dirty="0"/>
              <a:t>One Element, Many Principles</a:t>
            </a:r>
          </a:p>
        </p:txBody>
      </p:sp>
      <p:sp>
        <p:nvSpPr>
          <p:cNvPr id="7" name="Red 1">
            <a:extLst>
              <a:ext uri="{FF2B5EF4-FFF2-40B4-BE49-F238E27FC236}">
                <a16:creationId xmlns:a16="http://schemas.microsoft.com/office/drawing/2014/main" id="{CF8704C7-1E82-4B1C-58A9-72586AE7FF03}"/>
              </a:ext>
            </a:extLst>
          </p:cNvPr>
          <p:cNvSpPr/>
          <p:nvPr/>
        </p:nvSpPr>
        <p:spPr>
          <a:xfrm>
            <a:off x="1986742" y="2987771"/>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17E07FCA-9FA7-F4E8-2D53-5195997C43A2}"/>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537113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ACFD0-ECD9-F4C0-69F6-E00F44DF2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26C89-57D0-F7AC-FD85-E9827C69F75F}"/>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41A1ED17-A650-7B4B-207C-8C88C6A4AAA1}"/>
              </a:ext>
            </a:extLst>
          </p:cNvPr>
          <p:cNvSpPr/>
          <p:nvPr/>
        </p:nvSpPr>
        <p:spPr>
          <a:xfrm>
            <a:off x="2588027" y="3021022"/>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Oval 7">
            <a:extLst>
              <a:ext uri="{FF2B5EF4-FFF2-40B4-BE49-F238E27FC236}">
                <a16:creationId xmlns:a16="http://schemas.microsoft.com/office/drawing/2014/main" id="{7352AB6C-53CA-F33F-4266-BCDDE1947B2B}"/>
              </a:ext>
            </a:extLst>
          </p:cNvPr>
          <p:cNvSpPr/>
          <p:nvPr/>
        </p:nvSpPr>
        <p:spPr>
          <a:xfrm>
            <a:off x="1523307" y="4469398"/>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A6406EF3-6A1C-DF7E-6D45-95AD63650791}"/>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Size">
            <a:extLst>
              <a:ext uri="{FF2B5EF4-FFF2-40B4-BE49-F238E27FC236}">
                <a16:creationId xmlns:a16="http://schemas.microsoft.com/office/drawing/2014/main" id="{8F7CD064-D69B-FF21-9576-6D707260B967}"/>
              </a:ext>
            </a:extLst>
          </p:cNvPr>
          <p:cNvSpPr txBox="1"/>
          <p:nvPr/>
        </p:nvSpPr>
        <p:spPr>
          <a:xfrm>
            <a:off x="6388494" y="3774011"/>
            <a:ext cx="2464560" cy="830997"/>
          </a:xfrm>
          <a:prstGeom prst="rect">
            <a:avLst/>
          </a:prstGeom>
          <a:noFill/>
        </p:spPr>
        <p:txBody>
          <a:bodyPr wrap="square" rtlCol="0">
            <a:spAutoFit/>
          </a:bodyPr>
          <a:lstStyle/>
          <a:p>
            <a:r>
              <a:rPr lang="en-CA" sz="2400" dirty="0"/>
              <a:t>Size creates Hierarchy</a:t>
            </a:r>
          </a:p>
        </p:txBody>
      </p:sp>
    </p:spTree>
    <p:extLst>
      <p:ext uri="{BB962C8B-B14F-4D97-AF65-F5344CB8AC3E}">
        <p14:creationId xmlns:p14="http://schemas.microsoft.com/office/powerpoint/2010/main" val="1432614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BC06-3623-9240-B4A8-284C80A5F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B76DB-E411-B61E-AB23-ECC75E2FB048}"/>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FAAA91A9-3F33-90D9-5C77-E599EB2A6A0E}"/>
              </a:ext>
            </a:extLst>
          </p:cNvPr>
          <p:cNvSpPr/>
          <p:nvPr/>
        </p:nvSpPr>
        <p:spPr>
          <a:xfrm>
            <a:off x="3469173" y="3084022"/>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E8C8210F-ACFE-B794-F815-6C652E770F5E}"/>
              </a:ext>
            </a:extLst>
          </p:cNvPr>
          <p:cNvSpPr/>
          <p:nvPr/>
        </p:nvSpPr>
        <p:spPr>
          <a:xfrm>
            <a:off x="791801" y="3084022"/>
            <a:ext cx="2160000" cy="21600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15F2CCF8-7687-CCEC-F2C9-2C1A7419968B}"/>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Colour">
            <a:extLst>
              <a:ext uri="{FF2B5EF4-FFF2-40B4-BE49-F238E27FC236}">
                <a16:creationId xmlns:a16="http://schemas.microsoft.com/office/drawing/2014/main" id="{997540AB-8252-3EF2-C9A4-3249658DB5E8}"/>
              </a:ext>
            </a:extLst>
          </p:cNvPr>
          <p:cNvSpPr txBox="1"/>
          <p:nvPr/>
        </p:nvSpPr>
        <p:spPr>
          <a:xfrm>
            <a:off x="6388494" y="3774011"/>
            <a:ext cx="2464560" cy="830997"/>
          </a:xfrm>
          <a:prstGeom prst="rect">
            <a:avLst/>
          </a:prstGeom>
          <a:noFill/>
        </p:spPr>
        <p:txBody>
          <a:bodyPr wrap="square" rtlCol="0">
            <a:spAutoFit/>
          </a:bodyPr>
          <a:lstStyle/>
          <a:p>
            <a:r>
              <a:rPr lang="en-CA" sz="2400" dirty="0"/>
              <a:t>Colour gives Contrast</a:t>
            </a:r>
          </a:p>
        </p:txBody>
      </p:sp>
    </p:spTree>
    <p:extLst>
      <p:ext uri="{BB962C8B-B14F-4D97-AF65-F5344CB8AC3E}">
        <p14:creationId xmlns:p14="http://schemas.microsoft.com/office/powerpoint/2010/main" val="2745696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2C709-B227-BC4C-B27D-A3203E28A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6C5FBA-7F20-1BFD-7A91-4173559BE474}"/>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0B31A376-CCF9-BE44-BD4C-C8C0B742042F}"/>
              </a:ext>
            </a:extLst>
          </p:cNvPr>
          <p:cNvSpPr/>
          <p:nvPr/>
        </p:nvSpPr>
        <p:spPr>
          <a:xfrm>
            <a:off x="3116306" y="2810356"/>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4" name="Group 13">
            <a:extLst>
              <a:ext uri="{FF2B5EF4-FFF2-40B4-BE49-F238E27FC236}">
                <a16:creationId xmlns:a16="http://schemas.microsoft.com/office/drawing/2014/main" id="{DED88C28-7FE2-4FFD-E9E0-3B43333AD168}"/>
              </a:ext>
            </a:extLst>
          </p:cNvPr>
          <p:cNvGrpSpPr/>
          <p:nvPr/>
        </p:nvGrpSpPr>
        <p:grpSpPr>
          <a:xfrm>
            <a:off x="904973" y="3374567"/>
            <a:ext cx="1668928" cy="1629884"/>
            <a:chOff x="813694" y="3682898"/>
            <a:chExt cx="1668928" cy="1629884"/>
          </a:xfrm>
        </p:grpSpPr>
        <p:sp>
          <p:nvSpPr>
            <p:cNvPr id="10" name="Oval 9">
              <a:extLst>
                <a:ext uri="{FF2B5EF4-FFF2-40B4-BE49-F238E27FC236}">
                  <a16:creationId xmlns:a16="http://schemas.microsoft.com/office/drawing/2014/main" id="{94224BF6-D254-4D56-B3DB-E63AF83617FD}"/>
                </a:ext>
              </a:extLst>
            </p:cNvPr>
            <p:cNvSpPr/>
            <p:nvPr/>
          </p:nvSpPr>
          <p:spPr>
            <a:xfrm>
              <a:off x="1762622" y="3682898"/>
              <a:ext cx="720000" cy="7200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7C4FAB4B-4F96-F1D3-687C-FEC00434BC1A}"/>
                </a:ext>
              </a:extLst>
            </p:cNvPr>
            <p:cNvSpPr/>
            <p:nvPr/>
          </p:nvSpPr>
          <p:spPr>
            <a:xfrm>
              <a:off x="813694" y="3682898"/>
              <a:ext cx="720000" cy="7200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D12CB255-EB30-4A91-63F8-98CDCFE646DE}"/>
                </a:ext>
              </a:extLst>
            </p:cNvPr>
            <p:cNvSpPr/>
            <p:nvPr/>
          </p:nvSpPr>
          <p:spPr>
            <a:xfrm>
              <a:off x="1762622" y="4592782"/>
              <a:ext cx="720000" cy="7200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1FB2BDA9-E88D-80F2-7F1A-5DB4A3D14DAF}"/>
                </a:ext>
              </a:extLst>
            </p:cNvPr>
            <p:cNvSpPr/>
            <p:nvPr/>
          </p:nvSpPr>
          <p:spPr>
            <a:xfrm>
              <a:off x="813694" y="4592782"/>
              <a:ext cx="720000" cy="7200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grpSp>
      <p:sp>
        <p:nvSpPr>
          <p:cNvPr id="16" name="Rectangle 15">
            <a:extLst>
              <a:ext uri="{FF2B5EF4-FFF2-40B4-BE49-F238E27FC236}">
                <a16:creationId xmlns:a16="http://schemas.microsoft.com/office/drawing/2014/main" id="{703D3470-1500-FD3A-18F2-00A45999603E}"/>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Placement">
            <a:extLst>
              <a:ext uri="{FF2B5EF4-FFF2-40B4-BE49-F238E27FC236}">
                <a16:creationId xmlns:a16="http://schemas.microsoft.com/office/drawing/2014/main" id="{4BDF286F-F885-5A5B-0387-B0908D76C8E2}"/>
              </a:ext>
            </a:extLst>
          </p:cNvPr>
          <p:cNvSpPr txBox="1"/>
          <p:nvPr/>
        </p:nvSpPr>
        <p:spPr>
          <a:xfrm>
            <a:off x="6388494" y="3774011"/>
            <a:ext cx="2464560" cy="830997"/>
          </a:xfrm>
          <a:prstGeom prst="rect">
            <a:avLst/>
          </a:prstGeom>
          <a:noFill/>
        </p:spPr>
        <p:txBody>
          <a:bodyPr wrap="square" rtlCol="0">
            <a:spAutoFit/>
          </a:bodyPr>
          <a:lstStyle/>
          <a:p>
            <a:r>
              <a:rPr lang="en-CA" sz="2400" dirty="0"/>
              <a:t>Placement gives Balance</a:t>
            </a:r>
          </a:p>
        </p:txBody>
      </p:sp>
    </p:spTree>
    <p:extLst>
      <p:ext uri="{BB962C8B-B14F-4D97-AF65-F5344CB8AC3E}">
        <p14:creationId xmlns:p14="http://schemas.microsoft.com/office/powerpoint/2010/main" val="2691907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50207-3E77-EA2C-249B-312843ABD5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09B89-96A4-E09C-0C51-0D7278DA0D7B}"/>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D52D86A0-B57D-A8A2-804C-EB41A8969A1E}"/>
              </a:ext>
            </a:extLst>
          </p:cNvPr>
          <p:cNvSpPr/>
          <p:nvPr/>
        </p:nvSpPr>
        <p:spPr>
          <a:xfrm>
            <a:off x="1986742" y="3918143"/>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5B77AA36-B32F-6CA9-662D-4C3E78178120}"/>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Position">
            <a:extLst>
              <a:ext uri="{FF2B5EF4-FFF2-40B4-BE49-F238E27FC236}">
                <a16:creationId xmlns:a16="http://schemas.microsoft.com/office/drawing/2014/main" id="{9070BDD0-5943-3500-F227-341E0F3C492A}"/>
              </a:ext>
            </a:extLst>
          </p:cNvPr>
          <p:cNvSpPr txBox="1"/>
          <p:nvPr/>
        </p:nvSpPr>
        <p:spPr>
          <a:xfrm>
            <a:off x="6388494" y="3774011"/>
            <a:ext cx="2464560" cy="830997"/>
          </a:xfrm>
          <a:prstGeom prst="rect">
            <a:avLst/>
          </a:prstGeom>
          <a:noFill/>
        </p:spPr>
        <p:txBody>
          <a:bodyPr wrap="square" rtlCol="0">
            <a:spAutoFit/>
          </a:bodyPr>
          <a:lstStyle/>
          <a:p>
            <a:r>
              <a:rPr lang="en-CA" sz="2400" dirty="0"/>
              <a:t>Position defines Alignment</a:t>
            </a:r>
          </a:p>
        </p:txBody>
      </p:sp>
    </p:spTree>
    <p:extLst>
      <p:ext uri="{BB962C8B-B14F-4D97-AF65-F5344CB8AC3E}">
        <p14:creationId xmlns:p14="http://schemas.microsoft.com/office/powerpoint/2010/main" val="4240990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784B1-8C8D-B91E-EAE4-FEEF7B742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406B1-4A62-BDFF-0A5B-C9378D7EC46F}"/>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86F8C604-427A-63D9-42F0-9FDCF5CAAA16}"/>
              </a:ext>
            </a:extLst>
          </p:cNvPr>
          <p:cNvSpPr/>
          <p:nvPr/>
        </p:nvSpPr>
        <p:spPr>
          <a:xfrm>
            <a:off x="3549535" y="3918143"/>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164D27EC-588B-B83E-983D-4987101E4A1B}"/>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Position">
            <a:extLst>
              <a:ext uri="{FF2B5EF4-FFF2-40B4-BE49-F238E27FC236}">
                <a16:creationId xmlns:a16="http://schemas.microsoft.com/office/drawing/2014/main" id="{17224A38-3C05-FCD3-4EC9-397263C04309}"/>
              </a:ext>
            </a:extLst>
          </p:cNvPr>
          <p:cNvSpPr txBox="1"/>
          <p:nvPr/>
        </p:nvSpPr>
        <p:spPr>
          <a:xfrm>
            <a:off x="6388494" y="3774011"/>
            <a:ext cx="2464560" cy="830997"/>
          </a:xfrm>
          <a:prstGeom prst="rect">
            <a:avLst/>
          </a:prstGeom>
          <a:noFill/>
        </p:spPr>
        <p:txBody>
          <a:bodyPr wrap="square" rtlCol="0">
            <a:spAutoFit/>
          </a:bodyPr>
          <a:lstStyle/>
          <a:p>
            <a:r>
              <a:rPr lang="en-CA" sz="2400" dirty="0"/>
              <a:t>Position defines Alignment</a:t>
            </a:r>
          </a:p>
        </p:txBody>
      </p:sp>
    </p:spTree>
    <p:extLst>
      <p:ext uri="{BB962C8B-B14F-4D97-AF65-F5344CB8AC3E}">
        <p14:creationId xmlns:p14="http://schemas.microsoft.com/office/powerpoint/2010/main" val="1560166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9F3AA-8451-BBFF-D55D-CF2A4BC8F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1D28F-D707-7D34-3D60-C38CEF442A1A}"/>
              </a:ext>
            </a:extLst>
          </p:cNvPr>
          <p:cNvSpPr>
            <a:spLocks noGrp="1"/>
          </p:cNvSpPr>
          <p:nvPr>
            <p:ph type="title"/>
          </p:nvPr>
        </p:nvSpPr>
        <p:spPr/>
        <p:txBody>
          <a:bodyPr/>
          <a:lstStyle/>
          <a:p>
            <a:r>
              <a:rPr lang="en-CA" dirty="0"/>
              <a:t>One Element, Many Principles</a:t>
            </a:r>
          </a:p>
        </p:txBody>
      </p:sp>
      <p:sp>
        <p:nvSpPr>
          <p:cNvPr id="24" name="Red 2">
            <a:extLst>
              <a:ext uri="{FF2B5EF4-FFF2-40B4-BE49-F238E27FC236}">
                <a16:creationId xmlns:a16="http://schemas.microsoft.com/office/drawing/2014/main" id="{97A78B53-0472-681D-7AA7-02FC580167EB}"/>
              </a:ext>
            </a:extLst>
          </p:cNvPr>
          <p:cNvSpPr/>
          <p:nvPr/>
        </p:nvSpPr>
        <p:spPr>
          <a:xfrm>
            <a:off x="1986742" y="2987771"/>
            <a:ext cx="2410691" cy="24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F1E6AE44-0A8F-7020-ABC4-19DA4594124C}"/>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Position">
            <a:extLst>
              <a:ext uri="{FF2B5EF4-FFF2-40B4-BE49-F238E27FC236}">
                <a16:creationId xmlns:a16="http://schemas.microsoft.com/office/drawing/2014/main" id="{632B5B8B-D6CD-8A93-0532-7EE576E60C90}"/>
              </a:ext>
            </a:extLst>
          </p:cNvPr>
          <p:cNvSpPr txBox="1"/>
          <p:nvPr/>
        </p:nvSpPr>
        <p:spPr>
          <a:xfrm>
            <a:off x="6388494" y="3774011"/>
            <a:ext cx="2464560" cy="830997"/>
          </a:xfrm>
          <a:prstGeom prst="rect">
            <a:avLst/>
          </a:prstGeom>
          <a:noFill/>
        </p:spPr>
        <p:txBody>
          <a:bodyPr wrap="square" rtlCol="0">
            <a:spAutoFit/>
          </a:bodyPr>
          <a:lstStyle/>
          <a:p>
            <a:r>
              <a:rPr lang="en-CA" sz="2400" dirty="0"/>
              <a:t>Position defines Alignment</a:t>
            </a:r>
          </a:p>
        </p:txBody>
      </p:sp>
    </p:spTree>
    <p:extLst>
      <p:ext uri="{BB962C8B-B14F-4D97-AF65-F5344CB8AC3E}">
        <p14:creationId xmlns:p14="http://schemas.microsoft.com/office/powerpoint/2010/main" val="1337910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2D6322-C0C6-84AE-D11D-B5A1A9EB5B30}"/>
              </a:ext>
            </a:extLst>
          </p:cNvPr>
          <p:cNvSpPr>
            <a:spLocks noGrp="1"/>
          </p:cNvSpPr>
          <p:nvPr>
            <p:ph type="title"/>
          </p:nvPr>
        </p:nvSpPr>
        <p:spPr/>
        <p:txBody>
          <a:bodyPr/>
          <a:lstStyle/>
          <a:p>
            <a:r>
              <a:rPr lang="en-CA" dirty="0"/>
              <a:t>The Elements Working Together</a:t>
            </a:r>
          </a:p>
        </p:txBody>
      </p:sp>
      <p:sp>
        <p:nvSpPr>
          <p:cNvPr id="2" name="Content Placeholder 1">
            <a:extLst>
              <a:ext uri="{FF2B5EF4-FFF2-40B4-BE49-F238E27FC236}">
                <a16:creationId xmlns:a16="http://schemas.microsoft.com/office/drawing/2014/main" id="{C9DFEC07-BE5B-D7E5-81BC-3E3257742679}"/>
              </a:ext>
            </a:extLst>
          </p:cNvPr>
          <p:cNvSpPr>
            <a:spLocks noGrp="1"/>
          </p:cNvSpPr>
          <p:nvPr>
            <p:ph sz="half" idx="1"/>
          </p:nvPr>
        </p:nvSpPr>
        <p:spPr>
          <a:xfrm>
            <a:off x="594361" y="2762794"/>
            <a:ext cx="3910579" cy="4069080"/>
          </a:xfrm>
        </p:spPr>
        <p:txBody>
          <a:bodyPr/>
          <a:lstStyle/>
          <a:p>
            <a:pPr marL="0" indent="0">
              <a:buNone/>
            </a:pPr>
            <a:r>
              <a:rPr lang="en-US" dirty="0"/>
              <a:t>Designs often combine:</a:t>
            </a:r>
          </a:p>
          <a:p>
            <a:r>
              <a:rPr lang="en-US" dirty="0"/>
              <a:t>Line</a:t>
            </a:r>
          </a:p>
          <a:p>
            <a:r>
              <a:rPr lang="en-US" dirty="0"/>
              <a:t>Shape</a:t>
            </a:r>
          </a:p>
          <a:p>
            <a:r>
              <a:rPr lang="en-US" dirty="0"/>
              <a:t>Direction</a:t>
            </a:r>
          </a:p>
          <a:p>
            <a:r>
              <a:rPr lang="en-US" dirty="0"/>
              <a:t>Size</a:t>
            </a:r>
          </a:p>
          <a:p>
            <a:r>
              <a:rPr lang="en-US" dirty="0"/>
              <a:t>Texture</a:t>
            </a:r>
          </a:p>
          <a:p>
            <a:r>
              <a:rPr lang="en-US" dirty="0"/>
              <a:t>Colour</a:t>
            </a:r>
          </a:p>
        </p:txBody>
      </p:sp>
      <p:sp>
        <p:nvSpPr>
          <p:cNvPr id="3" name="Content Placeholder 2">
            <a:extLst>
              <a:ext uri="{FF2B5EF4-FFF2-40B4-BE49-F238E27FC236}">
                <a16:creationId xmlns:a16="http://schemas.microsoft.com/office/drawing/2014/main" id="{EF4C2CF0-58F9-FD0F-0C26-7109903EAC74}"/>
              </a:ext>
            </a:extLst>
          </p:cNvPr>
          <p:cNvSpPr>
            <a:spLocks noGrp="1"/>
          </p:cNvSpPr>
          <p:nvPr>
            <p:ph sz="half" idx="2"/>
          </p:nvPr>
        </p:nvSpPr>
        <p:spPr>
          <a:xfrm>
            <a:off x="4642100" y="2762794"/>
            <a:ext cx="3907540" cy="4069080"/>
          </a:xfrm>
        </p:spPr>
        <p:txBody>
          <a:bodyPr/>
          <a:lstStyle/>
          <a:p>
            <a:pPr marL="0" indent="0">
              <a:buNone/>
            </a:pPr>
            <a:r>
              <a:rPr lang="en-US" dirty="0"/>
              <a:t>Working together to create:</a:t>
            </a:r>
          </a:p>
          <a:p>
            <a:r>
              <a:rPr lang="en-US" dirty="0"/>
              <a:t>Hierarchy</a:t>
            </a:r>
          </a:p>
          <a:p>
            <a:r>
              <a:rPr lang="en-US" dirty="0"/>
              <a:t>Emotion</a:t>
            </a:r>
          </a:p>
          <a:p>
            <a:r>
              <a:rPr lang="en-US" dirty="0"/>
              <a:t>Focus</a:t>
            </a:r>
          </a:p>
          <a:p>
            <a:r>
              <a:rPr lang="en-US" dirty="0"/>
              <a:t>Meaning</a:t>
            </a:r>
          </a:p>
          <a:p>
            <a:endParaRPr lang="en-CA" dirty="0"/>
          </a:p>
        </p:txBody>
      </p:sp>
      <p:sp>
        <p:nvSpPr>
          <p:cNvPr id="7" name="TextBox 6">
            <a:extLst>
              <a:ext uri="{FF2B5EF4-FFF2-40B4-BE49-F238E27FC236}">
                <a16:creationId xmlns:a16="http://schemas.microsoft.com/office/drawing/2014/main" id="{CE6416F8-6AE2-B6AA-1CE3-D6C1C1FC0649}"/>
              </a:ext>
            </a:extLst>
          </p:cNvPr>
          <p:cNvSpPr txBox="1"/>
          <p:nvPr/>
        </p:nvSpPr>
        <p:spPr>
          <a:xfrm>
            <a:off x="594361" y="2115914"/>
            <a:ext cx="4572000" cy="461665"/>
          </a:xfrm>
          <a:prstGeom prst="rect">
            <a:avLst/>
          </a:prstGeom>
          <a:noFill/>
        </p:spPr>
        <p:txBody>
          <a:bodyPr wrap="square">
            <a:spAutoFit/>
          </a:bodyPr>
          <a:lstStyle/>
          <a:p>
            <a:pPr marL="0" marR="0">
              <a:lnSpc>
                <a:spcPct val="100000"/>
              </a:lnSpc>
              <a:spcAft>
                <a:spcPts val="800"/>
              </a:spcAft>
              <a:buNone/>
            </a:pPr>
            <a:r>
              <a:rPr lang="en-CA" sz="2400" kern="100" dirty="0">
                <a:effectLst/>
                <a:latin typeface="+mn-lt"/>
                <a:ea typeface="Aptos" panose="020B0004020202020204" pitchFamily="34" charset="0"/>
                <a:cs typeface="Times New Roman" panose="02020603050405020304" pitchFamily="18" charset="0"/>
              </a:rPr>
              <a:t>Rarely Used Alone</a:t>
            </a:r>
            <a:endParaRPr lang="en-CA"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22935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1DD4-B249-1154-D285-1907DDFA73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3F82BB-B3BD-5858-FAEC-19464D318167}"/>
              </a:ext>
            </a:extLst>
          </p:cNvPr>
          <p:cNvSpPr>
            <a:spLocks noGrp="1"/>
          </p:cNvSpPr>
          <p:nvPr>
            <p:ph type="title"/>
          </p:nvPr>
        </p:nvSpPr>
        <p:spPr>
          <a:xfrm>
            <a:off x="2369820" y="413853"/>
            <a:ext cx="6377940" cy="1293028"/>
          </a:xfrm>
        </p:spPr>
        <p:txBody>
          <a:bodyPr/>
          <a:lstStyle/>
          <a:p>
            <a:r>
              <a:rPr lang="en-CA" dirty="0"/>
              <a:t>The Elements Working Together</a:t>
            </a:r>
          </a:p>
        </p:txBody>
      </p:sp>
      <p:pic>
        <p:nvPicPr>
          <p:cNvPr id="10" name="Picture 9">
            <a:extLst>
              <a:ext uri="{FF2B5EF4-FFF2-40B4-BE49-F238E27FC236}">
                <a16:creationId xmlns:a16="http://schemas.microsoft.com/office/drawing/2014/main" id="{1094D59C-A55D-E30F-3385-B540B01FF330}"/>
              </a:ext>
            </a:extLst>
          </p:cNvPr>
          <p:cNvPicPr>
            <a:picLocks noChangeAspect="1"/>
          </p:cNvPicPr>
          <p:nvPr/>
        </p:nvPicPr>
        <p:blipFill>
          <a:blip r:embed="rId3"/>
          <a:stretch>
            <a:fillRect/>
          </a:stretch>
        </p:blipFill>
        <p:spPr>
          <a:xfrm>
            <a:off x="1300998" y="1874885"/>
            <a:ext cx="6858000" cy="4127302"/>
          </a:xfrm>
          <a:prstGeom prst="rect">
            <a:avLst/>
          </a:prstGeom>
        </p:spPr>
      </p:pic>
    </p:spTree>
    <p:extLst>
      <p:ext uri="{BB962C8B-B14F-4D97-AF65-F5344CB8AC3E}">
        <p14:creationId xmlns:p14="http://schemas.microsoft.com/office/powerpoint/2010/main" val="459350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3C713-5B56-FE71-5EF6-45374AABFBFB}"/>
              </a:ext>
            </a:extLst>
          </p:cNvPr>
          <p:cNvSpPr>
            <a:spLocks noGrp="1"/>
          </p:cNvSpPr>
          <p:nvPr>
            <p:ph type="title"/>
          </p:nvPr>
        </p:nvSpPr>
        <p:spPr/>
        <p:txBody>
          <a:bodyPr/>
          <a:lstStyle/>
          <a:p>
            <a:r>
              <a:rPr lang="en-CA" dirty="0"/>
              <a:t>The Hierarchy Formula</a:t>
            </a:r>
          </a:p>
        </p:txBody>
      </p:sp>
      <p:sp>
        <p:nvSpPr>
          <p:cNvPr id="4" name="Content Placeholder 3">
            <a:extLst>
              <a:ext uri="{FF2B5EF4-FFF2-40B4-BE49-F238E27FC236}">
                <a16:creationId xmlns:a16="http://schemas.microsoft.com/office/drawing/2014/main" id="{97633FEA-078D-CEFE-1ABA-50412BBA167D}"/>
              </a:ext>
            </a:extLst>
          </p:cNvPr>
          <p:cNvSpPr>
            <a:spLocks noGrp="1"/>
          </p:cNvSpPr>
          <p:nvPr>
            <p:ph sz="half" idx="1"/>
          </p:nvPr>
        </p:nvSpPr>
        <p:spPr>
          <a:xfrm>
            <a:off x="594360" y="2443942"/>
            <a:ext cx="3910579" cy="4069080"/>
          </a:xfrm>
        </p:spPr>
        <p:txBody>
          <a:bodyPr/>
          <a:lstStyle/>
          <a:p>
            <a:pPr marL="0" indent="0">
              <a:buNone/>
            </a:pPr>
            <a:r>
              <a:rPr lang="en-US" dirty="0"/>
              <a:t>Hierarchy is built using:</a:t>
            </a:r>
          </a:p>
          <a:p>
            <a:r>
              <a:rPr lang="en-US" dirty="0"/>
              <a:t>Size</a:t>
            </a:r>
          </a:p>
          <a:p>
            <a:r>
              <a:rPr lang="en-US" dirty="0"/>
              <a:t>Colour</a:t>
            </a:r>
          </a:p>
          <a:p>
            <a:r>
              <a:rPr lang="en-US" dirty="0"/>
              <a:t>Contrast</a:t>
            </a:r>
          </a:p>
          <a:p>
            <a:r>
              <a:rPr lang="en-US" dirty="0"/>
              <a:t>Space</a:t>
            </a:r>
          </a:p>
          <a:p>
            <a:r>
              <a:rPr lang="en-US" dirty="0"/>
              <a:t>Direction</a:t>
            </a:r>
            <a:endParaRPr lang="en-CA" dirty="0"/>
          </a:p>
        </p:txBody>
      </p:sp>
      <p:sp>
        <p:nvSpPr>
          <p:cNvPr id="5" name="Content Placeholder 4">
            <a:extLst>
              <a:ext uri="{FF2B5EF4-FFF2-40B4-BE49-F238E27FC236}">
                <a16:creationId xmlns:a16="http://schemas.microsoft.com/office/drawing/2014/main" id="{64DC30A0-95E3-8E51-9FFD-E0BED7E9CCC5}"/>
              </a:ext>
            </a:extLst>
          </p:cNvPr>
          <p:cNvSpPr>
            <a:spLocks noGrp="1"/>
          </p:cNvSpPr>
          <p:nvPr>
            <p:ph sz="half" idx="2"/>
          </p:nvPr>
        </p:nvSpPr>
        <p:spPr>
          <a:xfrm>
            <a:off x="4642099" y="2443942"/>
            <a:ext cx="3907540" cy="4069080"/>
          </a:xfrm>
        </p:spPr>
        <p:txBody>
          <a:bodyPr/>
          <a:lstStyle/>
          <a:p>
            <a:r>
              <a:rPr lang="en-CA" dirty="0"/>
              <a:t>Hierarchy is not a separate technique.</a:t>
            </a:r>
          </a:p>
          <a:p>
            <a:r>
              <a:rPr lang="en-CA" dirty="0"/>
              <a:t>Hierarchy is the result of design decisions.</a:t>
            </a:r>
          </a:p>
          <a:p>
            <a:endParaRPr lang="en-CA" dirty="0"/>
          </a:p>
        </p:txBody>
      </p:sp>
    </p:spTree>
    <p:extLst>
      <p:ext uri="{BB962C8B-B14F-4D97-AF65-F5344CB8AC3E}">
        <p14:creationId xmlns:p14="http://schemas.microsoft.com/office/powerpoint/2010/main" val="4138541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Principles of Design</a:t>
            </a:r>
          </a:p>
        </p:txBody>
      </p:sp>
      <p:sp>
        <p:nvSpPr>
          <p:cNvPr id="3" name="Content Placeholder 2"/>
          <p:cNvSpPr>
            <a:spLocks noGrp="1"/>
          </p:cNvSpPr>
          <p:nvPr>
            <p:ph idx="1"/>
          </p:nvPr>
        </p:nvSpPr>
        <p:spPr>
          <a:xfrm>
            <a:off x="594360" y="2024547"/>
            <a:ext cx="7955280" cy="4069080"/>
          </a:xfrm>
        </p:spPr>
        <p:txBody>
          <a:bodyPr>
            <a:normAutofit lnSpcReduction="10000"/>
          </a:bodyPr>
          <a:lstStyle/>
          <a:p>
            <a:endParaRPr dirty="0"/>
          </a:p>
          <a:p>
            <a:pPr>
              <a:lnSpc>
                <a:spcPct val="150000"/>
              </a:lnSpc>
            </a:pPr>
            <a:r>
              <a:rPr dirty="0"/>
              <a:t>Balance</a:t>
            </a:r>
            <a:r>
              <a:rPr lang="en-CA" dirty="0"/>
              <a:t>:</a:t>
            </a:r>
            <a:endParaRPr dirty="0"/>
          </a:p>
          <a:p>
            <a:pPr>
              <a:lnSpc>
                <a:spcPct val="150000"/>
              </a:lnSpc>
            </a:pPr>
            <a:r>
              <a:rPr dirty="0"/>
              <a:t>Proximity</a:t>
            </a:r>
            <a:r>
              <a:rPr lang="en-CA" dirty="0"/>
              <a:t>:</a:t>
            </a:r>
            <a:endParaRPr dirty="0"/>
          </a:p>
          <a:p>
            <a:pPr>
              <a:lnSpc>
                <a:spcPct val="150000"/>
              </a:lnSpc>
            </a:pPr>
            <a:r>
              <a:rPr dirty="0"/>
              <a:t>Alignment</a:t>
            </a:r>
            <a:r>
              <a:rPr lang="en-CA" dirty="0"/>
              <a:t>:</a:t>
            </a:r>
            <a:endParaRPr dirty="0"/>
          </a:p>
          <a:p>
            <a:pPr>
              <a:lnSpc>
                <a:spcPct val="150000"/>
              </a:lnSpc>
            </a:pPr>
            <a:r>
              <a:rPr dirty="0"/>
              <a:t>Repetition</a:t>
            </a:r>
            <a:r>
              <a:rPr lang="en-CA" dirty="0"/>
              <a:t>:</a:t>
            </a:r>
            <a:endParaRPr dirty="0"/>
          </a:p>
          <a:p>
            <a:pPr>
              <a:lnSpc>
                <a:spcPct val="150000"/>
              </a:lnSpc>
            </a:pPr>
            <a:r>
              <a:rPr dirty="0"/>
              <a:t>Contrast</a:t>
            </a:r>
            <a:r>
              <a:rPr lang="en-CA" dirty="0"/>
              <a:t>:</a:t>
            </a:r>
            <a:endParaRPr dirty="0"/>
          </a:p>
          <a:p>
            <a:pPr>
              <a:lnSpc>
                <a:spcPct val="150000"/>
              </a:lnSpc>
            </a:pPr>
            <a:r>
              <a:rPr dirty="0"/>
              <a:t>Space</a:t>
            </a:r>
            <a:r>
              <a:rPr lang="en-CA" dirty="0"/>
              <a:t>:</a:t>
            </a:r>
            <a:endParaRPr dirty="0"/>
          </a:p>
        </p:txBody>
      </p:sp>
      <p:sp>
        <p:nvSpPr>
          <p:cNvPr id="4" name="Content Placeholder 2">
            <a:extLst>
              <a:ext uri="{FF2B5EF4-FFF2-40B4-BE49-F238E27FC236}">
                <a16:creationId xmlns:a16="http://schemas.microsoft.com/office/drawing/2014/main" id="{B9B0BFEE-16D9-EFB2-A64E-6CF57BC3AEE4}"/>
              </a:ext>
            </a:extLst>
          </p:cNvPr>
          <p:cNvSpPr txBox="1">
            <a:spLocks/>
          </p:cNvSpPr>
          <p:nvPr/>
        </p:nvSpPr>
        <p:spPr>
          <a:xfrm>
            <a:off x="2373541" y="2024547"/>
            <a:ext cx="7955280" cy="40690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CA" dirty="0"/>
          </a:p>
          <a:p>
            <a:pPr marL="0" indent="0">
              <a:lnSpc>
                <a:spcPct val="150000"/>
              </a:lnSpc>
              <a:buNone/>
            </a:pPr>
            <a:r>
              <a:rPr lang="en-US" dirty="0"/>
              <a:t>Does the page feel stable or lopsided?</a:t>
            </a:r>
            <a:endParaRPr lang="en-CA" dirty="0"/>
          </a:p>
          <a:p>
            <a:pPr marL="0" indent="0">
              <a:lnSpc>
                <a:spcPct val="150000"/>
              </a:lnSpc>
              <a:buNone/>
            </a:pPr>
            <a:r>
              <a:rPr lang="en-US" dirty="0"/>
              <a:t>Are related things close together?</a:t>
            </a:r>
            <a:endParaRPr lang="en-CA" dirty="0"/>
          </a:p>
          <a:p>
            <a:pPr marL="0" indent="0">
              <a:lnSpc>
                <a:spcPct val="150000"/>
              </a:lnSpc>
              <a:buNone/>
            </a:pPr>
            <a:r>
              <a:rPr lang="en-US" dirty="0"/>
              <a:t>Do edges line up along an invisible grid?</a:t>
            </a:r>
            <a:endParaRPr lang="en-CA" dirty="0"/>
          </a:p>
          <a:p>
            <a:pPr marL="0" indent="0">
              <a:lnSpc>
                <a:spcPct val="150000"/>
              </a:lnSpc>
              <a:buNone/>
            </a:pPr>
            <a:r>
              <a:rPr lang="en-US" dirty="0"/>
              <a:t>Are you creating unity with consistent choices?</a:t>
            </a:r>
            <a:endParaRPr lang="en-CA" dirty="0"/>
          </a:p>
          <a:p>
            <a:pPr marL="0" indent="0">
              <a:lnSpc>
                <a:spcPct val="150000"/>
              </a:lnSpc>
              <a:buNone/>
            </a:pPr>
            <a:r>
              <a:rPr lang="en-US" dirty="0"/>
              <a:t>What stands out first? Why?</a:t>
            </a:r>
            <a:endParaRPr lang="en-CA" dirty="0"/>
          </a:p>
          <a:p>
            <a:pPr marL="0" indent="0">
              <a:lnSpc>
                <a:spcPct val="150000"/>
              </a:lnSpc>
              <a:buNone/>
            </a:pPr>
            <a:r>
              <a:rPr lang="en-US" dirty="0"/>
              <a:t>Is there breathing room, or is it crammed?</a:t>
            </a:r>
            <a:endParaRPr lang="en-CA" dirty="0"/>
          </a:p>
        </p:txBody>
      </p:sp>
    </p:spTree>
    <p:extLst>
      <p:ext uri="{BB962C8B-B14F-4D97-AF65-F5344CB8AC3E}">
        <p14:creationId xmlns:p14="http://schemas.microsoft.com/office/powerpoint/2010/main" val="3146690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05BB2-1091-426F-7D73-80E54434A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38976-DCF1-6568-46D5-DE4743C351AF}"/>
              </a:ext>
            </a:extLst>
          </p:cNvPr>
          <p:cNvSpPr>
            <a:spLocks noGrp="1"/>
          </p:cNvSpPr>
          <p:nvPr>
            <p:ph type="title"/>
          </p:nvPr>
        </p:nvSpPr>
        <p:spPr/>
        <p:txBody>
          <a:bodyPr/>
          <a:lstStyle/>
          <a:p>
            <a:r>
              <a:rPr lang="en-CA" dirty="0"/>
              <a:t>One Principle, Many Elements</a:t>
            </a:r>
          </a:p>
        </p:txBody>
      </p:sp>
      <p:sp>
        <p:nvSpPr>
          <p:cNvPr id="7" name="Red 1">
            <a:extLst>
              <a:ext uri="{FF2B5EF4-FFF2-40B4-BE49-F238E27FC236}">
                <a16:creationId xmlns:a16="http://schemas.microsoft.com/office/drawing/2014/main" id="{DC09FE37-35E8-91D1-B9EC-F8F219FE7B0D}"/>
              </a:ext>
            </a:extLst>
          </p:cNvPr>
          <p:cNvSpPr/>
          <p:nvPr/>
        </p:nvSpPr>
        <p:spPr>
          <a:xfrm>
            <a:off x="1986742" y="2987771"/>
            <a:ext cx="2410691" cy="2412000"/>
          </a:xfrm>
          <a:prstGeom prst="ellipse">
            <a:avLst/>
          </a:prstGeom>
          <a:solidFill>
            <a:srgbClr val="FFBB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CONTRAST</a:t>
            </a:r>
            <a:endParaRPr lang="en-CA" b="1" dirty="0">
              <a:solidFill>
                <a:schemeClr val="bg1"/>
              </a:solidFill>
            </a:endParaRPr>
          </a:p>
        </p:txBody>
      </p:sp>
      <p:sp>
        <p:nvSpPr>
          <p:cNvPr id="16" name="Rectangle 15">
            <a:extLst>
              <a:ext uri="{FF2B5EF4-FFF2-40B4-BE49-F238E27FC236}">
                <a16:creationId xmlns:a16="http://schemas.microsoft.com/office/drawing/2014/main" id="{FB5ED00B-B7B9-1E0F-350F-2543159ED4AD}"/>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170363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B9574-EBA7-D3D0-D62F-789141C02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5FC06-641B-5C6A-961B-DB363DF7CDC4}"/>
              </a:ext>
            </a:extLst>
          </p:cNvPr>
          <p:cNvSpPr>
            <a:spLocks noGrp="1"/>
          </p:cNvSpPr>
          <p:nvPr>
            <p:ph type="title"/>
          </p:nvPr>
        </p:nvSpPr>
        <p:spPr/>
        <p:txBody>
          <a:bodyPr/>
          <a:lstStyle/>
          <a:p>
            <a:r>
              <a:rPr lang="en-CA" dirty="0"/>
              <a:t>One Principle, Many Elements</a:t>
            </a:r>
          </a:p>
        </p:txBody>
      </p:sp>
      <p:sp>
        <p:nvSpPr>
          <p:cNvPr id="7" name="Red 1">
            <a:extLst>
              <a:ext uri="{FF2B5EF4-FFF2-40B4-BE49-F238E27FC236}">
                <a16:creationId xmlns:a16="http://schemas.microsoft.com/office/drawing/2014/main" id="{EC6E8A62-E7FD-20FA-EFE0-98F4970DAAE6}"/>
              </a:ext>
            </a:extLst>
          </p:cNvPr>
          <p:cNvSpPr/>
          <p:nvPr/>
        </p:nvSpPr>
        <p:spPr>
          <a:xfrm>
            <a:off x="2585242" y="3021021"/>
            <a:ext cx="2410691" cy="2412000"/>
          </a:xfrm>
          <a:prstGeom prst="ellipse">
            <a:avLst/>
          </a:prstGeom>
          <a:solidFill>
            <a:srgbClr val="FFBB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CONTRAST</a:t>
            </a:r>
            <a:endParaRPr lang="en-CA" b="1" dirty="0">
              <a:solidFill>
                <a:schemeClr val="bg1"/>
              </a:solidFill>
            </a:endParaRPr>
          </a:p>
        </p:txBody>
      </p:sp>
      <p:sp>
        <p:nvSpPr>
          <p:cNvPr id="16" name="Rectangle 15">
            <a:extLst>
              <a:ext uri="{FF2B5EF4-FFF2-40B4-BE49-F238E27FC236}">
                <a16:creationId xmlns:a16="http://schemas.microsoft.com/office/drawing/2014/main" id="{EC3C2C0F-DB21-A560-8F55-B1CDCD10BC90}"/>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Oval 3">
            <a:extLst>
              <a:ext uri="{FF2B5EF4-FFF2-40B4-BE49-F238E27FC236}">
                <a16:creationId xmlns:a16="http://schemas.microsoft.com/office/drawing/2014/main" id="{622C20E6-B95A-83EC-E0B1-7CA7A2FB5853}"/>
              </a:ext>
            </a:extLst>
          </p:cNvPr>
          <p:cNvSpPr/>
          <p:nvPr/>
        </p:nvSpPr>
        <p:spPr>
          <a:xfrm>
            <a:off x="1523321" y="4469398"/>
            <a:ext cx="914400" cy="914400"/>
          </a:xfrm>
          <a:prstGeom prst="ellipse">
            <a:avLst/>
          </a:prstGeom>
          <a:solidFill>
            <a:srgbClr val="FFBB45"/>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5" name="Colour">
            <a:extLst>
              <a:ext uri="{FF2B5EF4-FFF2-40B4-BE49-F238E27FC236}">
                <a16:creationId xmlns:a16="http://schemas.microsoft.com/office/drawing/2014/main" id="{5E4DE27B-5FFC-CBD2-26EB-8EFCA69F24E9}"/>
              </a:ext>
            </a:extLst>
          </p:cNvPr>
          <p:cNvSpPr txBox="1"/>
          <p:nvPr/>
        </p:nvSpPr>
        <p:spPr>
          <a:xfrm>
            <a:off x="6388494" y="3774011"/>
            <a:ext cx="2464560" cy="830997"/>
          </a:xfrm>
          <a:prstGeom prst="rect">
            <a:avLst/>
          </a:prstGeom>
          <a:noFill/>
        </p:spPr>
        <p:txBody>
          <a:bodyPr wrap="square" rtlCol="0">
            <a:spAutoFit/>
          </a:bodyPr>
          <a:lstStyle/>
          <a:p>
            <a:r>
              <a:rPr lang="en-CA" sz="2400" dirty="0"/>
              <a:t>Contrast through size</a:t>
            </a:r>
          </a:p>
        </p:txBody>
      </p:sp>
    </p:spTree>
    <p:extLst>
      <p:ext uri="{BB962C8B-B14F-4D97-AF65-F5344CB8AC3E}">
        <p14:creationId xmlns:p14="http://schemas.microsoft.com/office/powerpoint/2010/main" val="2785436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D16BD-AAD9-409E-2B44-4C8543576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E461D-2E16-A709-D3BB-B9968D91A4F5}"/>
              </a:ext>
            </a:extLst>
          </p:cNvPr>
          <p:cNvSpPr>
            <a:spLocks noGrp="1"/>
          </p:cNvSpPr>
          <p:nvPr>
            <p:ph type="title"/>
          </p:nvPr>
        </p:nvSpPr>
        <p:spPr/>
        <p:txBody>
          <a:bodyPr/>
          <a:lstStyle/>
          <a:p>
            <a:r>
              <a:rPr lang="en-CA" dirty="0"/>
              <a:t>One Principle, Many Elements</a:t>
            </a:r>
          </a:p>
        </p:txBody>
      </p:sp>
      <p:sp>
        <p:nvSpPr>
          <p:cNvPr id="7" name="Red 1">
            <a:extLst>
              <a:ext uri="{FF2B5EF4-FFF2-40B4-BE49-F238E27FC236}">
                <a16:creationId xmlns:a16="http://schemas.microsoft.com/office/drawing/2014/main" id="{22C0B03A-1042-9152-2933-311709E96B95}"/>
              </a:ext>
            </a:extLst>
          </p:cNvPr>
          <p:cNvSpPr/>
          <p:nvPr/>
        </p:nvSpPr>
        <p:spPr>
          <a:xfrm>
            <a:off x="3469173" y="3078662"/>
            <a:ext cx="2160000" cy="2160000"/>
          </a:xfrm>
          <a:prstGeom prst="ellipse">
            <a:avLst/>
          </a:prstGeom>
          <a:solidFill>
            <a:srgbClr val="FFBB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CONTRAST</a:t>
            </a:r>
            <a:endParaRPr lang="en-CA" b="1" dirty="0">
              <a:solidFill>
                <a:schemeClr val="bg1"/>
              </a:solidFill>
            </a:endParaRPr>
          </a:p>
        </p:txBody>
      </p:sp>
      <p:sp>
        <p:nvSpPr>
          <p:cNvPr id="16" name="Rectangle 15">
            <a:extLst>
              <a:ext uri="{FF2B5EF4-FFF2-40B4-BE49-F238E27FC236}">
                <a16:creationId xmlns:a16="http://schemas.microsoft.com/office/drawing/2014/main" id="{8FC0D7C1-0BB8-DB24-4EAE-E8BFE1279E78}"/>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Oval 3">
            <a:extLst>
              <a:ext uri="{FF2B5EF4-FFF2-40B4-BE49-F238E27FC236}">
                <a16:creationId xmlns:a16="http://schemas.microsoft.com/office/drawing/2014/main" id="{34FF3107-DE47-8376-8E7F-BD5E17A25EDB}"/>
              </a:ext>
            </a:extLst>
          </p:cNvPr>
          <p:cNvSpPr/>
          <p:nvPr/>
        </p:nvSpPr>
        <p:spPr>
          <a:xfrm>
            <a:off x="791801" y="3078662"/>
            <a:ext cx="2160000" cy="2160000"/>
          </a:xfrm>
          <a:prstGeom prst="ellipse">
            <a:avLst/>
          </a:prstGeom>
          <a:solidFill>
            <a:srgbClr val="0070C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5" name="Colour">
            <a:extLst>
              <a:ext uri="{FF2B5EF4-FFF2-40B4-BE49-F238E27FC236}">
                <a16:creationId xmlns:a16="http://schemas.microsoft.com/office/drawing/2014/main" id="{1ED4B53F-2481-FED2-F889-F69379A7601D}"/>
              </a:ext>
            </a:extLst>
          </p:cNvPr>
          <p:cNvSpPr txBox="1"/>
          <p:nvPr/>
        </p:nvSpPr>
        <p:spPr>
          <a:xfrm>
            <a:off x="6388494" y="3774011"/>
            <a:ext cx="2464560" cy="830997"/>
          </a:xfrm>
          <a:prstGeom prst="rect">
            <a:avLst/>
          </a:prstGeom>
          <a:noFill/>
        </p:spPr>
        <p:txBody>
          <a:bodyPr wrap="square" rtlCol="0">
            <a:spAutoFit/>
          </a:bodyPr>
          <a:lstStyle/>
          <a:p>
            <a:r>
              <a:rPr lang="en-CA" sz="2400" dirty="0"/>
              <a:t>Contrast through Colour</a:t>
            </a:r>
          </a:p>
        </p:txBody>
      </p:sp>
    </p:spTree>
    <p:extLst>
      <p:ext uri="{BB962C8B-B14F-4D97-AF65-F5344CB8AC3E}">
        <p14:creationId xmlns:p14="http://schemas.microsoft.com/office/powerpoint/2010/main" val="1072789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36A1A-9745-7040-6F31-E88755930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AF5FC-BAF0-1467-EBE3-BC87C1478F1F}"/>
              </a:ext>
            </a:extLst>
          </p:cNvPr>
          <p:cNvSpPr>
            <a:spLocks noGrp="1"/>
          </p:cNvSpPr>
          <p:nvPr>
            <p:ph type="title"/>
          </p:nvPr>
        </p:nvSpPr>
        <p:spPr/>
        <p:txBody>
          <a:bodyPr/>
          <a:lstStyle/>
          <a:p>
            <a:r>
              <a:rPr lang="en-CA" dirty="0"/>
              <a:t>One Principle, Many Elements</a:t>
            </a:r>
          </a:p>
        </p:txBody>
      </p:sp>
      <p:sp>
        <p:nvSpPr>
          <p:cNvPr id="7" name="Red 1">
            <a:extLst>
              <a:ext uri="{FF2B5EF4-FFF2-40B4-BE49-F238E27FC236}">
                <a16:creationId xmlns:a16="http://schemas.microsoft.com/office/drawing/2014/main" id="{07653E7A-BE79-82B1-BFB3-8C91CF0E416D}"/>
              </a:ext>
            </a:extLst>
          </p:cNvPr>
          <p:cNvSpPr/>
          <p:nvPr/>
        </p:nvSpPr>
        <p:spPr>
          <a:xfrm>
            <a:off x="3383260" y="3021021"/>
            <a:ext cx="2160000" cy="2160000"/>
          </a:xfrm>
          <a:prstGeom prst="ellipse">
            <a:avLst/>
          </a:prstGeom>
          <a:solidFill>
            <a:srgbClr val="FFBB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CONTRAST</a:t>
            </a:r>
            <a:endParaRPr lang="en-CA" b="1" dirty="0">
              <a:solidFill>
                <a:schemeClr val="bg1"/>
              </a:solidFill>
            </a:endParaRPr>
          </a:p>
        </p:txBody>
      </p:sp>
      <p:sp>
        <p:nvSpPr>
          <p:cNvPr id="16" name="Rectangle 15">
            <a:extLst>
              <a:ext uri="{FF2B5EF4-FFF2-40B4-BE49-F238E27FC236}">
                <a16:creationId xmlns:a16="http://schemas.microsoft.com/office/drawing/2014/main" id="{7B2CBF5A-C3CD-F33E-2FD5-9BA5D88AE567}"/>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Oval 3">
            <a:extLst>
              <a:ext uri="{FF2B5EF4-FFF2-40B4-BE49-F238E27FC236}">
                <a16:creationId xmlns:a16="http://schemas.microsoft.com/office/drawing/2014/main" id="{B2210F70-6213-92DA-BD1C-6B470EFE28C0}"/>
              </a:ext>
            </a:extLst>
          </p:cNvPr>
          <p:cNvSpPr/>
          <p:nvPr/>
        </p:nvSpPr>
        <p:spPr>
          <a:xfrm>
            <a:off x="825052" y="3021021"/>
            <a:ext cx="2160000" cy="2160000"/>
          </a:xfrm>
          <a:prstGeom prst="ellipse">
            <a:avLst/>
          </a:prstGeom>
          <a:blipFill>
            <a:blip r:embed="rId3"/>
            <a:tile tx="0" ty="0" sx="100000" sy="100000" flip="none" algn="tl"/>
          </a:blip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5" name="Colour">
            <a:extLst>
              <a:ext uri="{FF2B5EF4-FFF2-40B4-BE49-F238E27FC236}">
                <a16:creationId xmlns:a16="http://schemas.microsoft.com/office/drawing/2014/main" id="{179B675A-A001-9582-B358-BC29634AB632}"/>
              </a:ext>
            </a:extLst>
          </p:cNvPr>
          <p:cNvSpPr txBox="1"/>
          <p:nvPr/>
        </p:nvSpPr>
        <p:spPr>
          <a:xfrm>
            <a:off x="6388494" y="3774011"/>
            <a:ext cx="2639128" cy="830997"/>
          </a:xfrm>
          <a:prstGeom prst="rect">
            <a:avLst/>
          </a:prstGeom>
          <a:noFill/>
        </p:spPr>
        <p:txBody>
          <a:bodyPr wrap="square" rtlCol="0">
            <a:spAutoFit/>
          </a:bodyPr>
          <a:lstStyle/>
          <a:p>
            <a:r>
              <a:rPr lang="en-CA" sz="2400" dirty="0"/>
              <a:t>Contrast through Texture</a:t>
            </a:r>
          </a:p>
        </p:txBody>
      </p:sp>
    </p:spTree>
    <p:extLst>
      <p:ext uri="{BB962C8B-B14F-4D97-AF65-F5344CB8AC3E}">
        <p14:creationId xmlns:p14="http://schemas.microsoft.com/office/powerpoint/2010/main" val="3510453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05099-76FB-92FF-B94C-C95C9AAF9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C57F4-5D8A-325A-7AC8-9194619FCAA1}"/>
              </a:ext>
            </a:extLst>
          </p:cNvPr>
          <p:cNvSpPr>
            <a:spLocks noGrp="1"/>
          </p:cNvSpPr>
          <p:nvPr>
            <p:ph type="title"/>
          </p:nvPr>
        </p:nvSpPr>
        <p:spPr/>
        <p:txBody>
          <a:bodyPr/>
          <a:lstStyle/>
          <a:p>
            <a:r>
              <a:rPr lang="en-CA" dirty="0"/>
              <a:t>One Principle, Many Elements</a:t>
            </a:r>
          </a:p>
        </p:txBody>
      </p:sp>
      <p:sp>
        <p:nvSpPr>
          <p:cNvPr id="7" name="Red 1">
            <a:extLst>
              <a:ext uri="{FF2B5EF4-FFF2-40B4-BE49-F238E27FC236}">
                <a16:creationId xmlns:a16="http://schemas.microsoft.com/office/drawing/2014/main" id="{1148E786-D061-8EE3-57A6-F09D8932DC1B}"/>
              </a:ext>
            </a:extLst>
          </p:cNvPr>
          <p:cNvSpPr/>
          <p:nvPr/>
        </p:nvSpPr>
        <p:spPr>
          <a:xfrm>
            <a:off x="3383260" y="3021021"/>
            <a:ext cx="2160000" cy="2160000"/>
          </a:xfrm>
          <a:prstGeom prst="ellipse">
            <a:avLst/>
          </a:prstGeom>
          <a:solidFill>
            <a:srgbClr val="FFBB4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CONTRAST</a:t>
            </a:r>
            <a:endParaRPr lang="en-CA" b="1" dirty="0">
              <a:solidFill>
                <a:schemeClr val="bg1"/>
              </a:solidFill>
            </a:endParaRPr>
          </a:p>
        </p:txBody>
      </p:sp>
      <p:sp>
        <p:nvSpPr>
          <p:cNvPr id="16" name="Rectangle 15">
            <a:extLst>
              <a:ext uri="{FF2B5EF4-FFF2-40B4-BE49-F238E27FC236}">
                <a16:creationId xmlns:a16="http://schemas.microsoft.com/office/drawing/2014/main" id="{28D0E4F6-C37D-D096-31B1-1A355694CBBD}"/>
              </a:ext>
            </a:extLst>
          </p:cNvPr>
          <p:cNvSpPr/>
          <p:nvPr/>
        </p:nvSpPr>
        <p:spPr>
          <a:xfrm>
            <a:off x="423949" y="2057400"/>
            <a:ext cx="5536277" cy="42727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Star: 5 Points 3">
            <a:extLst>
              <a:ext uri="{FF2B5EF4-FFF2-40B4-BE49-F238E27FC236}">
                <a16:creationId xmlns:a16="http://schemas.microsoft.com/office/drawing/2014/main" id="{BB4C8881-4E90-270B-4D21-E37FD3DE1E69}"/>
              </a:ext>
            </a:extLst>
          </p:cNvPr>
          <p:cNvSpPr/>
          <p:nvPr/>
        </p:nvSpPr>
        <p:spPr>
          <a:xfrm>
            <a:off x="825052" y="3021021"/>
            <a:ext cx="2160000" cy="2160000"/>
          </a:xfrm>
          <a:prstGeom prst="star5">
            <a:avLst/>
          </a:prstGeom>
          <a:solidFill>
            <a:srgbClr val="0070C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CA"/>
          </a:p>
        </p:txBody>
      </p:sp>
      <p:sp>
        <p:nvSpPr>
          <p:cNvPr id="5" name="Colour">
            <a:extLst>
              <a:ext uri="{FF2B5EF4-FFF2-40B4-BE49-F238E27FC236}">
                <a16:creationId xmlns:a16="http://schemas.microsoft.com/office/drawing/2014/main" id="{9DA7CC1A-163A-91B3-CAB8-E69901A48260}"/>
              </a:ext>
            </a:extLst>
          </p:cNvPr>
          <p:cNvSpPr txBox="1"/>
          <p:nvPr/>
        </p:nvSpPr>
        <p:spPr>
          <a:xfrm>
            <a:off x="6388494" y="3774011"/>
            <a:ext cx="2639128" cy="830997"/>
          </a:xfrm>
          <a:prstGeom prst="rect">
            <a:avLst/>
          </a:prstGeom>
          <a:noFill/>
        </p:spPr>
        <p:txBody>
          <a:bodyPr wrap="square" rtlCol="0">
            <a:spAutoFit/>
          </a:bodyPr>
          <a:lstStyle/>
          <a:p>
            <a:r>
              <a:rPr lang="en-CA" sz="2400" dirty="0"/>
              <a:t>Contrast through Shape</a:t>
            </a:r>
          </a:p>
        </p:txBody>
      </p:sp>
    </p:spTree>
    <p:extLst>
      <p:ext uri="{BB962C8B-B14F-4D97-AF65-F5344CB8AC3E}">
        <p14:creationId xmlns:p14="http://schemas.microsoft.com/office/powerpoint/2010/main" val="2515926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6B0F7-641D-9916-2804-511290CD100A}"/>
              </a:ext>
            </a:extLst>
          </p:cNvPr>
          <p:cNvSpPr>
            <a:spLocks noGrp="1"/>
          </p:cNvSpPr>
          <p:nvPr>
            <p:ph type="title"/>
          </p:nvPr>
        </p:nvSpPr>
        <p:spPr>
          <a:xfrm>
            <a:off x="2171700" y="578121"/>
            <a:ext cx="6377940" cy="1293028"/>
          </a:xfrm>
        </p:spPr>
        <p:txBody>
          <a:bodyPr/>
          <a:lstStyle/>
          <a:p>
            <a:r>
              <a:rPr lang="en-CA" dirty="0"/>
              <a:t>One Advertisement. Six Principles</a:t>
            </a:r>
          </a:p>
        </p:txBody>
      </p:sp>
      <p:sp>
        <p:nvSpPr>
          <p:cNvPr id="3" name="Content Placeholder 2">
            <a:extLst>
              <a:ext uri="{FF2B5EF4-FFF2-40B4-BE49-F238E27FC236}">
                <a16:creationId xmlns:a16="http://schemas.microsoft.com/office/drawing/2014/main" id="{476AF25B-E3FB-0EC9-A443-808D8C43DE28}"/>
              </a:ext>
            </a:extLst>
          </p:cNvPr>
          <p:cNvSpPr>
            <a:spLocks noGrp="1"/>
          </p:cNvSpPr>
          <p:nvPr>
            <p:ph idx="1"/>
          </p:nvPr>
        </p:nvSpPr>
        <p:spPr/>
        <p:txBody>
          <a:bodyPr/>
          <a:lstStyle/>
          <a:p>
            <a:pPr marL="0" indent="0">
              <a:buNone/>
            </a:pPr>
            <a:r>
              <a:rPr lang="en-CA" dirty="0"/>
              <a:t>Can you find:</a:t>
            </a:r>
          </a:p>
          <a:p>
            <a:r>
              <a:rPr lang="en-CA" dirty="0"/>
              <a:t>Balance</a:t>
            </a:r>
          </a:p>
          <a:p>
            <a:r>
              <a:rPr lang="en-CA" dirty="0"/>
              <a:t>Proximity</a:t>
            </a:r>
          </a:p>
          <a:p>
            <a:r>
              <a:rPr lang="en-CA" dirty="0"/>
              <a:t>Alignment</a:t>
            </a:r>
          </a:p>
          <a:p>
            <a:r>
              <a:rPr lang="en-CA" dirty="0"/>
              <a:t>Repetition</a:t>
            </a:r>
          </a:p>
          <a:p>
            <a:r>
              <a:rPr lang="en-CA" dirty="0"/>
              <a:t>Contrast</a:t>
            </a:r>
          </a:p>
          <a:p>
            <a:r>
              <a:rPr lang="en-CA" dirty="0"/>
              <a:t>Space</a:t>
            </a:r>
          </a:p>
          <a:p>
            <a:endParaRPr lang="en-CA" dirty="0"/>
          </a:p>
        </p:txBody>
      </p:sp>
      <p:pic>
        <p:nvPicPr>
          <p:cNvPr id="8" name="Picture 7">
            <a:extLst>
              <a:ext uri="{FF2B5EF4-FFF2-40B4-BE49-F238E27FC236}">
                <a16:creationId xmlns:a16="http://schemas.microsoft.com/office/drawing/2014/main" id="{84B806A4-B05F-8CC8-CB44-EE19032DAF4B}"/>
              </a:ext>
            </a:extLst>
          </p:cNvPr>
          <p:cNvPicPr>
            <a:picLocks noChangeAspect="1"/>
          </p:cNvPicPr>
          <p:nvPr/>
        </p:nvPicPr>
        <p:blipFill>
          <a:blip r:embed="rId3"/>
          <a:stretch>
            <a:fillRect/>
          </a:stretch>
        </p:blipFill>
        <p:spPr>
          <a:xfrm>
            <a:off x="418740" y="1871149"/>
            <a:ext cx="8306520" cy="4648603"/>
          </a:xfrm>
          <a:prstGeom prst="rect">
            <a:avLst/>
          </a:prstGeom>
        </p:spPr>
      </p:pic>
      <p:cxnSp>
        <p:nvCxnSpPr>
          <p:cNvPr id="5" name="Straight Connector 4">
            <a:extLst>
              <a:ext uri="{FF2B5EF4-FFF2-40B4-BE49-F238E27FC236}">
                <a16:creationId xmlns:a16="http://schemas.microsoft.com/office/drawing/2014/main" id="{9738BF41-2E33-F16C-AB46-8A2599001277}"/>
              </a:ext>
            </a:extLst>
          </p:cNvPr>
          <p:cNvCxnSpPr>
            <a:cxnSpLocks/>
          </p:cNvCxnSpPr>
          <p:nvPr/>
        </p:nvCxnSpPr>
        <p:spPr>
          <a:xfrm>
            <a:off x="4572000" y="1612669"/>
            <a:ext cx="0" cy="5245331"/>
          </a:xfrm>
          <a:prstGeom prst="line">
            <a:avLst/>
          </a:prstGeom>
          <a:ln w="57150">
            <a:solidFill>
              <a:srgbClr val="F7F7F4"/>
            </a:solidFill>
          </a:ln>
        </p:spPr>
        <p:style>
          <a:lnRef idx="3">
            <a:schemeClr val="accent6"/>
          </a:lnRef>
          <a:fillRef idx="0">
            <a:schemeClr val="accent6"/>
          </a:fillRef>
          <a:effectRef idx="2">
            <a:schemeClr val="accent6"/>
          </a:effectRef>
          <a:fontRef idx="minor">
            <a:schemeClr val="tx1"/>
          </a:fontRef>
        </p:style>
      </p:cxnSp>
      <p:sp>
        <p:nvSpPr>
          <p:cNvPr id="7" name="Rectangle 6">
            <a:extLst>
              <a:ext uri="{FF2B5EF4-FFF2-40B4-BE49-F238E27FC236}">
                <a16:creationId xmlns:a16="http://schemas.microsoft.com/office/drawing/2014/main" id="{530EFDF2-633F-B7B7-7D57-F3406FD48577}"/>
              </a:ext>
            </a:extLst>
          </p:cNvPr>
          <p:cNvSpPr/>
          <p:nvPr/>
        </p:nvSpPr>
        <p:spPr>
          <a:xfrm>
            <a:off x="897775" y="3429000"/>
            <a:ext cx="2892829" cy="1525385"/>
          </a:xfrm>
          <a:prstGeom prst="rect">
            <a:avLst/>
          </a:prstGeom>
          <a:noFill/>
          <a:ln w="57150">
            <a:solidFill>
              <a:srgbClr val="F7F7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0" name="Straight Connector 9">
            <a:extLst>
              <a:ext uri="{FF2B5EF4-FFF2-40B4-BE49-F238E27FC236}">
                <a16:creationId xmlns:a16="http://schemas.microsoft.com/office/drawing/2014/main" id="{87978080-287A-5A0D-0AE1-C6A80FC5FAEF}"/>
              </a:ext>
            </a:extLst>
          </p:cNvPr>
          <p:cNvCxnSpPr/>
          <p:nvPr/>
        </p:nvCxnSpPr>
        <p:spPr>
          <a:xfrm>
            <a:off x="897775" y="1246909"/>
            <a:ext cx="0" cy="6217920"/>
          </a:xfrm>
          <a:prstGeom prst="line">
            <a:avLst/>
          </a:prstGeom>
          <a:ln w="57150">
            <a:solidFill>
              <a:srgbClr val="F7F7F4"/>
            </a:solidFill>
            <a:prstDash val="lg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DFF3C11-C6C6-D9E8-87D9-42AF5EADD05A}"/>
              </a:ext>
            </a:extLst>
          </p:cNvPr>
          <p:cNvSpPr txBox="1"/>
          <p:nvPr/>
        </p:nvSpPr>
        <p:spPr>
          <a:xfrm>
            <a:off x="946062" y="1246909"/>
            <a:ext cx="1616148" cy="369332"/>
          </a:xfrm>
          <a:prstGeom prst="rect">
            <a:avLst/>
          </a:prstGeom>
          <a:noFill/>
        </p:spPr>
        <p:txBody>
          <a:bodyPr wrap="square" rtlCol="0">
            <a:spAutoFit/>
          </a:bodyPr>
          <a:lstStyle/>
          <a:p>
            <a:r>
              <a:rPr lang="en-CA" dirty="0"/>
              <a:t>White Space</a:t>
            </a:r>
          </a:p>
        </p:txBody>
      </p:sp>
      <p:cxnSp>
        <p:nvCxnSpPr>
          <p:cNvPr id="12" name="Straight Arrow Connector 11">
            <a:extLst>
              <a:ext uri="{FF2B5EF4-FFF2-40B4-BE49-F238E27FC236}">
                <a16:creationId xmlns:a16="http://schemas.microsoft.com/office/drawing/2014/main" id="{3A5CE29E-599F-7B75-0B18-BBB4D80ADF33}"/>
              </a:ext>
            </a:extLst>
          </p:cNvPr>
          <p:cNvCxnSpPr>
            <a:cxnSpLocks/>
          </p:cNvCxnSpPr>
          <p:nvPr/>
        </p:nvCxnSpPr>
        <p:spPr>
          <a:xfrm>
            <a:off x="1727459" y="1666699"/>
            <a:ext cx="1032366" cy="4100757"/>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2AD4D681-0FAD-C195-815A-2F4C856B64F3}"/>
              </a:ext>
            </a:extLst>
          </p:cNvPr>
          <p:cNvCxnSpPr>
            <a:cxnSpLocks/>
          </p:cNvCxnSpPr>
          <p:nvPr/>
        </p:nvCxnSpPr>
        <p:spPr>
          <a:xfrm>
            <a:off x="1754136" y="1666699"/>
            <a:ext cx="2212088" cy="828690"/>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sp>
        <p:nvSpPr>
          <p:cNvPr id="26" name="TextBox 25">
            <a:extLst>
              <a:ext uri="{FF2B5EF4-FFF2-40B4-BE49-F238E27FC236}">
                <a16:creationId xmlns:a16="http://schemas.microsoft.com/office/drawing/2014/main" id="{03A03877-E0D0-A110-2711-D32BBD968C9F}"/>
              </a:ext>
            </a:extLst>
          </p:cNvPr>
          <p:cNvSpPr txBox="1"/>
          <p:nvPr/>
        </p:nvSpPr>
        <p:spPr>
          <a:xfrm>
            <a:off x="3608905" y="1187911"/>
            <a:ext cx="1616148" cy="369332"/>
          </a:xfrm>
          <a:prstGeom prst="rect">
            <a:avLst/>
          </a:prstGeom>
          <a:noFill/>
        </p:spPr>
        <p:txBody>
          <a:bodyPr wrap="square" rtlCol="0">
            <a:spAutoFit/>
          </a:bodyPr>
          <a:lstStyle/>
          <a:p>
            <a:pPr algn="ctr"/>
            <a:r>
              <a:rPr lang="en-CA" dirty="0"/>
              <a:t>Balance</a:t>
            </a:r>
          </a:p>
        </p:txBody>
      </p:sp>
      <p:sp>
        <p:nvSpPr>
          <p:cNvPr id="28" name="TextBox 27">
            <a:extLst>
              <a:ext uri="{FF2B5EF4-FFF2-40B4-BE49-F238E27FC236}">
                <a16:creationId xmlns:a16="http://schemas.microsoft.com/office/drawing/2014/main" id="{68D6AEAB-E78C-663D-D931-27258F06BFA2}"/>
              </a:ext>
            </a:extLst>
          </p:cNvPr>
          <p:cNvSpPr txBox="1"/>
          <p:nvPr/>
        </p:nvSpPr>
        <p:spPr>
          <a:xfrm>
            <a:off x="39975" y="1574662"/>
            <a:ext cx="1616148" cy="369332"/>
          </a:xfrm>
          <a:prstGeom prst="rect">
            <a:avLst/>
          </a:prstGeom>
          <a:noFill/>
        </p:spPr>
        <p:txBody>
          <a:bodyPr wrap="square" rtlCol="0">
            <a:spAutoFit/>
          </a:bodyPr>
          <a:lstStyle/>
          <a:p>
            <a:pPr algn="ctr"/>
            <a:r>
              <a:rPr lang="en-CA" dirty="0"/>
              <a:t>Alignment</a:t>
            </a:r>
          </a:p>
        </p:txBody>
      </p:sp>
      <p:sp>
        <p:nvSpPr>
          <p:cNvPr id="30" name="TextBox 29">
            <a:extLst>
              <a:ext uri="{FF2B5EF4-FFF2-40B4-BE49-F238E27FC236}">
                <a16:creationId xmlns:a16="http://schemas.microsoft.com/office/drawing/2014/main" id="{A9E7AC30-1F94-55C1-C09D-B2F2BEBC8D22}"/>
              </a:ext>
            </a:extLst>
          </p:cNvPr>
          <p:cNvSpPr txBox="1"/>
          <p:nvPr/>
        </p:nvSpPr>
        <p:spPr>
          <a:xfrm>
            <a:off x="3124635" y="6455398"/>
            <a:ext cx="1616148" cy="369332"/>
          </a:xfrm>
          <a:prstGeom prst="rect">
            <a:avLst/>
          </a:prstGeom>
          <a:noFill/>
        </p:spPr>
        <p:txBody>
          <a:bodyPr wrap="square" rtlCol="0">
            <a:spAutoFit/>
          </a:bodyPr>
          <a:lstStyle/>
          <a:p>
            <a:pPr algn="ctr"/>
            <a:r>
              <a:rPr lang="en-CA" dirty="0"/>
              <a:t>Proximity</a:t>
            </a:r>
          </a:p>
        </p:txBody>
      </p:sp>
      <p:cxnSp>
        <p:nvCxnSpPr>
          <p:cNvPr id="31" name="Straight Arrow Connector 30">
            <a:extLst>
              <a:ext uri="{FF2B5EF4-FFF2-40B4-BE49-F238E27FC236}">
                <a16:creationId xmlns:a16="http://schemas.microsoft.com/office/drawing/2014/main" id="{9BA176E6-8A5E-929E-7662-736607B03C26}"/>
              </a:ext>
            </a:extLst>
          </p:cNvPr>
          <p:cNvCxnSpPr>
            <a:cxnSpLocks/>
          </p:cNvCxnSpPr>
          <p:nvPr/>
        </p:nvCxnSpPr>
        <p:spPr>
          <a:xfrm flipH="1" flipV="1">
            <a:off x="3238371" y="5124044"/>
            <a:ext cx="694338" cy="1096996"/>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sp>
        <p:nvSpPr>
          <p:cNvPr id="35" name="TextBox 34">
            <a:extLst>
              <a:ext uri="{FF2B5EF4-FFF2-40B4-BE49-F238E27FC236}">
                <a16:creationId xmlns:a16="http://schemas.microsoft.com/office/drawing/2014/main" id="{AD67D236-95B0-3A99-4794-F31D98BD1D22}"/>
              </a:ext>
            </a:extLst>
          </p:cNvPr>
          <p:cNvSpPr txBox="1"/>
          <p:nvPr/>
        </p:nvSpPr>
        <p:spPr>
          <a:xfrm>
            <a:off x="946062" y="6514206"/>
            <a:ext cx="1616148" cy="369332"/>
          </a:xfrm>
          <a:prstGeom prst="rect">
            <a:avLst/>
          </a:prstGeom>
          <a:noFill/>
        </p:spPr>
        <p:txBody>
          <a:bodyPr wrap="square" rtlCol="0">
            <a:spAutoFit/>
          </a:bodyPr>
          <a:lstStyle/>
          <a:p>
            <a:pPr algn="ctr"/>
            <a:r>
              <a:rPr lang="en-CA" dirty="0"/>
              <a:t>Repetition</a:t>
            </a:r>
          </a:p>
        </p:txBody>
      </p:sp>
      <p:cxnSp>
        <p:nvCxnSpPr>
          <p:cNvPr id="36" name="Straight Arrow Connector 35">
            <a:extLst>
              <a:ext uri="{FF2B5EF4-FFF2-40B4-BE49-F238E27FC236}">
                <a16:creationId xmlns:a16="http://schemas.microsoft.com/office/drawing/2014/main" id="{5711B1E5-8B1C-AD6B-E897-73BB1F74A52C}"/>
              </a:ext>
            </a:extLst>
          </p:cNvPr>
          <p:cNvCxnSpPr>
            <a:cxnSpLocks/>
          </p:cNvCxnSpPr>
          <p:nvPr/>
        </p:nvCxnSpPr>
        <p:spPr>
          <a:xfrm flipH="1" flipV="1">
            <a:off x="1288940" y="4389776"/>
            <a:ext cx="491873" cy="2084668"/>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cxnSp>
        <p:nvCxnSpPr>
          <p:cNvPr id="39" name="Straight Arrow Connector 38">
            <a:extLst>
              <a:ext uri="{FF2B5EF4-FFF2-40B4-BE49-F238E27FC236}">
                <a16:creationId xmlns:a16="http://schemas.microsoft.com/office/drawing/2014/main" id="{1F07D2A0-B61D-02F2-28E5-12E7F6B3C10C}"/>
              </a:ext>
            </a:extLst>
          </p:cNvPr>
          <p:cNvCxnSpPr>
            <a:cxnSpLocks/>
          </p:cNvCxnSpPr>
          <p:nvPr/>
        </p:nvCxnSpPr>
        <p:spPr>
          <a:xfrm flipV="1">
            <a:off x="1754136" y="4763729"/>
            <a:ext cx="1039358" cy="1710715"/>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cxnSp>
        <p:nvCxnSpPr>
          <p:cNvPr id="42" name="Straight Arrow Connector 41">
            <a:extLst>
              <a:ext uri="{FF2B5EF4-FFF2-40B4-BE49-F238E27FC236}">
                <a16:creationId xmlns:a16="http://schemas.microsoft.com/office/drawing/2014/main" id="{A0661CE5-B7BA-8EF1-A61D-994E1A054B7E}"/>
              </a:ext>
            </a:extLst>
          </p:cNvPr>
          <p:cNvCxnSpPr>
            <a:cxnSpLocks/>
            <a:stCxn id="35" idx="0"/>
          </p:cNvCxnSpPr>
          <p:nvPr/>
        </p:nvCxnSpPr>
        <p:spPr>
          <a:xfrm flipH="1" flipV="1">
            <a:off x="1425062" y="6090867"/>
            <a:ext cx="329074" cy="423339"/>
          </a:xfrm>
          <a:prstGeom prst="straightConnector1">
            <a:avLst/>
          </a:prstGeom>
          <a:ln w="57150">
            <a:solidFill>
              <a:srgbClr val="F7F7F4"/>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a:extLst>
              <a:ext uri="{FF2B5EF4-FFF2-40B4-BE49-F238E27FC236}">
                <a16:creationId xmlns:a16="http://schemas.microsoft.com/office/drawing/2014/main" id="{B1678276-947E-8939-18A5-A0EBC29E2EEF}"/>
              </a:ext>
            </a:extLst>
          </p:cNvPr>
          <p:cNvSpPr txBox="1"/>
          <p:nvPr/>
        </p:nvSpPr>
        <p:spPr>
          <a:xfrm>
            <a:off x="2467141" y="2535151"/>
            <a:ext cx="1616148" cy="369332"/>
          </a:xfrm>
          <a:prstGeom prst="rect">
            <a:avLst/>
          </a:prstGeom>
          <a:noFill/>
        </p:spPr>
        <p:txBody>
          <a:bodyPr wrap="square" rtlCol="0">
            <a:spAutoFit/>
          </a:bodyPr>
          <a:lstStyle/>
          <a:p>
            <a:pPr algn="ctr"/>
            <a:r>
              <a:rPr lang="en-CA" b="1" dirty="0">
                <a:solidFill>
                  <a:schemeClr val="bg1"/>
                </a:solidFill>
              </a:rPr>
              <a:t>Contrast</a:t>
            </a:r>
          </a:p>
        </p:txBody>
      </p:sp>
    </p:spTree>
    <p:extLst>
      <p:ext uri="{BB962C8B-B14F-4D97-AF65-F5344CB8AC3E}">
        <p14:creationId xmlns:p14="http://schemas.microsoft.com/office/powerpoint/2010/main" val="236007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1"/>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2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35"/>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39"/>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2"/>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1"/>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2"/>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26" grpId="0"/>
      <p:bldP spid="28" grpId="0"/>
      <p:bldP spid="28" grpId="1"/>
      <p:bldP spid="30" grpId="0"/>
      <p:bldP spid="30" grpId="1"/>
      <p:bldP spid="35" grpId="0"/>
      <p:bldP spid="35" grpId="1"/>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8398-E1A7-C566-5B7E-D66DF0C2EE51}"/>
              </a:ext>
            </a:extLst>
          </p:cNvPr>
          <p:cNvSpPr>
            <a:spLocks noGrp="1"/>
          </p:cNvSpPr>
          <p:nvPr>
            <p:ph type="title"/>
          </p:nvPr>
        </p:nvSpPr>
        <p:spPr>
          <a:xfrm>
            <a:off x="2171700" y="764373"/>
            <a:ext cx="6457950" cy="1293028"/>
          </a:xfrm>
        </p:spPr>
        <p:txBody>
          <a:bodyPr>
            <a:normAutofit/>
          </a:bodyPr>
          <a:lstStyle/>
          <a:p>
            <a:r>
              <a:rPr lang="en-CA" dirty="0"/>
              <a:t>Principles Don't Work Alone</a:t>
            </a:r>
          </a:p>
        </p:txBody>
      </p:sp>
      <p:graphicFrame>
        <p:nvGraphicFramePr>
          <p:cNvPr id="4" name="Content Placeholder 3">
            <a:extLst>
              <a:ext uri="{FF2B5EF4-FFF2-40B4-BE49-F238E27FC236}">
                <a16:creationId xmlns:a16="http://schemas.microsoft.com/office/drawing/2014/main" id="{F69F39A3-C638-0C71-E8F5-622AAEE772B7}"/>
              </a:ext>
            </a:extLst>
          </p:cNvPr>
          <p:cNvGraphicFramePr>
            <a:graphicFrameLocks noGrp="1"/>
          </p:cNvGraphicFramePr>
          <p:nvPr>
            <p:ph idx="1"/>
            <p:extLst>
              <p:ext uri="{D42A27DB-BD31-4B8C-83A1-F6EECF244321}">
                <p14:modId xmlns:p14="http://schemas.microsoft.com/office/powerpoint/2010/main" val="1275114179"/>
              </p:ext>
            </p:extLst>
          </p:nvPr>
        </p:nvGraphicFramePr>
        <p:xfrm>
          <a:off x="514350" y="2441051"/>
          <a:ext cx="8115300" cy="3530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061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42ADC-9325-3B69-2559-2AA6AB09DD7D}"/>
              </a:ext>
            </a:extLst>
          </p:cNvPr>
          <p:cNvSpPr>
            <a:spLocks noGrp="1"/>
          </p:cNvSpPr>
          <p:nvPr>
            <p:ph type="title"/>
          </p:nvPr>
        </p:nvSpPr>
        <p:spPr/>
        <p:txBody>
          <a:bodyPr/>
          <a:lstStyle/>
          <a:p>
            <a:r>
              <a:rPr lang="en-CA" dirty="0"/>
              <a:t>Structural Breakdown</a:t>
            </a:r>
          </a:p>
        </p:txBody>
      </p:sp>
      <p:sp>
        <p:nvSpPr>
          <p:cNvPr id="3" name="Text Placeholder 2">
            <a:extLst>
              <a:ext uri="{FF2B5EF4-FFF2-40B4-BE49-F238E27FC236}">
                <a16:creationId xmlns:a16="http://schemas.microsoft.com/office/drawing/2014/main" id="{941A6540-F8B9-8DB8-2A73-89167A8CECF1}"/>
              </a:ext>
            </a:extLst>
          </p:cNvPr>
          <p:cNvSpPr>
            <a:spLocks noGrp="1"/>
          </p:cNvSpPr>
          <p:nvPr>
            <p:ph type="body" idx="1"/>
          </p:nvPr>
        </p:nvSpPr>
        <p:spPr/>
        <p:txBody>
          <a:bodyPr>
            <a:normAutofit/>
          </a:bodyPr>
          <a:lstStyle/>
          <a:p>
            <a:endParaRPr lang="en-CA" dirty="0"/>
          </a:p>
        </p:txBody>
      </p:sp>
    </p:spTree>
    <p:extLst>
      <p:ext uri="{BB962C8B-B14F-4D97-AF65-F5344CB8AC3E}">
        <p14:creationId xmlns:p14="http://schemas.microsoft.com/office/powerpoint/2010/main" val="2778554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C3C2D-DDD2-7B50-1519-420164494975}"/>
              </a:ext>
            </a:extLst>
          </p:cNvPr>
          <p:cNvSpPr>
            <a:spLocks noGrp="1"/>
          </p:cNvSpPr>
          <p:nvPr>
            <p:ph type="title"/>
          </p:nvPr>
        </p:nvSpPr>
        <p:spPr/>
        <p:txBody>
          <a:bodyPr/>
          <a:lstStyle/>
          <a:p>
            <a:r>
              <a:rPr lang="en-CA" dirty="0"/>
              <a:t>Design X-Ray</a:t>
            </a:r>
          </a:p>
        </p:txBody>
      </p:sp>
      <p:sp>
        <p:nvSpPr>
          <p:cNvPr id="3" name="Content Placeholder 2">
            <a:extLst>
              <a:ext uri="{FF2B5EF4-FFF2-40B4-BE49-F238E27FC236}">
                <a16:creationId xmlns:a16="http://schemas.microsoft.com/office/drawing/2014/main" id="{4279B7F4-6039-A1FC-8408-F67B71600439}"/>
              </a:ext>
            </a:extLst>
          </p:cNvPr>
          <p:cNvSpPr>
            <a:spLocks noGrp="1"/>
          </p:cNvSpPr>
          <p:nvPr>
            <p:ph idx="1"/>
          </p:nvPr>
        </p:nvSpPr>
        <p:spPr/>
        <p:txBody>
          <a:bodyPr>
            <a:normAutofit fontScale="92500" lnSpcReduction="10000"/>
          </a:bodyPr>
          <a:lstStyle/>
          <a:p>
            <a:r>
              <a:rPr lang="en-CA" b="1" dirty="0"/>
              <a:t>Visual</a:t>
            </a:r>
            <a:endParaRPr lang="en-CA" dirty="0"/>
          </a:p>
          <a:p>
            <a:r>
              <a:rPr lang="en-CA" dirty="0"/>
              <a:t>Show:</a:t>
            </a:r>
          </a:p>
          <a:p>
            <a:pPr lvl="0"/>
            <a:r>
              <a:rPr lang="en-CA" dirty="0"/>
              <a:t>Advertisement</a:t>
            </a:r>
          </a:p>
          <a:p>
            <a:pPr lvl="0"/>
            <a:r>
              <a:rPr lang="en-CA" dirty="0"/>
              <a:t>Poster</a:t>
            </a:r>
          </a:p>
          <a:p>
            <a:pPr lvl="0"/>
            <a:r>
              <a:rPr lang="en-CA" dirty="0"/>
              <a:t>Website</a:t>
            </a:r>
          </a:p>
          <a:p>
            <a:r>
              <a:rPr lang="en-CA" dirty="0"/>
              <a:t>Overlay annotations showing:</a:t>
            </a:r>
          </a:p>
          <a:p>
            <a:pPr lvl="0"/>
            <a:r>
              <a:rPr lang="en-CA" dirty="0"/>
              <a:t>Grid lines</a:t>
            </a:r>
          </a:p>
          <a:p>
            <a:pPr lvl="0"/>
            <a:r>
              <a:rPr lang="en-CA" dirty="0"/>
              <a:t>Focal point</a:t>
            </a:r>
          </a:p>
          <a:p>
            <a:pPr lvl="0"/>
            <a:r>
              <a:rPr lang="en-CA" dirty="0"/>
              <a:t>Alignment lines</a:t>
            </a:r>
          </a:p>
          <a:p>
            <a:pPr lvl="0"/>
            <a:r>
              <a:rPr lang="en-CA" dirty="0"/>
              <a:t>Contrast locations</a:t>
            </a:r>
          </a:p>
          <a:p>
            <a:pPr lvl="0"/>
            <a:r>
              <a:rPr lang="en-CA" dirty="0"/>
              <a:t>White space zones</a:t>
            </a:r>
          </a:p>
          <a:p>
            <a:endParaRPr lang="en-CA" dirty="0"/>
          </a:p>
        </p:txBody>
      </p:sp>
      <p:pic>
        <p:nvPicPr>
          <p:cNvPr id="5" name="Picture 4">
            <a:extLst>
              <a:ext uri="{FF2B5EF4-FFF2-40B4-BE49-F238E27FC236}">
                <a16:creationId xmlns:a16="http://schemas.microsoft.com/office/drawing/2014/main" id="{7682E8E1-0A16-1B18-375D-8E654026DE46}"/>
              </a:ext>
            </a:extLst>
          </p:cNvPr>
          <p:cNvPicPr>
            <a:picLocks noChangeAspect="1"/>
          </p:cNvPicPr>
          <p:nvPr/>
        </p:nvPicPr>
        <p:blipFill>
          <a:blip r:embed="rId3"/>
          <a:srcRect t="13970"/>
          <a:stretch>
            <a:fillRect/>
          </a:stretch>
        </p:blipFill>
        <p:spPr>
          <a:xfrm>
            <a:off x="0" y="2057400"/>
            <a:ext cx="9144000" cy="4424969"/>
          </a:xfrm>
          <a:prstGeom prst="rect">
            <a:avLst/>
          </a:prstGeom>
        </p:spPr>
      </p:pic>
      <p:sp>
        <p:nvSpPr>
          <p:cNvPr id="4" name="Rectangle 3">
            <a:extLst>
              <a:ext uri="{FF2B5EF4-FFF2-40B4-BE49-F238E27FC236}">
                <a16:creationId xmlns:a16="http://schemas.microsoft.com/office/drawing/2014/main" id="{ED116BC6-69BD-380C-906D-C298F59EA4FE}"/>
              </a:ext>
            </a:extLst>
          </p:cNvPr>
          <p:cNvSpPr/>
          <p:nvPr/>
        </p:nvSpPr>
        <p:spPr>
          <a:xfrm>
            <a:off x="4572000" y="1930111"/>
            <a:ext cx="4405745" cy="4069080"/>
          </a:xfrm>
          <a:prstGeom prst="rect">
            <a:avLst/>
          </a:prstGeom>
          <a:solidFill>
            <a:srgbClr val="F7F7F4"/>
          </a:solidFill>
          <a:ln>
            <a:solidFill>
              <a:srgbClr val="F7F7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8305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8DF35-EF19-8952-8F5C-3DEA16E1AD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06C01-37CA-88DA-1D63-2F41AA78C842}"/>
              </a:ext>
            </a:extLst>
          </p:cNvPr>
          <p:cNvSpPr>
            <a:spLocks noGrp="1"/>
          </p:cNvSpPr>
          <p:nvPr>
            <p:ph type="title"/>
          </p:nvPr>
        </p:nvSpPr>
        <p:spPr/>
        <p:txBody>
          <a:bodyPr/>
          <a:lstStyle/>
          <a:p>
            <a:r>
              <a:rPr lang="en-CA" dirty="0"/>
              <a:t>Design X-Ray</a:t>
            </a:r>
          </a:p>
        </p:txBody>
      </p:sp>
      <p:sp>
        <p:nvSpPr>
          <p:cNvPr id="3" name="Content Placeholder 2">
            <a:extLst>
              <a:ext uri="{FF2B5EF4-FFF2-40B4-BE49-F238E27FC236}">
                <a16:creationId xmlns:a16="http://schemas.microsoft.com/office/drawing/2014/main" id="{80DF7B27-45F6-0004-448A-9977E690E0B7}"/>
              </a:ext>
            </a:extLst>
          </p:cNvPr>
          <p:cNvSpPr>
            <a:spLocks noGrp="1"/>
          </p:cNvSpPr>
          <p:nvPr>
            <p:ph idx="1"/>
          </p:nvPr>
        </p:nvSpPr>
        <p:spPr/>
        <p:txBody>
          <a:bodyPr>
            <a:normAutofit fontScale="92500" lnSpcReduction="10000"/>
          </a:bodyPr>
          <a:lstStyle/>
          <a:p>
            <a:r>
              <a:rPr lang="en-CA" b="1" dirty="0"/>
              <a:t>Visual</a:t>
            </a:r>
            <a:endParaRPr lang="en-CA" dirty="0"/>
          </a:p>
          <a:p>
            <a:r>
              <a:rPr lang="en-CA" dirty="0"/>
              <a:t>Show:</a:t>
            </a:r>
          </a:p>
          <a:p>
            <a:pPr lvl="0"/>
            <a:r>
              <a:rPr lang="en-CA" dirty="0"/>
              <a:t>Advertisement</a:t>
            </a:r>
          </a:p>
          <a:p>
            <a:pPr lvl="0"/>
            <a:r>
              <a:rPr lang="en-CA" dirty="0"/>
              <a:t>Poster</a:t>
            </a:r>
          </a:p>
          <a:p>
            <a:pPr lvl="0"/>
            <a:r>
              <a:rPr lang="en-CA" dirty="0"/>
              <a:t>Website</a:t>
            </a:r>
          </a:p>
          <a:p>
            <a:r>
              <a:rPr lang="en-CA" dirty="0"/>
              <a:t>Overlay annotations showing:</a:t>
            </a:r>
          </a:p>
          <a:p>
            <a:pPr lvl="0"/>
            <a:r>
              <a:rPr lang="en-CA" dirty="0"/>
              <a:t>Grid lines</a:t>
            </a:r>
          </a:p>
          <a:p>
            <a:pPr lvl="0"/>
            <a:r>
              <a:rPr lang="en-CA" dirty="0"/>
              <a:t>Focal point</a:t>
            </a:r>
          </a:p>
          <a:p>
            <a:pPr lvl="0"/>
            <a:r>
              <a:rPr lang="en-CA" dirty="0"/>
              <a:t>Alignment lines</a:t>
            </a:r>
          </a:p>
          <a:p>
            <a:pPr lvl="0"/>
            <a:r>
              <a:rPr lang="en-CA" dirty="0"/>
              <a:t>Contrast locations</a:t>
            </a:r>
          </a:p>
          <a:p>
            <a:pPr lvl="0"/>
            <a:r>
              <a:rPr lang="en-CA" dirty="0"/>
              <a:t>White space zones</a:t>
            </a:r>
          </a:p>
          <a:p>
            <a:endParaRPr lang="en-CA" dirty="0"/>
          </a:p>
        </p:txBody>
      </p:sp>
      <p:pic>
        <p:nvPicPr>
          <p:cNvPr id="8" name="Picture 7">
            <a:extLst>
              <a:ext uri="{FF2B5EF4-FFF2-40B4-BE49-F238E27FC236}">
                <a16:creationId xmlns:a16="http://schemas.microsoft.com/office/drawing/2014/main" id="{CA72DBAF-4B4E-E8A8-9F98-70FF0001C021}"/>
              </a:ext>
            </a:extLst>
          </p:cNvPr>
          <p:cNvPicPr>
            <a:picLocks noChangeAspect="1"/>
          </p:cNvPicPr>
          <p:nvPr/>
        </p:nvPicPr>
        <p:blipFill>
          <a:blip r:embed="rId3"/>
          <a:stretch>
            <a:fillRect/>
          </a:stretch>
        </p:blipFill>
        <p:spPr>
          <a:xfrm>
            <a:off x="33768" y="433388"/>
            <a:ext cx="9110232" cy="6424612"/>
          </a:xfrm>
          <a:prstGeom prst="rect">
            <a:avLst/>
          </a:prstGeom>
        </p:spPr>
      </p:pic>
      <p:cxnSp>
        <p:nvCxnSpPr>
          <p:cNvPr id="5" name="Straight Connector 4">
            <a:extLst>
              <a:ext uri="{FF2B5EF4-FFF2-40B4-BE49-F238E27FC236}">
                <a16:creationId xmlns:a16="http://schemas.microsoft.com/office/drawing/2014/main" id="{0C637C08-C242-126A-AF42-FB767C34DFA1}"/>
              </a:ext>
            </a:extLst>
          </p:cNvPr>
          <p:cNvCxnSpPr/>
          <p:nvPr/>
        </p:nvCxnSpPr>
        <p:spPr>
          <a:xfrm>
            <a:off x="781388" y="0"/>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F4EA4A-14A1-D3F4-438B-C44225538E4F}"/>
              </a:ext>
            </a:extLst>
          </p:cNvPr>
          <p:cNvCxnSpPr/>
          <p:nvPr/>
        </p:nvCxnSpPr>
        <p:spPr>
          <a:xfrm>
            <a:off x="2565824" y="239687"/>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41DF4-C469-618B-B8E7-E63816CB561E}"/>
              </a:ext>
            </a:extLst>
          </p:cNvPr>
          <p:cNvCxnSpPr/>
          <p:nvPr/>
        </p:nvCxnSpPr>
        <p:spPr>
          <a:xfrm>
            <a:off x="4314276" y="340825"/>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6DCBCA4-D49E-522A-0073-7C4C8C8E9C12}"/>
              </a:ext>
            </a:extLst>
          </p:cNvPr>
          <p:cNvCxnSpPr/>
          <p:nvPr/>
        </p:nvCxnSpPr>
        <p:spPr>
          <a:xfrm>
            <a:off x="4649551" y="493225"/>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D2659D-3D9C-3DEE-07B5-071819A77C11}"/>
              </a:ext>
            </a:extLst>
          </p:cNvPr>
          <p:cNvCxnSpPr/>
          <p:nvPr/>
        </p:nvCxnSpPr>
        <p:spPr>
          <a:xfrm>
            <a:off x="6511079" y="1043256"/>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38A5701-F5A8-FA25-7327-B3AA3DC4F164}"/>
              </a:ext>
            </a:extLst>
          </p:cNvPr>
          <p:cNvCxnSpPr/>
          <p:nvPr/>
        </p:nvCxnSpPr>
        <p:spPr>
          <a:xfrm>
            <a:off x="-163480" y="1677791"/>
            <a:ext cx="1082317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96EC224-64FD-F1DF-A928-0B7FAF38AFF3}"/>
              </a:ext>
            </a:extLst>
          </p:cNvPr>
          <p:cNvCxnSpPr/>
          <p:nvPr/>
        </p:nvCxnSpPr>
        <p:spPr>
          <a:xfrm>
            <a:off x="-50916" y="4463941"/>
            <a:ext cx="1082317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B2D4C0F-D305-62EB-293B-BB140ABB23CD}"/>
              </a:ext>
            </a:extLst>
          </p:cNvPr>
          <p:cNvCxnSpPr/>
          <p:nvPr/>
        </p:nvCxnSpPr>
        <p:spPr>
          <a:xfrm>
            <a:off x="160720" y="5958839"/>
            <a:ext cx="10823171"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844F860-77C4-8E3C-6DFF-444FBB9351EB}"/>
              </a:ext>
            </a:extLst>
          </p:cNvPr>
          <p:cNvSpPr txBox="1"/>
          <p:nvPr/>
        </p:nvSpPr>
        <p:spPr>
          <a:xfrm>
            <a:off x="5935287" y="344583"/>
            <a:ext cx="1616148" cy="369332"/>
          </a:xfrm>
          <a:prstGeom prst="rect">
            <a:avLst/>
          </a:prstGeom>
          <a:noFill/>
        </p:spPr>
        <p:txBody>
          <a:bodyPr wrap="none" rtlCol="0">
            <a:spAutoFit/>
          </a:bodyPr>
          <a:lstStyle/>
          <a:p>
            <a:r>
              <a:rPr lang="en-CA" dirty="0"/>
              <a:t>White Space</a:t>
            </a:r>
          </a:p>
        </p:txBody>
      </p:sp>
      <p:cxnSp>
        <p:nvCxnSpPr>
          <p:cNvPr id="20" name="Straight Arrow Connector 19">
            <a:extLst>
              <a:ext uri="{FF2B5EF4-FFF2-40B4-BE49-F238E27FC236}">
                <a16:creationId xmlns:a16="http://schemas.microsoft.com/office/drawing/2014/main" id="{5972026A-6096-05D9-3340-5FC1EA6376B1}"/>
              </a:ext>
            </a:extLst>
          </p:cNvPr>
          <p:cNvCxnSpPr/>
          <p:nvPr/>
        </p:nvCxnSpPr>
        <p:spPr>
          <a:xfrm flipH="1">
            <a:off x="6400800" y="764373"/>
            <a:ext cx="315884" cy="41603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ABF91E75-B1B8-EE1B-BEA4-C10AD7AAC74C}"/>
              </a:ext>
            </a:extLst>
          </p:cNvPr>
          <p:cNvCxnSpPr/>
          <p:nvPr/>
        </p:nvCxnSpPr>
        <p:spPr>
          <a:xfrm flipH="1">
            <a:off x="3707476" y="764373"/>
            <a:ext cx="3035885" cy="64651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a:extLst>
              <a:ext uri="{FF2B5EF4-FFF2-40B4-BE49-F238E27FC236}">
                <a16:creationId xmlns:a16="http://schemas.microsoft.com/office/drawing/2014/main" id="{C1D4A71F-BA8D-2868-3FEE-15F4EB42002C}"/>
              </a:ext>
            </a:extLst>
          </p:cNvPr>
          <p:cNvCxnSpPr/>
          <p:nvPr/>
        </p:nvCxnSpPr>
        <p:spPr>
          <a:xfrm flipH="1">
            <a:off x="6217920" y="764373"/>
            <a:ext cx="525441" cy="347235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5" name="Straight Connector 24">
            <a:extLst>
              <a:ext uri="{FF2B5EF4-FFF2-40B4-BE49-F238E27FC236}">
                <a16:creationId xmlns:a16="http://schemas.microsoft.com/office/drawing/2014/main" id="{E1DE4C11-AF94-60D9-C290-4D5696FA0A8B}"/>
              </a:ext>
            </a:extLst>
          </p:cNvPr>
          <p:cNvCxnSpPr/>
          <p:nvPr/>
        </p:nvCxnSpPr>
        <p:spPr>
          <a:xfrm>
            <a:off x="8362612" y="972390"/>
            <a:ext cx="0" cy="71821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6DBFCF7-7CC0-10DD-5442-BEC053CA4346}"/>
              </a:ext>
            </a:extLst>
          </p:cNvPr>
          <p:cNvCxnSpPr/>
          <p:nvPr/>
        </p:nvCxnSpPr>
        <p:spPr>
          <a:xfrm>
            <a:off x="-354669" y="3016138"/>
            <a:ext cx="1082317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C508D98-FF9D-AAF7-664E-521CCCF8C728}"/>
              </a:ext>
            </a:extLst>
          </p:cNvPr>
          <p:cNvCxnSpPr/>
          <p:nvPr/>
        </p:nvCxnSpPr>
        <p:spPr>
          <a:xfrm>
            <a:off x="3532876" y="433388"/>
            <a:ext cx="0" cy="7182196"/>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069EF34D-A663-0F78-2649-B2B305CD0CD2}"/>
              </a:ext>
            </a:extLst>
          </p:cNvPr>
          <p:cNvCxnSpPr/>
          <p:nvPr/>
        </p:nvCxnSpPr>
        <p:spPr>
          <a:xfrm>
            <a:off x="781388" y="872843"/>
            <a:ext cx="0" cy="7182196"/>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CEE42D47-6EA7-279B-B520-9A54697A6EA1}"/>
              </a:ext>
            </a:extLst>
          </p:cNvPr>
          <p:cNvCxnSpPr/>
          <p:nvPr/>
        </p:nvCxnSpPr>
        <p:spPr>
          <a:xfrm>
            <a:off x="2629587" y="972390"/>
            <a:ext cx="0" cy="7182196"/>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5846B45D-B3FD-3127-B7C9-084B851D7B41}"/>
              </a:ext>
            </a:extLst>
          </p:cNvPr>
          <p:cNvCxnSpPr/>
          <p:nvPr/>
        </p:nvCxnSpPr>
        <p:spPr>
          <a:xfrm>
            <a:off x="4793682" y="1124790"/>
            <a:ext cx="0" cy="7182196"/>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99B2B369-264B-CCFC-4867-F374DBA348A3}"/>
              </a:ext>
            </a:extLst>
          </p:cNvPr>
          <p:cNvCxnSpPr>
            <a:cxnSpLocks/>
          </p:cNvCxnSpPr>
          <p:nvPr/>
        </p:nvCxnSpPr>
        <p:spPr>
          <a:xfrm flipH="1">
            <a:off x="-1463040" y="4751913"/>
            <a:ext cx="12668596" cy="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219BB18E-875C-3B6A-8438-9D618781BB4A}"/>
              </a:ext>
            </a:extLst>
          </p:cNvPr>
          <p:cNvCxnSpPr>
            <a:cxnSpLocks/>
          </p:cNvCxnSpPr>
          <p:nvPr/>
        </p:nvCxnSpPr>
        <p:spPr>
          <a:xfrm flipH="1">
            <a:off x="-1310640" y="1678978"/>
            <a:ext cx="12668596" cy="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8734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2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26"/>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7"/>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22"/>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24"/>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8"/>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3574D-5AAB-D8CF-AF93-27905920D0EC}"/>
              </a:ext>
            </a:extLst>
          </p:cNvPr>
          <p:cNvSpPr>
            <a:spLocks noGrp="1"/>
          </p:cNvSpPr>
          <p:nvPr>
            <p:ph type="title"/>
          </p:nvPr>
        </p:nvSpPr>
        <p:spPr/>
        <p:txBody>
          <a:bodyPr/>
          <a:lstStyle/>
          <a:p>
            <a:r>
              <a:rPr lang="en-CA" dirty="0"/>
              <a:t>Find the Grid</a:t>
            </a:r>
          </a:p>
        </p:txBody>
      </p:sp>
      <p:sp>
        <p:nvSpPr>
          <p:cNvPr id="3" name="Content Placeholder 2">
            <a:extLst>
              <a:ext uri="{FF2B5EF4-FFF2-40B4-BE49-F238E27FC236}">
                <a16:creationId xmlns:a16="http://schemas.microsoft.com/office/drawing/2014/main" id="{1A593DA3-0F06-D24F-59DC-BFFB5CDF718A}"/>
              </a:ext>
            </a:extLst>
          </p:cNvPr>
          <p:cNvSpPr>
            <a:spLocks noGrp="1"/>
          </p:cNvSpPr>
          <p:nvPr>
            <p:ph idx="1"/>
          </p:nvPr>
        </p:nvSpPr>
        <p:spPr/>
        <p:txBody>
          <a:bodyPr/>
          <a:lstStyle/>
          <a:p>
            <a:r>
              <a:rPr lang="en-CA" dirty="0"/>
              <a:t>Show a magazine spread.</a:t>
            </a:r>
          </a:p>
          <a:p>
            <a:r>
              <a:rPr lang="en-CA" dirty="0"/>
              <a:t>Version A</a:t>
            </a:r>
          </a:p>
          <a:p>
            <a:r>
              <a:rPr lang="en-CA" dirty="0"/>
              <a:t>Actual design</a:t>
            </a:r>
          </a:p>
          <a:p>
            <a:r>
              <a:rPr lang="en-CA" dirty="0"/>
              <a:t>Version B</a:t>
            </a:r>
          </a:p>
          <a:p>
            <a:r>
              <a:rPr lang="en-CA" dirty="0"/>
              <a:t>Same design with grid overlay.</a:t>
            </a:r>
          </a:p>
          <a:p>
            <a:endParaRPr lang="en-CA" dirty="0"/>
          </a:p>
        </p:txBody>
      </p:sp>
      <p:pic>
        <p:nvPicPr>
          <p:cNvPr id="5" name="Picture 4">
            <a:extLst>
              <a:ext uri="{FF2B5EF4-FFF2-40B4-BE49-F238E27FC236}">
                <a16:creationId xmlns:a16="http://schemas.microsoft.com/office/drawing/2014/main" id="{5A73A21F-7524-0958-99F8-7B26FB03068B}"/>
              </a:ext>
            </a:extLst>
          </p:cNvPr>
          <p:cNvPicPr>
            <a:picLocks noChangeAspect="1"/>
          </p:cNvPicPr>
          <p:nvPr/>
        </p:nvPicPr>
        <p:blipFill>
          <a:blip r:embed="rId3"/>
          <a:srcRect t="12424"/>
          <a:stretch>
            <a:fillRect/>
          </a:stretch>
        </p:blipFill>
        <p:spPr>
          <a:xfrm>
            <a:off x="0" y="1976870"/>
            <a:ext cx="9144000" cy="4504459"/>
          </a:xfrm>
          <a:prstGeom prst="rect">
            <a:avLst/>
          </a:prstGeom>
        </p:spPr>
      </p:pic>
      <p:sp>
        <p:nvSpPr>
          <p:cNvPr id="4" name="Rectangle 3">
            <a:extLst>
              <a:ext uri="{FF2B5EF4-FFF2-40B4-BE49-F238E27FC236}">
                <a16:creationId xmlns:a16="http://schemas.microsoft.com/office/drawing/2014/main" id="{4CC9ACC2-393C-27D7-E687-3FA259B74D0F}"/>
              </a:ext>
            </a:extLst>
          </p:cNvPr>
          <p:cNvSpPr/>
          <p:nvPr/>
        </p:nvSpPr>
        <p:spPr>
          <a:xfrm>
            <a:off x="4572000" y="2057401"/>
            <a:ext cx="4405745" cy="4069080"/>
          </a:xfrm>
          <a:prstGeom prst="rect">
            <a:avLst/>
          </a:prstGeom>
          <a:solidFill>
            <a:srgbClr val="F7F7F4"/>
          </a:solidFill>
          <a:ln>
            <a:solidFill>
              <a:srgbClr val="F7F7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84863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CABC2-0423-F180-B982-31ADC1535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F30C0-E577-26EC-463A-3B13CBAE9904}"/>
              </a:ext>
            </a:extLst>
          </p:cNvPr>
          <p:cNvSpPr>
            <a:spLocks noGrp="1"/>
          </p:cNvSpPr>
          <p:nvPr>
            <p:ph type="title"/>
          </p:nvPr>
        </p:nvSpPr>
        <p:spPr/>
        <p:txBody>
          <a:bodyPr/>
          <a:lstStyle/>
          <a:p>
            <a:r>
              <a:rPr lang="en-CA" dirty="0"/>
              <a:t>Find the Grid</a:t>
            </a:r>
          </a:p>
        </p:txBody>
      </p:sp>
      <p:sp>
        <p:nvSpPr>
          <p:cNvPr id="3" name="Content Placeholder 2">
            <a:extLst>
              <a:ext uri="{FF2B5EF4-FFF2-40B4-BE49-F238E27FC236}">
                <a16:creationId xmlns:a16="http://schemas.microsoft.com/office/drawing/2014/main" id="{1EA3249C-B541-4C12-A387-BB5AA3CD0076}"/>
              </a:ext>
            </a:extLst>
          </p:cNvPr>
          <p:cNvSpPr>
            <a:spLocks noGrp="1"/>
          </p:cNvSpPr>
          <p:nvPr>
            <p:ph idx="1"/>
          </p:nvPr>
        </p:nvSpPr>
        <p:spPr/>
        <p:txBody>
          <a:bodyPr/>
          <a:lstStyle/>
          <a:p>
            <a:r>
              <a:rPr lang="en-CA" dirty="0"/>
              <a:t>Show a magazine spread.</a:t>
            </a:r>
          </a:p>
          <a:p>
            <a:r>
              <a:rPr lang="en-CA" dirty="0"/>
              <a:t>Version A</a:t>
            </a:r>
          </a:p>
          <a:p>
            <a:r>
              <a:rPr lang="en-CA" dirty="0"/>
              <a:t>Actual design</a:t>
            </a:r>
          </a:p>
          <a:p>
            <a:r>
              <a:rPr lang="en-CA" dirty="0"/>
              <a:t>Version B</a:t>
            </a:r>
          </a:p>
          <a:p>
            <a:r>
              <a:rPr lang="en-CA" dirty="0"/>
              <a:t>Same design with grid overlay.</a:t>
            </a:r>
          </a:p>
          <a:p>
            <a:endParaRPr lang="en-CA" dirty="0"/>
          </a:p>
        </p:txBody>
      </p:sp>
      <p:pic>
        <p:nvPicPr>
          <p:cNvPr id="7" name="Picture 6">
            <a:extLst>
              <a:ext uri="{FF2B5EF4-FFF2-40B4-BE49-F238E27FC236}">
                <a16:creationId xmlns:a16="http://schemas.microsoft.com/office/drawing/2014/main" id="{516DACDC-EF6E-AD8F-D381-40A422701D4E}"/>
              </a:ext>
            </a:extLst>
          </p:cNvPr>
          <p:cNvPicPr>
            <a:picLocks noChangeAspect="1"/>
          </p:cNvPicPr>
          <p:nvPr/>
        </p:nvPicPr>
        <p:blipFill>
          <a:blip r:embed="rId3"/>
          <a:srcRect/>
          <a:stretch>
            <a:fillRect/>
          </a:stretch>
        </p:blipFill>
        <p:spPr>
          <a:xfrm>
            <a:off x="198793" y="391542"/>
            <a:ext cx="8778951" cy="6190990"/>
          </a:xfrm>
          <a:prstGeom prst="rect">
            <a:avLst/>
          </a:prstGeom>
        </p:spPr>
      </p:pic>
      <p:pic>
        <p:nvPicPr>
          <p:cNvPr id="8" name="Picture 7">
            <a:extLst>
              <a:ext uri="{FF2B5EF4-FFF2-40B4-BE49-F238E27FC236}">
                <a16:creationId xmlns:a16="http://schemas.microsoft.com/office/drawing/2014/main" id="{8F4C70ED-5F20-1DAC-4746-D586658289DB}"/>
              </a:ext>
            </a:extLst>
          </p:cNvPr>
          <p:cNvPicPr>
            <a:picLocks noChangeAspect="1"/>
          </p:cNvPicPr>
          <p:nvPr/>
        </p:nvPicPr>
        <p:blipFill>
          <a:blip r:embed="rId4"/>
          <a:stretch>
            <a:fillRect/>
          </a:stretch>
        </p:blipFill>
        <p:spPr>
          <a:xfrm>
            <a:off x="198793" y="391542"/>
            <a:ext cx="8746414" cy="6168044"/>
          </a:xfrm>
          <a:prstGeom prst="rect">
            <a:avLst/>
          </a:prstGeom>
        </p:spPr>
      </p:pic>
    </p:spTree>
    <p:extLst>
      <p:ext uri="{BB962C8B-B14F-4D97-AF65-F5344CB8AC3E}">
        <p14:creationId xmlns:p14="http://schemas.microsoft.com/office/powerpoint/2010/main" val="3154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45DA-4935-D741-2862-73F46A338606}"/>
              </a:ext>
            </a:extLst>
          </p:cNvPr>
          <p:cNvSpPr>
            <a:spLocks noGrp="1"/>
          </p:cNvSpPr>
          <p:nvPr>
            <p:ph type="title"/>
          </p:nvPr>
        </p:nvSpPr>
        <p:spPr/>
        <p:txBody>
          <a:bodyPr/>
          <a:lstStyle/>
          <a:p>
            <a:r>
              <a:rPr lang="en-CA" dirty="0"/>
              <a:t>Locate the Contrast Points</a:t>
            </a:r>
          </a:p>
        </p:txBody>
      </p:sp>
      <p:sp>
        <p:nvSpPr>
          <p:cNvPr id="3" name="Content Placeholder 2">
            <a:extLst>
              <a:ext uri="{FF2B5EF4-FFF2-40B4-BE49-F238E27FC236}">
                <a16:creationId xmlns:a16="http://schemas.microsoft.com/office/drawing/2014/main" id="{EDAC2B00-FE0A-7B94-8050-3EC499AFC9AE}"/>
              </a:ext>
            </a:extLst>
          </p:cNvPr>
          <p:cNvSpPr>
            <a:spLocks noGrp="1"/>
          </p:cNvSpPr>
          <p:nvPr>
            <p:ph idx="1"/>
          </p:nvPr>
        </p:nvSpPr>
        <p:spPr/>
        <p:txBody>
          <a:bodyPr/>
          <a:lstStyle/>
          <a:p>
            <a:r>
              <a:rPr lang="en-CA" dirty="0"/>
              <a:t>Show a design.</a:t>
            </a:r>
          </a:p>
          <a:p>
            <a:endParaRPr lang="en-CA" dirty="0"/>
          </a:p>
        </p:txBody>
      </p:sp>
      <p:pic>
        <p:nvPicPr>
          <p:cNvPr id="5" name="Picture 4">
            <a:extLst>
              <a:ext uri="{FF2B5EF4-FFF2-40B4-BE49-F238E27FC236}">
                <a16:creationId xmlns:a16="http://schemas.microsoft.com/office/drawing/2014/main" id="{F6014847-308B-899B-6E26-64E0089A25D7}"/>
              </a:ext>
            </a:extLst>
          </p:cNvPr>
          <p:cNvPicPr>
            <a:picLocks noChangeAspect="1"/>
          </p:cNvPicPr>
          <p:nvPr/>
        </p:nvPicPr>
        <p:blipFill>
          <a:blip r:embed="rId3"/>
          <a:srcRect t="16626"/>
          <a:stretch>
            <a:fillRect/>
          </a:stretch>
        </p:blipFill>
        <p:spPr>
          <a:xfrm>
            <a:off x="0" y="2084936"/>
            <a:ext cx="9144000" cy="4288328"/>
          </a:xfrm>
          <a:prstGeom prst="rect">
            <a:avLst/>
          </a:prstGeom>
        </p:spPr>
      </p:pic>
    </p:spTree>
    <p:extLst>
      <p:ext uri="{BB962C8B-B14F-4D97-AF65-F5344CB8AC3E}">
        <p14:creationId xmlns:p14="http://schemas.microsoft.com/office/powerpoint/2010/main" val="2461479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2C3F3-7D2E-F2B4-FA06-0C7183C4C6C4}"/>
              </a:ext>
            </a:extLst>
          </p:cNvPr>
          <p:cNvSpPr>
            <a:spLocks noGrp="1"/>
          </p:cNvSpPr>
          <p:nvPr>
            <p:ph type="title"/>
          </p:nvPr>
        </p:nvSpPr>
        <p:spPr/>
        <p:txBody>
          <a:bodyPr/>
          <a:lstStyle/>
          <a:p>
            <a:r>
              <a:rPr lang="en-CA" dirty="0"/>
              <a:t>Follow the Reading Path</a:t>
            </a:r>
          </a:p>
        </p:txBody>
      </p:sp>
      <p:sp>
        <p:nvSpPr>
          <p:cNvPr id="3" name="Content Placeholder 2">
            <a:extLst>
              <a:ext uri="{FF2B5EF4-FFF2-40B4-BE49-F238E27FC236}">
                <a16:creationId xmlns:a16="http://schemas.microsoft.com/office/drawing/2014/main" id="{8D21C290-6295-026D-9DC9-8E5601B5EF34}"/>
              </a:ext>
            </a:extLst>
          </p:cNvPr>
          <p:cNvSpPr>
            <a:spLocks noGrp="1"/>
          </p:cNvSpPr>
          <p:nvPr>
            <p:ph idx="1"/>
          </p:nvPr>
        </p:nvSpPr>
        <p:spPr/>
        <p:txBody>
          <a:bodyPr/>
          <a:lstStyle/>
          <a:p>
            <a:r>
              <a:rPr lang="en-CA" dirty="0"/>
              <a:t>Ask students:</a:t>
            </a:r>
          </a:p>
          <a:p>
            <a:r>
              <a:rPr lang="en-CA" dirty="0"/>
              <a:t>Where does your eye go first?</a:t>
            </a:r>
          </a:p>
          <a:p>
            <a:r>
              <a:rPr lang="en-CA" dirty="0"/>
              <a:t>Second?</a:t>
            </a:r>
          </a:p>
          <a:p>
            <a:r>
              <a:rPr lang="en-CA" dirty="0"/>
              <a:t>Third?</a:t>
            </a:r>
          </a:p>
          <a:p>
            <a:r>
              <a:rPr lang="en-CA" dirty="0"/>
              <a:t>Then reveal annotations.</a:t>
            </a:r>
          </a:p>
          <a:p>
            <a:r>
              <a:rPr lang="en-CA" b="1" dirty="0"/>
              <a:t>Speaker Notes</a:t>
            </a:r>
            <a:endParaRPr lang="en-CA" dirty="0"/>
          </a:p>
          <a:p>
            <a:r>
              <a:rPr lang="en-CA" dirty="0"/>
              <a:t>Contrast creates visual magnets.</a:t>
            </a:r>
          </a:p>
          <a:p>
            <a:r>
              <a:rPr lang="en-CA" dirty="0"/>
              <a:t>Designers intentionally place them.</a:t>
            </a:r>
          </a:p>
        </p:txBody>
      </p:sp>
      <p:pic>
        <p:nvPicPr>
          <p:cNvPr id="5" name="Picture 4">
            <a:extLst>
              <a:ext uri="{FF2B5EF4-FFF2-40B4-BE49-F238E27FC236}">
                <a16:creationId xmlns:a16="http://schemas.microsoft.com/office/drawing/2014/main" id="{AB02E1B1-9F16-8B7B-19C6-06A2F55631B0}"/>
              </a:ext>
            </a:extLst>
          </p:cNvPr>
          <p:cNvPicPr>
            <a:picLocks noChangeAspect="1"/>
          </p:cNvPicPr>
          <p:nvPr/>
        </p:nvPicPr>
        <p:blipFill>
          <a:blip r:embed="rId3"/>
          <a:srcRect t="13394"/>
          <a:stretch>
            <a:fillRect/>
          </a:stretch>
        </p:blipFill>
        <p:spPr>
          <a:xfrm>
            <a:off x="0" y="2057401"/>
            <a:ext cx="9144000" cy="4454583"/>
          </a:xfrm>
          <a:prstGeom prst="rect">
            <a:avLst/>
          </a:prstGeom>
        </p:spPr>
      </p:pic>
      <p:pic>
        <p:nvPicPr>
          <p:cNvPr id="6" name="Picture 5" descr="image.png">
            <a:extLst>
              <a:ext uri="{FF2B5EF4-FFF2-40B4-BE49-F238E27FC236}">
                <a16:creationId xmlns:a16="http://schemas.microsoft.com/office/drawing/2014/main" id="{4CB30617-267E-A29A-5A06-C19C69CD0561}"/>
              </a:ext>
            </a:extLst>
          </p:cNvPr>
          <p:cNvPicPr>
            <a:picLocks noChangeAspect="1"/>
          </p:cNvPicPr>
          <p:nvPr/>
        </p:nvPicPr>
        <p:blipFill>
          <a:blip r:embed="rId4"/>
          <a:srcRect t="26926" b="27500"/>
          <a:stretch>
            <a:fillRect/>
          </a:stretch>
        </p:blipFill>
        <p:spPr>
          <a:xfrm>
            <a:off x="381000" y="1938166"/>
            <a:ext cx="8168640" cy="4581867"/>
          </a:xfrm>
          <a:prstGeom prst="rect">
            <a:avLst/>
          </a:prstGeom>
        </p:spPr>
      </p:pic>
    </p:spTree>
    <p:extLst>
      <p:ext uri="{BB962C8B-B14F-4D97-AF65-F5344CB8AC3E}">
        <p14:creationId xmlns:p14="http://schemas.microsoft.com/office/powerpoint/2010/main" val="3058293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6C5AC-EA4A-5BE9-D54C-2AEDD3C994AC}"/>
              </a:ext>
            </a:extLst>
          </p:cNvPr>
          <p:cNvSpPr>
            <a:spLocks noGrp="1"/>
          </p:cNvSpPr>
          <p:nvPr>
            <p:ph type="title"/>
          </p:nvPr>
        </p:nvSpPr>
        <p:spPr/>
        <p:txBody>
          <a:bodyPr/>
          <a:lstStyle/>
          <a:p>
            <a:r>
              <a:rPr lang="en-CA" dirty="0"/>
              <a:t>Remove One Principle Activity</a:t>
            </a:r>
          </a:p>
        </p:txBody>
      </p:sp>
      <p:sp>
        <p:nvSpPr>
          <p:cNvPr id="3" name="Content Placeholder 2">
            <a:extLst>
              <a:ext uri="{FF2B5EF4-FFF2-40B4-BE49-F238E27FC236}">
                <a16:creationId xmlns:a16="http://schemas.microsoft.com/office/drawing/2014/main" id="{754A981D-F6D9-75DC-928B-D8947A0861EF}"/>
              </a:ext>
            </a:extLst>
          </p:cNvPr>
          <p:cNvSpPr>
            <a:spLocks noGrp="1"/>
          </p:cNvSpPr>
          <p:nvPr>
            <p:ph idx="1"/>
          </p:nvPr>
        </p:nvSpPr>
        <p:spPr/>
        <p:txBody>
          <a:bodyPr/>
          <a:lstStyle/>
          <a:p>
            <a:r>
              <a:rPr lang="en-CA" dirty="0"/>
              <a:t>Show a strong advertisement.</a:t>
            </a:r>
          </a:p>
          <a:p>
            <a:endParaRPr lang="en-CA" dirty="0"/>
          </a:p>
        </p:txBody>
      </p:sp>
      <p:pic>
        <p:nvPicPr>
          <p:cNvPr id="5" name="Picture 4">
            <a:extLst>
              <a:ext uri="{FF2B5EF4-FFF2-40B4-BE49-F238E27FC236}">
                <a16:creationId xmlns:a16="http://schemas.microsoft.com/office/drawing/2014/main" id="{8C1F9C1E-F454-2722-D3C4-8AB96D30B1A7}"/>
              </a:ext>
            </a:extLst>
          </p:cNvPr>
          <p:cNvPicPr>
            <a:picLocks noChangeAspect="1"/>
          </p:cNvPicPr>
          <p:nvPr/>
        </p:nvPicPr>
        <p:blipFill>
          <a:blip r:embed="rId3"/>
          <a:srcRect t="11778"/>
          <a:stretch>
            <a:fillRect/>
          </a:stretch>
        </p:blipFill>
        <p:spPr>
          <a:xfrm>
            <a:off x="0" y="2057401"/>
            <a:ext cx="9144000" cy="4537710"/>
          </a:xfrm>
          <a:prstGeom prst="rect">
            <a:avLst/>
          </a:prstGeom>
        </p:spPr>
      </p:pic>
      <p:sp>
        <p:nvSpPr>
          <p:cNvPr id="4" name="Rectangle 3">
            <a:extLst>
              <a:ext uri="{FF2B5EF4-FFF2-40B4-BE49-F238E27FC236}">
                <a16:creationId xmlns:a16="http://schemas.microsoft.com/office/drawing/2014/main" id="{94625ED0-4C3B-AEE6-A45F-048A4338AA8A}"/>
              </a:ext>
            </a:extLst>
          </p:cNvPr>
          <p:cNvSpPr/>
          <p:nvPr/>
        </p:nvSpPr>
        <p:spPr>
          <a:xfrm>
            <a:off x="4572000" y="2057401"/>
            <a:ext cx="4405745" cy="4069080"/>
          </a:xfrm>
          <a:prstGeom prst="rect">
            <a:avLst/>
          </a:prstGeom>
          <a:solidFill>
            <a:srgbClr val="F7F7F4"/>
          </a:solidFill>
          <a:ln>
            <a:solidFill>
              <a:srgbClr val="F7F7F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677215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1699" y="620580"/>
            <a:ext cx="6377940" cy="1293028"/>
          </a:xfrm>
        </p:spPr>
        <p:txBody>
          <a:bodyPr/>
          <a:lstStyle/>
          <a:p>
            <a:r>
              <a:rPr dirty="0"/>
              <a:t>Elements + Principles Together</a:t>
            </a:r>
          </a:p>
        </p:txBody>
      </p:sp>
      <p:sp>
        <p:nvSpPr>
          <p:cNvPr id="3" name="Content Placeholder 2"/>
          <p:cNvSpPr>
            <a:spLocks noGrp="1"/>
          </p:cNvSpPr>
          <p:nvPr>
            <p:ph sz="half" idx="1"/>
          </p:nvPr>
        </p:nvSpPr>
        <p:spPr/>
        <p:txBody>
          <a:bodyPr>
            <a:normAutofit/>
          </a:bodyPr>
          <a:lstStyle/>
          <a:p>
            <a:endParaRPr sz="2800" dirty="0"/>
          </a:p>
          <a:p>
            <a:r>
              <a:rPr sz="2800" dirty="0"/>
              <a:t>Elements = tools</a:t>
            </a:r>
          </a:p>
          <a:p>
            <a:r>
              <a:rPr sz="2800" dirty="0"/>
              <a:t>Principles = rules</a:t>
            </a:r>
          </a:p>
          <a:p>
            <a:r>
              <a:rPr sz="2800" dirty="0"/>
              <a:t>Pro design = intentional combos</a:t>
            </a:r>
          </a:p>
        </p:txBody>
      </p:sp>
      <p:sp>
        <p:nvSpPr>
          <p:cNvPr id="4" name="Content Placeholder 3">
            <a:extLst>
              <a:ext uri="{FF2B5EF4-FFF2-40B4-BE49-F238E27FC236}">
                <a16:creationId xmlns:a16="http://schemas.microsoft.com/office/drawing/2014/main" id="{912007F0-F921-32BD-80DB-ED6C411DB078}"/>
              </a:ext>
            </a:extLst>
          </p:cNvPr>
          <p:cNvSpPr>
            <a:spLocks noGrp="1"/>
          </p:cNvSpPr>
          <p:nvPr>
            <p:ph sz="half" idx="2"/>
          </p:nvPr>
        </p:nvSpPr>
        <p:spPr/>
        <p:txBody>
          <a:bodyPr/>
          <a:lstStyle/>
          <a:p>
            <a:endParaRPr lang="en-CA"/>
          </a:p>
        </p:txBody>
      </p:sp>
      <p:pic>
        <p:nvPicPr>
          <p:cNvPr id="5" name="Picture 4" descr="Coca cola ad – Artofit">
            <a:extLst>
              <a:ext uri="{FF2B5EF4-FFF2-40B4-BE49-F238E27FC236}">
                <a16:creationId xmlns:a16="http://schemas.microsoft.com/office/drawing/2014/main" id="{063E5B22-3194-90FD-FB72-FB39DECA5629}"/>
              </a:ext>
            </a:extLst>
          </p:cNvPr>
          <p:cNvPicPr>
            <a:picLocks noChangeAspect="1"/>
          </p:cNvPicPr>
          <p:nvPr/>
        </p:nvPicPr>
        <p:blipFill>
          <a:blip r:embed="rId3"/>
          <a:stretch>
            <a:fillRect/>
          </a:stretch>
        </p:blipFill>
        <p:spPr>
          <a:xfrm>
            <a:off x="4712631" y="1897380"/>
            <a:ext cx="3766475" cy="4663440"/>
          </a:xfrm>
          <a:prstGeom prst="rect">
            <a:avLst/>
          </a:prstGeom>
        </p:spPr>
      </p:pic>
      <p:pic>
        <p:nvPicPr>
          <p:cNvPr id="6" name="Picture 5" descr="Sherwin-Williams: TV, Print, and Digital Work | Colorful neon ...">
            <a:extLst>
              <a:ext uri="{FF2B5EF4-FFF2-40B4-BE49-F238E27FC236}">
                <a16:creationId xmlns:a16="http://schemas.microsoft.com/office/drawing/2014/main" id="{C9794928-4A47-6530-799B-D7CF03C1360F}"/>
              </a:ext>
            </a:extLst>
          </p:cNvPr>
          <p:cNvPicPr>
            <a:picLocks noChangeAspect="1"/>
          </p:cNvPicPr>
          <p:nvPr/>
        </p:nvPicPr>
        <p:blipFill>
          <a:blip r:embed="rId4"/>
          <a:stretch>
            <a:fillRect/>
          </a:stretch>
        </p:blipFill>
        <p:spPr>
          <a:xfrm>
            <a:off x="4712630" y="1913608"/>
            <a:ext cx="3766475" cy="4858753"/>
          </a:xfrm>
          <a:prstGeom prst="rect">
            <a:avLst/>
          </a:prstGeom>
        </p:spPr>
      </p:pic>
      <p:pic>
        <p:nvPicPr>
          <p:cNvPr id="7" name="Picture 6" descr="Bildergebnis für pen advertising 2008 | Print magazine, Bic pens, Bic">
            <a:extLst>
              <a:ext uri="{FF2B5EF4-FFF2-40B4-BE49-F238E27FC236}">
                <a16:creationId xmlns:a16="http://schemas.microsoft.com/office/drawing/2014/main" id="{12314BAE-B822-CC48-98E2-23369DAD34E3}"/>
              </a:ext>
            </a:extLst>
          </p:cNvPr>
          <p:cNvPicPr>
            <a:picLocks noChangeAspect="1"/>
          </p:cNvPicPr>
          <p:nvPr/>
        </p:nvPicPr>
        <p:blipFill>
          <a:blip r:embed="rId5"/>
          <a:stretch>
            <a:fillRect/>
          </a:stretch>
        </p:blipFill>
        <p:spPr>
          <a:xfrm>
            <a:off x="4572000" y="1883179"/>
            <a:ext cx="3999756" cy="49748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C9C5B-9B2F-AF6D-060F-598611E8CF9F}"/>
              </a:ext>
            </a:extLst>
          </p:cNvPr>
          <p:cNvSpPr>
            <a:spLocks noGrp="1"/>
          </p:cNvSpPr>
          <p:nvPr>
            <p:ph type="title"/>
          </p:nvPr>
        </p:nvSpPr>
        <p:spPr/>
        <p:txBody>
          <a:bodyPr/>
          <a:lstStyle/>
          <a:p>
            <a:r>
              <a:rPr lang="en-CA" dirty="0"/>
              <a:t>Why Does It Work?</a:t>
            </a:r>
          </a:p>
        </p:txBody>
      </p:sp>
      <p:sp>
        <p:nvSpPr>
          <p:cNvPr id="3" name="Content Placeholder 2">
            <a:extLst>
              <a:ext uri="{FF2B5EF4-FFF2-40B4-BE49-F238E27FC236}">
                <a16:creationId xmlns:a16="http://schemas.microsoft.com/office/drawing/2014/main" id="{8631A227-E530-2FA7-1430-64A2A70DD68A}"/>
              </a:ext>
            </a:extLst>
          </p:cNvPr>
          <p:cNvSpPr>
            <a:spLocks noGrp="1"/>
          </p:cNvSpPr>
          <p:nvPr>
            <p:ph idx="1"/>
          </p:nvPr>
        </p:nvSpPr>
        <p:spPr>
          <a:xfrm>
            <a:off x="594360" y="2456411"/>
            <a:ext cx="7955280" cy="2344189"/>
          </a:xfrm>
        </p:spPr>
        <p:txBody>
          <a:bodyPr/>
          <a:lstStyle/>
          <a:p>
            <a:pPr marL="0" indent="0">
              <a:buNone/>
            </a:pPr>
            <a:r>
              <a:rPr lang="en-US" dirty="0"/>
              <a:t>When a design succeeds:</a:t>
            </a:r>
          </a:p>
          <a:p>
            <a:r>
              <a:rPr lang="en-US" dirty="0"/>
              <a:t>The message is clear.</a:t>
            </a:r>
          </a:p>
          <a:p>
            <a:r>
              <a:rPr lang="en-US" dirty="0"/>
              <a:t>The hierarchy is strong.</a:t>
            </a:r>
          </a:p>
          <a:p>
            <a:r>
              <a:rPr lang="en-US" dirty="0"/>
              <a:t>Elements support principles.</a:t>
            </a:r>
          </a:p>
          <a:p>
            <a:r>
              <a:rPr lang="en-US" dirty="0"/>
              <a:t>The audience understands the message.</a:t>
            </a:r>
          </a:p>
          <a:p>
            <a:endParaRPr lang="en-CA" dirty="0"/>
          </a:p>
        </p:txBody>
      </p:sp>
    </p:spTree>
    <p:extLst>
      <p:ext uri="{BB962C8B-B14F-4D97-AF65-F5344CB8AC3E}">
        <p14:creationId xmlns:p14="http://schemas.microsoft.com/office/powerpoint/2010/main" val="2178637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99F7C-C778-1D5B-F263-FC19060D5FE6}"/>
              </a:ext>
            </a:extLst>
          </p:cNvPr>
          <p:cNvSpPr>
            <a:spLocks noGrp="1"/>
          </p:cNvSpPr>
          <p:nvPr>
            <p:ph type="title"/>
          </p:nvPr>
        </p:nvSpPr>
        <p:spPr/>
        <p:txBody>
          <a:bodyPr/>
          <a:lstStyle/>
          <a:p>
            <a:r>
              <a:rPr lang="en-CA" dirty="0"/>
              <a:t>The Designer's Lens</a:t>
            </a:r>
          </a:p>
        </p:txBody>
      </p:sp>
      <p:pic>
        <p:nvPicPr>
          <p:cNvPr id="7" name="Picture 6">
            <a:extLst>
              <a:ext uri="{FF2B5EF4-FFF2-40B4-BE49-F238E27FC236}">
                <a16:creationId xmlns:a16="http://schemas.microsoft.com/office/drawing/2014/main" id="{39FA20BF-614A-198B-A48C-ADC0B90A2707}"/>
              </a:ext>
            </a:extLst>
          </p:cNvPr>
          <p:cNvPicPr>
            <a:picLocks noChangeAspect="1"/>
          </p:cNvPicPr>
          <p:nvPr/>
        </p:nvPicPr>
        <p:blipFill>
          <a:blip r:embed="rId3"/>
          <a:stretch>
            <a:fillRect/>
          </a:stretch>
        </p:blipFill>
        <p:spPr>
          <a:xfrm>
            <a:off x="377952" y="1819656"/>
            <a:ext cx="8388096" cy="4681728"/>
          </a:xfrm>
          <a:prstGeom prst="rect">
            <a:avLst/>
          </a:prstGeom>
        </p:spPr>
      </p:pic>
    </p:spTree>
    <p:extLst>
      <p:ext uri="{BB962C8B-B14F-4D97-AF65-F5344CB8AC3E}">
        <p14:creationId xmlns:p14="http://schemas.microsoft.com/office/powerpoint/2010/main" val="355339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96C69-DFAD-7C39-E760-BE962B5C5925}"/>
              </a:ext>
            </a:extLst>
          </p:cNvPr>
          <p:cNvSpPr>
            <a:spLocks noGrp="1"/>
          </p:cNvSpPr>
          <p:nvPr>
            <p:ph type="title"/>
          </p:nvPr>
        </p:nvSpPr>
        <p:spPr/>
        <p:txBody>
          <a:bodyPr/>
          <a:lstStyle/>
          <a:p>
            <a:r>
              <a:rPr lang="en-CA" dirty="0"/>
              <a:t>Design Critique Framework</a:t>
            </a:r>
          </a:p>
        </p:txBody>
      </p:sp>
      <p:sp>
        <p:nvSpPr>
          <p:cNvPr id="3" name="Content Placeholder 2">
            <a:extLst>
              <a:ext uri="{FF2B5EF4-FFF2-40B4-BE49-F238E27FC236}">
                <a16:creationId xmlns:a16="http://schemas.microsoft.com/office/drawing/2014/main" id="{04C8D23C-D8B3-7936-EBD4-FA13A342D339}"/>
              </a:ext>
            </a:extLst>
          </p:cNvPr>
          <p:cNvSpPr>
            <a:spLocks noGrp="1"/>
          </p:cNvSpPr>
          <p:nvPr>
            <p:ph idx="1"/>
          </p:nvPr>
        </p:nvSpPr>
        <p:spPr/>
        <p:txBody>
          <a:bodyPr>
            <a:normAutofit/>
          </a:bodyPr>
          <a:lstStyle/>
          <a:p>
            <a:r>
              <a:rPr lang="en-CA" b="1" dirty="0"/>
              <a:t>Elements</a:t>
            </a:r>
            <a:endParaRPr lang="en-CA" dirty="0"/>
          </a:p>
          <a:p>
            <a:pPr lvl="1"/>
            <a:r>
              <a:rPr lang="en-CA" dirty="0"/>
              <a:t>What visual building blocks are used?</a:t>
            </a:r>
          </a:p>
          <a:p>
            <a:r>
              <a:rPr lang="en-CA" b="1" dirty="0"/>
              <a:t>Principles</a:t>
            </a:r>
            <a:endParaRPr lang="en-CA" dirty="0"/>
          </a:p>
          <a:p>
            <a:pPr lvl="1"/>
            <a:r>
              <a:rPr lang="en-CA" dirty="0"/>
              <a:t>How are those elements organized?</a:t>
            </a:r>
          </a:p>
          <a:p>
            <a:r>
              <a:rPr lang="en-CA" b="1" dirty="0"/>
              <a:t>Audience</a:t>
            </a:r>
            <a:endParaRPr lang="en-CA" dirty="0"/>
          </a:p>
          <a:p>
            <a:pPr lvl="1"/>
            <a:r>
              <a:rPr lang="en-CA" dirty="0"/>
              <a:t>Who is this for?</a:t>
            </a:r>
          </a:p>
          <a:p>
            <a:r>
              <a:rPr lang="en-CA" b="1" dirty="0"/>
              <a:t>Message</a:t>
            </a:r>
            <a:endParaRPr lang="en-CA" dirty="0"/>
          </a:p>
          <a:p>
            <a:pPr lvl="1"/>
            <a:r>
              <a:rPr lang="en-CA" dirty="0"/>
              <a:t>What is it trying to communicate?</a:t>
            </a:r>
          </a:p>
          <a:p>
            <a:r>
              <a:rPr lang="en-CA" b="1" dirty="0"/>
              <a:t>Effectiveness</a:t>
            </a:r>
            <a:endParaRPr lang="en-CA" dirty="0"/>
          </a:p>
          <a:p>
            <a:pPr lvl="1"/>
            <a:r>
              <a:rPr lang="en-CA" dirty="0"/>
              <a:t>Did it work?</a:t>
            </a:r>
          </a:p>
        </p:txBody>
      </p:sp>
    </p:spTree>
    <p:extLst>
      <p:ext uri="{BB962C8B-B14F-4D97-AF65-F5344CB8AC3E}">
        <p14:creationId xmlns:p14="http://schemas.microsoft.com/office/powerpoint/2010/main" val="24443909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3B208-EDFA-D910-7A6F-012ADB2E02E2}"/>
              </a:ext>
            </a:extLst>
          </p:cNvPr>
          <p:cNvSpPr>
            <a:spLocks noGrp="1"/>
          </p:cNvSpPr>
          <p:nvPr>
            <p:ph type="title"/>
          </p:nvPr>
        </p:nvSpPr>
        <p:spPr/>
        <p:txBody>
          <a:bodyPr/>
          <a:lstStyle/>
          <a:p>
            <a:r>
              <a:rPr lang="en-CA" dirty="0"/>
              <a:t>The Designer's Checklist</a:t>
            </a:r>
          </a:p>
        </p:txBody>
      </p:sp>
      <p:sp>
        <p:nvSpPr>
          <p:cNvPr id="3" name="Content Placeholder 2">
            <a:extLst>
              <a:ext uri="{FF2B5EF4-FFF2-40B4-BE49-F238E27FC236}">
                <a16:creationId xmlns:a16="http://schemas.microsoft.com/office/drawing/2014/main" id="{5BA8A123-9320-D86B-3A71-EC31E8F58EC6}"/>
              </a:ext>
            </a:extLst>
          </p:cNvPr>
          <p:cNvSpPr>
            <a:spLocks noGrp="1"/>
          </p:cNvSpPr>
          <p:nvPr>
            <p:ph idx="1"/>
          </p:nvPr>
        </p:nvSpPr>
        <p:spPr/>
        <p:txBody>
          <a:bodyPr/>
          <a:lstStyle/>
          <a:p>
            <a:pPr marL="0" indent="0">
              <a:buNone/>
            </a:pPr>
            <a:r>
              <a:rPr lang="en-US" dirty="0"/>
              <a:t>Before finalizing a design:</a:t>
            </a:r>
          </a:p>
          <a:p>
            <a:r>
              <a:rPr lang="en-US" dirty="0"/>
              <a:t>Is the message clear?</a:t>
            </a:r>
          </a:p>
          <a:p>
            <a:r>
              <a:rPr lang="en-US" dirty="0"/>
              <a:t>Is the hierarchy obvious?</a:t>
            </a:r>
          </a:p>
          <a:p>
            <a:r>
              <a:rPr lang="en-US" dirty="0"/>
              <a:t>Is the layout balanced?</a:t>
            </a:r>
          </a:p>
          <a:p>
            <a:r>
              <a:rPr lang="en-US" dirty="0"/>
              <a:t>Does alignment create structure?</a:t>
            </a:r>
          </a:p>
          <a:p>
            <a:r>
              <a:rPr lang="en-US" dirty="0"/>
              <a:t>Does contrast create focus?</a:t>
            </a:r>
          </a:p>
          <a:p>
            <a:r>
              <a:rPr lang="en-US" dirty="0"/>
              <a:t>Does space improve understanding?</a:t>
            </a:r>
          </a:p>
          <a:p>
            <a:endParaRPr lang="en-CA" dirty="0"/>
          </a:p>
        </p:txBody>
      </p:sp>
    </p:spTree>
    <p:extLst>
      <p:ext uri="{BB962C8B-B14F-4D97-AF65-F5344CB8AC3E}">
        <p14:creationId xmlns:p14="http://schemas.microsoft.com/office/powerpoint/2010/main" val="3605690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CF6A-78D3-96C3-4B7C-C8ACA6D2BE1D}"/>
              </a:ext>
            </a:extLst>
          </p:cNvPr>
          <p:cNvSpPr>
            <a:spLocks noGrp="1"/>
          </p:cNvSpPr>
          <p:nvPr>
            <p:ph type="title"/>
          </p:nvPr>
        </p:nvSpPr>
        <p:spPr/>
        <p:txBody>
          <a:bodyPr>
            <a:normAutofit/>
          </a:bodyPr>
          <a:lstStyle/>
          <a:p>
            <a:r>
              <a:rPr lang="en-US" dirty="0"/>
              <a:t>Everything Works Together</a:t>
            </a:r>
            <a:endParaRPr lang="en-CA" dirty="0"/>
          </a:p>
        </p:txBody>
      </p:sp>
      <p:sp>
        <p:nvSpPr>
          <p:cNvPr id="3" name="Content Placeholder 2">
            <a:extLst>
              <a:ext uri="{FF2B5EF4-FFF2-40B4-BE49-F238E27FC236}">
                <a16:creationId xmlns:a16="http://schemas.microsoft.com/office/drawing/2014/main" id="{A7115D9F-4418-CD59-ACFC-9B7971A31320}"/>
              </a:ext>
            </a:extLst>
          </p:cNvPr>
          <p:cNvSpPr>
            <a:spLocks noGrp="1"/>
          </p:cNvSpPr>
          <p:nvPr>
            <p:ph idx="1"/>
          </p:nvPr>
        </p:nvSpPr>
        <p:spPr/>
        <p:txBody>
          <a:bodyPr>
            <a:normAutofit fontScale="25000" lnSpcReduction="20000"/>
          </a:bodyPr>
          <a:lstStyle/>
          <a:p>
            <a:r>
              <a:rPr lang="en-CA" dirty="0"/>
              <a:t>Visual Framework:</a:t>
            </a:r>
          </a:p>
          <a:p>
            <a:r>
              <a:rPr lang="en-CA" dirty="0"/>
              <a:t>ELEMENTS</a:t>
            </a:r>
          </a:p>
          <a:p>
            <a:r>
              <a:rPr lang="en-CA" dirty="0"/>
              <a:t>(Line, Shape, Direction,</a:t>
            </a:r>
          </a:p>
          <a:p>
            <a:r>
              <a:rPr lang="en-CA" dirty="0"/>
              <a:t> Size, Texture, Colour)</a:t>
            </a:r>
          </a:p>
          <a:p>
            <a:r>
              <a:rPr lang="en-CA" dirty="0"/>
              <a:t> </a:t>
            </a:r>
          </a:p>
          <a:p>
            <a:r>
              <a:rPr lang="en-CA" dirty="0"/>
              <a:t>        ↓</a:t>
            </a:r>
          </a:p>
          <a:p>
            <a:r>
              <a:rPr lang="en-CA" dirty="0"/>
              <a:t> </a:t>
            </a:r>
          </a:p>
          <a:p>
            <a:r>
              <a:rPr lang="en-CA" dirty="0"/>
              <a:t>PRINCIPLES</a:t>
            </a:r>
          </a:p>
          <a:p>
            <a:r>
              <a:rPr lang="en-CA" dirty="0"/>
              <a:t>(Hierarchy, Balance,</a:t>
            </a:r>
          </a:p>
          <a:p>
            <a:r>
              <a:rPr lang="en-CA" dirty="0"/>
              <a:t> Proximity, Alignment,</a:t>
            </a:r>
          </a:p>
          <a:p>
            <a:r>
              <a:rPr lang="en-CA" dirty="0"/>
              <a:t> Repetition, Contrast,</a:t>
            </a:r>
          </a:p>
          <a:p>
            <a:r>
              <a:rPr lang="en-CA" dirty="0"/>
              <a:t> Space)</a:t>
            </a:r>
          </a:p>
          <a:p>
            <a:r>
              <a:rPr lang="en-CA" dirty="0"/>
              <a:t> </a:t>
            </a:r>
          </a:p>
          <a:p>
            <a:r>
              <a:rPr lang="en-CA" dirty="0"/>
              <a:t>        ↓</a:t>
            </a:r>
          </a:p>
          <a:p>
            <a:r>
              <a:rPr lang="en-CA" dirty="0"/>
              <a:t> </a:t>
            </a:r>
          </a:p>
          <a:p>
            <a:r>
              <a:rPr lang="en-CA" dirty="0"/>
              <a:t>STRUCTURE</a:t>
            </a:r>
          </a:p>
          <a:p>
            <a:r>
              <a:rPr lang="en-CA" dirty="0"/>
              <a:t> </a:t>
            </a:r>
          </a:p>
          <a:p>
            <a:r>
              <a:rPr lang="en-CA" dirty="0"/>
              <a:t>        ↓</a:t>
            </a:r>
          </a:p>
          <a:p>
            <a:r>
              <a:rPr lang="en-CA" dirty="0"/>
              <a:t> </a:t>
            </a:r>
          </a:p>
          <a:p>
            <a:r>
              <a:rPr lang="en-CA" dirty="0"/>
              <a:t>COMMUNICATION</a:t>
            </a:r>
          </a:p>
          <a:p>
            <a:r>
              <a:rPr lang="en-CA" dirty="0"/>
              <a:t> </a:t>
            </a:r>
          </a:p>
          <a:p>
            <a:r>
              <a:rPr lang="en-CA" dirty="0"/>
              <a:t>        ↓</a:t>
            </a:r>
          </a:p>
          <a:p>
            <a:r>
              <a:rPr lang="en-CA" dirty="0"/>
              <a:t> </a:t>
            </a:r>
          </a:p>
          <a:p>
            <a:r>
              <a:rPr lang="en-CA" dirty="0"/>
              <a:t>AUDIENCE UNDERSTANDING</a:t>
            </a:r>
          </a:p>
          <a:p>
            <a:endParaRPr lang="en-CA" dirty="0"/>
          </a:p>
        </p:txBody>
      </p:sp>
      <p:pic>
        <p:nvPicPr>
          <p:cNvPr id="5" name="Picture 4">
            <a:extLst>
              <a:ext uri="{FF2B5EF4-FFF2-40B4-BE49-F238E27FC236}">
                <a16:creationId xmlns:a16="http://schemas.microsoft.com/office/drawing/2014/main" id="{1E8D2B31-6354-3C7C-5987-888A31286D67}"/>
              </a:ext>
            </a:extLst>
          </p:cNvPr>
          <p:cNvPicPr>
            <a:picLocks noChangeAspect="1"/>
          </p:cNvPicPr>
          <p:nvPr/>
        </p:nvPicPr>
        <p:blipFill>
          <a:blip r:embed="rId3"/>
          <a:srcRect t="12707"/>
          <a:stretch>
            <a:fillRect/>
          </a:stretch>
        </p:blipFill>
        <p:spPr>
          <a:xfrm>
            <a:off x="0" y="2194560"/>
            <a:ext cx="9144000" cy="4489912"/>
          </a:xfrm>
          <a:prstGeom prst="rect">
            <a:avLst/>
          </a:prstGeom>
        </p:spPr>
      </p:pic>
    </p:spTree>
    <p:extLst>
      <p:ext uri="{BB962C8B-B14F-4D97-AF65-F5344CB8AC3E}">
        <p14:creationId xmlns:p14="http://schemas.microsoft.com/office/powerpoint/2010/main" val="1425197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A72DA-8632-5C18-D389-4180BD20F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697400-55B6-231C-8990-20CBD3D200DD}"/>
              </a:ext>
            </a:extLst>
          </p:cNvPr>
          <p:cNvSpPr>
            <a:spLocks noGrp="1"/>
          </p:cNvSpPr>
          <p:nvPr>
            <p:ph type="title"/>
          </p:nvPr>
        </p:nvSpPr>
        <p:spPr>
          <a:xfrm>
            <a:off x="2771775" y="1206336"/>
            <a:ext cx="4783455" cy="969771"/>
          </a:xfrm>
        </p:spPr>
        <p:txBody>
          <a:bodyPr>
            <a:normAutofit fontScale="90000"/>
          </a:bodyPr>
          <a:lstStyle/>
          <a:p>
            <a:r>
              <a:rPr lang="en-CA" dirty="0"/>
              <a:t>Everything Works Together</a:t>
            </a:r>
          </a:p>
        </p:txBody>
      </p:sp>
      <p:pic>
        <p:nvPicPr>
          <p:cNvPr id="19" name="Picture 18">
            <a:extLst>
              <a:ext uri="{FF2B5EF4-FFF2-40B4-BE49-F238E27FC236}">
                <a16:creationId xmlns:a16="http://schemas.microsoft.com/office/drawing/2014/main" id="{4CBA9122-656F-6E88-B035-CD3EB68FD226}"/>
              </a:ext>
            </a:extLst>
          </p:cNvPr>
          <p:cNvPicPr>
            <a:picLocks noChangeAspect="1"/>
          </p:cNvPicPr>
          <p:nvPr/>
        </p:nvPicPr>
        <p:blipFill>
          <a:blip r:embed="rId3"/>
          <a:stretch>
            <a:fillRect/>
          </a:stretch>
        </p:blipFill>
        <p:spPr>
          <a:xfrm>
            <a:off x="1143000" y="2200705"/>
            <a:ext cx="6858000" cy="3743771"/>
          </a:xfrm>
          <a:prstGeom prst="rect">
            <a:avLst/>
          </a:prstGeom>
        </p:spPr>
      </p:pic>
    </p:spTree>
    <p:extLst>
      <p:ext uri="{BB962C8B-B14F-4D97-AF65-F5344CB8AC3E}">
        <p14:creationId xmlns:p14="http://schemas.microsoft.com/office/powerpoint/2010/main" val="13031727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93A73-8DF9-A1F5-498E-5B92ED1CC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F6847-DBBB-4B9A-A5BF-C6C634EE3793}"/>
              </a:ext>
            </a:extLst>
          </p:cNvPr>
          <p:cNvSpPr>
            <a:spLocks noGrp="1"/>
          </p:cNvSpPr>
          <p:nvPr>
            <p:ph type="title"/>
          </p:nvPr>
        </p:nvSpPr>
        <p:spPr>
          <a:xfrm>
            <a:off x="2921065" y="628403"/>
            <a:ext cx="5775066" cy="969771"/>
          </a:xfrm>
        </p:spPr>
        <p:txBody>
          <a:bodyPr>
            <a:normAutofit fontScale="90000"/>
          </a:bodyPr>
          <a:lstStyle/>
          <a:p>
            <a:r>
              <a:rPr lang="en-CA" dirty="0"/>
              <a:t>Design Is Intentional</a:t>
            </a:r>
          </a:p>
        </p:txBody>
      </p:sp>
      <p:pic>
        <p:nvPicPr>
          <p:cNvPr id="38" name="Picture 37">
            <a:extLst>
              <a:ext uri="{FF2B5EF4-FFF2-40B4-BE49-F238E27FC236}">
                <a16:creationId xmlns:a16="http://schemas.microsoft.com/office/drawing/2014/main" id="{1956491A-8DCF-3B63-A1DB-041A781FE9B6}"/>
              </a:ext>
            </a:extLst>
          </p:cNvPr>
          <p:cNvPicPr>
            <a:picLocks noChangeAspect="1"/>
          </p:cNvPicPr>
          <p:nvPr/>
        </p:nvPicPr>
        <p:blipFill>
          <a:blip r:embed="rId3"/>
          <a:srcRect t="4198"/>
          <a:stretch>
            <a:fillRect/>
          </a:stretch>
        </p:blipFill>
        <p:spPr>
          <a:xfrm>
            <a:off x="748588" y="1750385"/>
            <a:ext cx="8080142" cy="4225766"/>
          </a:xfrm>
          <a:prstGeom prst="rect">
            <a:avLst/>
          </a:prstGeom>
        </p:spPr>
      </p:pic>
    </p:spTree>
    <p:extLst>
      <p:ext uri="{BB962C8B-B14F-4D97-AF65-F5344CB8AC3E}">
        <p14:creationId xmlns:p14="http://schemas.microsoft.com/office/powerpoint/2010/main" val="397314396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5869</TotalTime>
  <Words>3171</Words>
  <Application>Microsoft Office PowerPoint</Application>
  <PresentationFormat>On-screen Show (4:3)</PresentationFormat>
  <Paragraphs>690</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Aptos</vt:lpstr>
      <vt:lpstr>Arial</vt:lpstr>
      <vt:lpstr>Century Gothic</vt:lpstr>
      <vt:lpstr>Vapor Trail</vt:lpstr>
      <vt:lpstr>How do all of these pieces work together when a designer creates something?</vt:lpstr>
      <vt:lpstr>Mastering the Principles</vt:lpstr>
      <vt:lpstr>Everything Works Together</vt:lpstr>
      <vt:lpstr>Design Is Intentional</vt:lpstr>
      <vt:lpstr>Design is Problem Solving</vt:lpstr>
      <vt:lpstr>GOOD OR BAD?</vt:lpstr>
      <vt:lpstr>PowerPoint Presentation</vt:lpstr>
      <vt:lpstr>The Synthesis</vt:lpstr>
      <vt:lpstr>Elements of Design</vt:lpstr>
      <vt:lpstr>Elements Create Principles</vt:lpstr>
      <vt:lpstr>One Element, Many Principles</vt:lpstr>
      <vt:lpstr>One Element, Many Principles</vt:lpstr>
      <vt:lpstr>One Element, Many Principles</vt:lpstr>
      <vt:lpstr>One Element, Many Principles</vt:lpstr>
      <vt:lpstr>One Element, Many Principles</vt:lpstr>
      <vt:lpstr>One Element, Many Principles</vt:lpstr>
      <vt:lpstr>One Element, Many Principles</vt:lpstr>
      <vt:lpstr>The Elements Working Together</vt:lpstr>
      <vt:lpstr>The Elements Working Together</vt:lpstr>
      <vt:lpstr>The Hierarchy Formula</vt:lpstr>
      <vt:lpstr>Principles of Design</vt:lpstr>
      <vt:lpstr>One Principle, Many Elements</vt:lpstr>
      <vt:lpstr>One Principle, Many Elements</vt:lpstr>
      <vt:lpstr>One Principle, Many Elements</vt:lpstr>
      <vt:lpstr>One Principle, Many Elements</vt:lpstr>
      <vt:lpstr>One Principle, Many Elements</vt:lpstr>
      <vt:lpstr>One Advertisement. Six Principles</vt:lpstr>
      <vt:lpstr>Principles Don't Work Alone</vt:lpstr>
      <vt:lpstr>Structural Breakdown</vt:lpstr>
      <vt:lpstr>Design X-Ray</vt:lpstr>
      <vt:lpstr>Design X-Ray</vt:lpstr>
      <vt:lpstr>Find the Grid</vt:lpstr>
      <vt:lpstr>Find the Grid</vt:lpstr>
      <vt:lpstr>Locate the Contrast Points</vt:lpstr>
      <vt:lpstr>Follow the Reading Path</vt:lpstr>
      <vt:lpstr>Remove One Principle Activity</vt:lpstr>
      <vt:lpstr>Elements + Principles Together</vt:lpstr>
      <vt:lpstr>Why Does It Work?</vt:lpstr>
      <vt:lpstr>The Designer's Lens</vt:lpstr>
      <vt:lpstr>Design Critique Framework</vt:lpstr>
      <vt:lpstr>The Designer's Checklist</vt:lpstr>
      <vt:lpstr>Everything Works Together</vt:lpstr>
      <vt:lpstr>Everything Works Together</vt:lpstr>
      <vt:lpstr>Design Is Intentional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Croney, Aynslie (NBCC)</cp:lastModifiedBy>
  <cp:revision>5</cp:revision>
  <cp:lastPrinted>2026-10-20T13:26:02Z</cp:lastPrinted>
  <dcterms:created xsi:type="dcterms:W3CDTF">2013-01-27T09:14:16Z</dcterms:created>
  <dcterms:modified xsi:type="dcterms:W3CDTF">2026-10-20T13:28:55Z</dcterms:modified>
  <cp:category/>
</cp:coreProperties>
</file>